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Señores miembros del tribunal, presento el desarrollo de UniBridge, una aplicación web para automatizar la emisión de solicitudes, designaciones y certificados de prácticas preprofesionales en la Carrera de Tecnologías de la Información.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procedimiento es hoy enteramente manual. El personal traslada los datos de cada estudiante a plantillas de Word, elabora los documentos uno por uno y los archiva en carpetas. Emitir un certificado toma unos seis minutos cuando la información está completa.
El problema no es hacer uno. La Comisión distribuyó ciento veinticuatro certificados en el período 2025-1 y ciento veinte en el 2024-2, y esas cifras salen de los registros institucionales, no de una estimación. A eso se suma que cada documento se remite a firma por separado, de modo que la emisión queda supeditada a la agenda de quien firma y llega a demorarse varios días.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Ordené las causas en un diagrama de Ishikawa: nueve causas agrupadas en cuatro categorías. Y cada grupo terminó definiendo un módulo del sistema. De ahí surge la pregunta que guía la investigación: de qué manera una aplicación web puede automatizar esta emisión, reduciendo los tiempos de atención y asegurando la trazabilidad de los documentos oficiales.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general fue desarrollar la aplicación web. Se desagregó en cuatro específicos que recorren el ciclo completo del proyecto: analizar el procedimiento vigente para levantar los requerimientos; determinar la arquitectura, las herramientas y la metodología; desarrollar la aplicación de forma iterativa, cubriendo la generación documental y el circuito de firma; y validar el funcionamiento mediante pruebas de cada requerimiento.
Al cierre de esta exposición retomo cada uno con su conclusión correspondiente.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revisión de experiencias previas aportó tres decisiones técnicas concretas. Delgado y Osorio, en la Universidad Iberoamericana del Ecuador, demostraron el valor de un registro único que relacione estudiante, empresa y horas; de ahí que en mi sistema los documentos se generen a partir de datos ya almacenados y no de transcripciones.
Enríquez, en la Universidad Técnica de Ambato, implementó un motor de flujo de trabajo con estados por documento, idea que recojo en el circuito de firma. Y Bornais desarrolló un generador de certificados configurable desde el navegador; esa idea sustenta el editor visual de plantillas, que permite a la Comisión modificar los formatos sin intervención de un programador.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Conviene subrayar que las prácticas de la ULEAM no se gobiernan por la costumbre de cada unidad, sino por un procedimiento codificado: el manual PAP-01, que fija cuatro etapas y sus formatos normalizados. Mi sistema interviene sobre los documentos de la etapa de planificación y sobre la acreditación que cierra el ciclo. Los formatos de ejecución y supervisión se diligencian en la entidad receptora y quedan fuera del alcance declarado. Esto importa porque permite afirmar que el sistema automatiza el procedimiento oficial, y no una práctica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investigación es aplicada y descriptiva, no experimental y transversal, con enfoque predominantemente cualitativo. Un punto que quiero precisar, porque podría llamarles la atención: la población es de dos personas, porque solo dos intervienen en la emisión documental. Ante una población de dos, un muestreo probabilístico carece de sentido; se recurrió a la figura del informante clave, procedente cuando unas pocas personas concentran el conocimiento del fenómeno.
Como fuentes primarias usé las entrevistas y los registros institucionales de emisión; como secundarias, la normativa, trabajos de titulación y literatura especializada, con cincuenta y seis referencias en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entrevista permitió dimensionar el costo real del procedimiento. Además del tiempo, la entrevistada describió un error conocido: al reutilizar un certificado anterior como base, a veces queda el nombre del estudiante previo, y se detecta cuando el documento ya está firmado. Ese dato fue decisivo para el diseño, porque señala que el origen del error no es el descuido, sino el método.
Hubo también una reticencia que resultó muy productiva: que la herramienta no fuera más complicada que un procesador de textos. De la conversación se desprenden cuatro requisitos concretos, entre ellos la entrega en Word y en PDF, y un circuito que respete el orden entre las autoridades.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cuestionario al docente responsable cumplió la función de contrastar, y coincide con la entrevista en los tres puntos centrales. Hubo una divergencia que dejo registrada antes que disimularla: al preguntar por los formatos de salida mencionó Excel, y el sistema reserva la hoja de cálculo para la importación, no para la salida documental. Se atribuye a que el instrumento no permitió precisar el uso previsto de cada formato. Aportó además un criterio propio que sí se implementó: ante un documento emitido por error, el sistema debe permitir su corrección y mantenerlo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 levantamiento salieron quince requisitos funcionales y siete no funcionales. Los funcionales cubren la autenticación por roles, la estructura académica, la gestión de estudiantes y empresas, la importación masiva desde Excel, el motor documental, la codificación secuencial, los lotes y el circuito de firma, la invalidación con historial y la auditoría. Ninguno descansa sobre un supuesto: cada requisito admite contrastarse con el formato institucional que le da origen o con algo referido en la fase de campo.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recursos humanos fueron el autor como desarrollador, el tutor del trabajo de titulación, y la Comisión de Prácticas y las autoridades como expertos que aportaron los formatos reales y participaron en las pruebas de aceptación. En lo tecnológico, el desarrollo se sostuvo íntegramente sobre software libre y sobre mi equipo personal, y esa decisión no obedeció solo a la disponibilidad de recursos, sino a un criterio de sostenibilidad. En lo económico, la construcción no demandó inversión en licenciamiento ni en infraestructura: el único desembolso previsible aparece en la puesta en línea.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desarrollo siguió un enfoque iterativo e incremental con prácticas de Programación Extrema, en seis iteraciones quincenales. Cada una cerró con un módulo utilizable, no con un avance parcial: primero el núcleo de datos, luego el acceso diferenciado por roles, la gestión académica con importación masiva, el motor documental, el circuito de firma electrónica y, finalmente, el empaquetado en contenedores con el procesamiento por colas para las emisiones en lote.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capa se resolvió comparando alternativas antes de comprometer una decisión, y no enumerando lo ya conocido. NestJS impone una estructura por dominios que mantiene ordenada la lógica conforme el sistema crece; PostgreSQL aporta integridad transaccional y soporte nativo de JSON, que uso para guardar los diseños de plantilla.
En la generación documental conviven tres herramientas, porque rellenar una plantilla de Word, convertirla a PDF y dibujar un certificado desde coordenadas son tres problemas distintos y no uno. Todo el ecosistema se orquesta con Docker Compose.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recorrido de un expediente en el sistema. Comienza con la solicitud dirigida a la empresa, sigue con la designación del estudiante y su tutor, continúa con el acta del docente, y solo entonces se habilita el certificado. Cada documento recibe además un código único y correlativo por período, de modo que la numeración oficial la garantiza el sistema y no quien lo redacta.
La firma respeta el orden entre las dos autoridades, y ningún documento alcanza validez mientras le falte una de las dos rúbricas. Subrayo una decisión de diseño: el sistema nunca almacena el certificado digital de las autoridades. La firma ocurre en el equipo del firmante, con FirmaEC; UniBridge solo entrega el lote y lo recibe firmado. Cualquier otra opción habría convertido la base de datos en un depósito de identidades digitales ajenas.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requisito funcional se sometió a un caso de prueba con precondición y resultado esperado definidos de antemano: quince casos, uno por requisito. Se validó por rol, porque un administrador, un coordinador y un firmante no interactúan igual con el sistema.
La validación más exigente recayó sobre el flujo documental completo, desde la solicitud dirigida a la empresa hasta el certificado firmado. También se sometió el sistema a la generación masiva, para comprobar que la cola absorbiera la carga sin bloquear el resto de la aplicación. En la segunda parte de esta sustentación ejecutaré varios de estos casos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Declaro tres limitaciones. El sistema no cuenta con correo institucional configurado, por lo que la recuperación de contraseña la administra el administrador. La comprobación sobre los documentos devueltos es estructural: confirma que el archivo lleve firma embebida y corresponda al lote, pero no recorre la cadena de certificación; esa validación queda en manos de FirmaEC y de los lectores de PDF que implementan el estándar. Y el sistema se validó en un entorno de producción local: la puesta en línea quedó supeditada a la decisión institucional sobre el alojamiento.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Sobre el primer objetivo: el procedimiento vigente se documentó desde dos fuentes contrastadas entre sí y cotejadas con los formatos institucionales. De ahí salieron los puntos críticos —la transcripción repetida de los mismos datos, la dispersión de los archivos y la dependencia de la agenda de quien firma— y de cada uno se derivó un requisito. Ninguna función del sistema descansa sobre un supuesto.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Sobre el segundo: la selección tecnológica se resolvió comparando alternativas por capa antes de comprometer una decisión. La arquitectura cliente-servidor se apoya en un modelo relacional con la integridad garantizada por el propio motor. Y en la generación documental convivieron tres herramientas con funciones distintas, porque son tres problemas y no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Sobre el tercero: la construcción avanzó por iteraciones quincenales, cada una cerrada con un módulo utilizable, hasta el circuito de firma electrónica y el procesamiento por colas para las emisiones en lote.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sobre el cuarto: cada requisito se verificó con su caso de prueba, y las pruebas confirmaron que el circuito exige el orden establecido entre las dos autoridades y que ningún documento alcanza validez mientras le falte alguna de las dos rúbricas. Con ello, el objetivo general se cumplió: la aplicación se construyó y quedó en manos de la Comisión de Prácticas de la carrera.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Recomiendo a la Comisión adoptar el sistema como canal único de emisión, para que la trazabilidad que ofrece la plataforma no se diluya en circuitos paralelos, y designar a una persona responsable de la administración funcional con respaldos periódicos.
A la Facultad, decidir dónde alojar el sistema: los servidores institucionales de la ULEAM, que dan control interno y no generan costos recurrentes, o un servidor en la nube de gama baja. En ambos casos la configuración de Docker es la misma, y en ambos hace falta un dominio institucional con certificado TLS que proteja los datos personales en tránsito. Y a quienes retomen el proyecto, tres frentes que la arquitectura admite sin rediseño de fondo.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esto concluyo la primera parte. Paso ahora a la demostración del sistema en funcionamiento.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8A"/>
        </a:solidFill>
      </p:bgPr>
    </p:bg>
    <p:spTree>
      <p:nvGrpSpPr>
        <p:cNvPr id="1" name=""/>
        <p:cNvGrpSpPr/>
        <p:nvPr/>
      </p:nvGrpSpPr>
      <p:grpSpPr>
        <a:xfrm>
          <a:off x="0" y="0"/>
          <a:ext cx="0" cy="0"/>
          <a:chOff x="0" y="0"/>
          <a:chExt cx="0" cy="0"/>
        </a:xfrm>
      </p:grpSpPr>
      <p:pic>
        <p:nvPicPr>
          <p:cNvPr id="2" name="Image 0" descr="C:\Users\micro\AppData\Local\Temp\claude\C--dev-New-Tesis\dab8f396-e798-4632-b234-7d9b7ccd583c\scratchpad\assets\marca-blanca.png">    </p:cNvPr>
          <p:cNvPicPr>
            <a:picLocks noChangeAspect="1"/>
          </p:cNvPicPr>
          <p:nvPr/>
        </p:nvPicPr>
        <p:blipFill>
          <a:blip r:embed="rId1">
            <a:alphaModFix amt="9000"/>
          </a:blip>
          <a:stretch>
            <a:fillRect/>
          </a:stretch>
        </p:blipFill>
        <p:spPr>
          <a:xfrm>
            <a:off x="8138160" y="365760"/>
            <a:ext cx="4937760" cy="4937760"/>
          </a:xfrm>
          <a:prstGeom prst="rect">
            <a:avLst/>
          </a:prstGeom>
        </p:spPr>
      </p:pic>
      <p:sp>
        <p:nvSpPr>
          <p:cNvPr id="3" name="Shape 0"/>
          <p:cNvSpPr/>
          <p:nvPr/>
        </p:nvSpPr>
        <p:spPr>
          <a:xfrm>
            <a:off x="548640" y="457200"/>
            <a:ext cx="2331720" cy="868680"/>
          </a:xfrm>
          <a:prstGeom prst="roundRect">
            <a:avLst>
              <a:gd name="adj" fmla="val 6316"/>
            </a:avLst>
          </a:prstGeom>
          <a:solidFill>
            <a:srgbClr val="FFFFFF"/>
          </a:solidFill>
          <a:ln w="12700">
            <a:solidFill>
              <a:srgbClr val="FFFFFF"/>
            </a:solidFill>
            <a:prstDash val="solid"/>
          </a:ln>
        </p:spPr>
      </p:sp>
      <p:pic>
        <p:nvPicPr>
          <p:cNvPr id="4" name="Image 1" descr="C:\Users\micro\AppData\Local\Temp\claude\C--dev-New-Tesis\dab8f396-e798-4632-b234-7d9b7ccd583c\scratchpad\assets\uleam.png">    </p:cNvPr>
          <p:cNvPicPr>
            <a:picLocks noChangeAspect="1"/>
          </p:cNvPicPr>
          <p:nvPr/>
        </p:nvPicPr>
        <p:blipFill>
          <a:blip r:embed="rId2"/>
          <a:stretch>
            <a:fillRect/>
          </a:stretch>
        </p:blipFill>
        <p:spPr>
          <a:xfrm>
            <a:off x="713232" y="603504"/>
            <a:ext cx="2002536" cy="577901"/>
          </a:xfrm>
          <a:prstGeom prst="rect">
            <a:avLst/>
          </a:prstGeom>
        </p:spPr>
      </p:pic>
      <p:sp>
        <p:nvSpPr>
          <p:cNvPr id="5" name="Text 1"/>
          <p:cNvSpPr/>
          <p:nvPr/>
        </p:nvSpPr>
        <p:spPr>
          <a:xfrm>
            <a:off x="548640" y="1965960"/>
            <a:ext cx="7680960" cy="237744"/>
          </a:xfrm>
          <a:prstGeom prst="rect">
            <a:avLst/>
          </a:prstGeom>
          <a:noFill/>
          <a:ln/>
        </p:spPr>
        <p:txBody>
          <a:bodyPr wrap="square" lIns="0" tIns="0" rIns="0" bIns="0" rtlCol="0" anchor="ctr"/>
          <a:lstStyle/>
          <a:p>
            <a:pPr indent="0" marL="0">
              <a:buNone/>
            </a:pPr>
            <a:r>
              <a:rPr lang="en-US" sz="1000" b="1" spc="140" kern="0" dirty="0">
                <a:solidFill>
                  <a:srgbClr val="BFD0F5"/>
                </a:solidFill>
                <a:latin typeface="Arial" pitchFamily="34" charset="0"/>
                <a:ea typeface="Arial" pitchFamily="34" charset="-122"/>
                <a:cs typeface="Arial" pitchFamily="34" charset="-120"/>
              </a:rPr>
              <a:t>SUSTENTACIÓN DE TRABAJO DE TITULACIÓN · MANTA, ECUADOR · 2026</a:t>
            </a:r>
            <a:endParaRPr lang="en-US" sz="1000" dirty="0"/>
          </a:p>
        </p:txBody>
      </p:sp>
      <p:sp>
        <p:nvSpPr>
          <p:cNvPr id="6" name="Text 2"/>
          <p:cNvSpPr/>
          <p:nvPr/>
        </p:nvSpPr>
        <p:spPr>
          <a:xfrm>
            <a:off x="548640" y="2331720"/>
            <a:ext cx="7680960" cy="2148840"/>
          </a:xfrm>
          <a:prstGeom prst="rect">
            <a:avLst/>
          </a:prstGeom>
          <a:noFill/>
          <a:ln/>
        </p:spPr>
        <p:txBody>
          <a:bodyPr wrap="square" lIns="0" tIns="0" rIns="0" bIns="0" rtlCol="0" anchor="t"/>
          <a:lstStyle/>
          <a:p>
            <a:pPr indent="0" marL="0">
              <a:lnSpc>
                <a:spcPct val="108000"/>
              </a:lnSpc>
              <a:buNone/>
            </a:pPr>
            <a:r>
              <a:rPr lang="en-US" sz="2700" b="1" dirty="0">
                <a:solidFill>
                  <a:srgbClr val="FFFFFF"/>
                </a:solidFill>
                <a:latin typeface="Arial" pitchFamily="34" charset="0"/>
                <a:ea typeface="Arial" pitchFamily="34" charset="-122"/>
                <a:cs typeface="Arial" pitchFamily="34" charset="-120"/>
              </a:rPr>
              <a:t>Aplicación web para la gestión automatizada de solicitudes y certificados de prácticas preprofesionales en la Carrera de Tecnologías de la Información de la ULEAM</a:t>
            </a:r>
            <a:endParaRPr lang="en-US" sz="2700" dirty="0"/>
          </a:p>
        </p:txBody>
      </p:sp>
      <p:sp>
        <p:nvSpPr>
          <p:cNvPr id="7" name="Text 3"/>
          <p:cNvSpPr/>
          <p:nvPr/>
        </p:nvSpPr>
        <p:spPr>
          <a:xfrm>
            <a:off x="548640" y="4800600"/>
            <a:ext cx="8686800" cy="292608"/>
          </a:xfrm>
          <a:prstGeom prst="rect">
            <a:avLst/>
          </a:prstGeom>
          <a:noFill/>
          <a:ln/>
        </p:spPr>
        <p:txBody>
          <a:bodyPr wrap="square" lIns="0" tIns="0" rIns="0" bIns="0" rtlCol="0" anchor="ctr"/>
          <a:lstStyle/>
          <a:p>
            <a:pPr indent="0" marL="0">
              <a:buNone/>
            </a:pPr>
            <a:r>
              <a:rPr lang="en-US" sz="1300" dirty="0">
                <a:solidFill>
                  <a:srgbClr val="9DB6EE"/>
                </a:solidFill>
                <a:latin typeface="Arial" pitchFamily="34" charset="0"/>
                <a:ea typeface="Arial" pitchFamily="34" charset="-122"/>
                <a:cs typeface="Arial" pitchFamily="34" charset="-120"/>
              </a:rPr>
              <a:t>Autor: </a:t>
            </a:r>
            <a:pPr indent="0" marL="0">
              <a:buNone/>
            </a:pPr>
            <a:r>
              <a:rPr lang="en-US" sz="1300" b="1" dirty="0">
                <a:solidFill>
                  <a:srgbClr val="FFFFFF"/>
                </a:solidFill>
                <a:latin typeface="Arial" pitchFamily="34" charset="0"/>
                <a:ea typeface="Arial" pitchFamily="34" charset="-122"/>
                <a:cs typeface="Arial" pitchFamily="34" charset="-120"/>
              </a:rPr>
              <a:t>Dilian Josué Bazurto García</a:t>
            </a:r>
            <a:pPr indent="0" marL="0">
              <a:buNone/>
            </a:pPr>
            <a:r>
              <a:rPr lang="en-US" sz="1300" dirty="0">
                <a:solidFill>
                  <a:srgbClr val="9DB6EE"/>
                </a:solidFill>
                <a:latin typeface="Arial" pitchFamily="34" charset="0"/>
                <a:ea typeface="Arial" pitchFamily="34" charset="-122"/>
                <a:cs typeface="Arial" pitchFamily="34" charset="-120"/>
              </a:rPr>
              <a:t>     Tutor: </a:t>
            </a:r>
            <a:pPr indent="0" marL="0">
              <a:buNone/>
            </a:pPr>
            <a:r>
              <a:rPr lang="en-US" sz="1300" b="1" dirty="0">
                <a:solidFill>
                  <a:srgbClr val="FFFFFF"/>
                </a:solidFill>
                <a:latin typeface="Arial" pitchFamily="34" charset="0"/>
                <a:ea typeface="Arial" pitchFamily="34" charset="-122"/>
                <a:cs typeface="Arial" pitchFamily="34" charset="-120"/>
              </a:rPr>
              <a:t>Ing. John Antonio Cevallos Macías</a:t>
            </a:r>
            <a:endParaRPr lang="en-US" sz="1300" dirty="0"/>
          </a:p>
        </p:txBody>
      </p:sp>
      <p:sp>
        <p:nvSpPr>
          <p:cNvPr id="8" name="Text 4"/>
          <p:cNvSpPr/>
          <p:nvPr/>
        </p:nvSpPr>
        <p:spPr>
          <a:xfrm>
            <a:off x="548640" y="5715000"/>
            <a:ext cx="8686800" cy="685800"/>
          </a:xfrm>
          <a:prstGeom prst="rect">
            <a:avLst/>
          </a:prstGeom>
          <a:noFill/>
          <a:ln/>
        </p:spPr>
        <p:txBody>
          <a:bodyPr wrap="square" lIns="0" tIns="0" rIns="0" bIns="0" rtlCol="0" anchor="ctr"/>
          <a:lstStyle/>
          <a:p>
            <a:pPr indent="0" marL="0">
              <a:lnSpc>
                <a:spcPct val="120000"/>
              </a:lnSpc>
              <a:buNone/>
            </a:pPr>
            <a:r>
              <a:rPr lang="en-US" sz="1050" dirty="0">
                <a:solidFill>
                  <a:srgbClr val="9DB6EE"/>
                </a:solidFill>
                <a:latin typeface="Arial" pitchFamily="34" charset="0"/>
                <a:ea typeface="Arial" pitchFamily="34" charset="-122"/>
                <a:cs typeface="Arial" pitchFamily="34" charset="-120"/>
              </a:rPr>
              <a:t>Universidad Laica Eloy Alfaro de Manabí</a:t>
            </a:r>
            <a:endParaRPr lang="en-US" sz="1050" dirty="0"/>
          </a:p>
          <a:p>
            <a:pPr indent="0" marL="0">
              <a:lnSpc>
                <a:spcPct val="120000"/>
              </a:lnSpc>
              <a:buNone/>
            </a:pPr>
            <a:r>
              <a:rPr lang="en-US" sz="1050" dirty="0">
                <a:solidFill>
                  <a:srgbClr val="9DB6EE"/>
                </a:solidFill>
                <a:latin typeface="Arial" pitchFamily="34" charset="0"/>
                <a:ea typeface="Arial" pitchFamily="34" charset="-122"/>
                <a:cs typeface="Arial" pitchFamily="34" charset="-120"/>
              </a:rPr>
              <a:t>Facultad de Ciencias de la Vida y Tecnologías · Carrera de Ingeniería en Tecnologías de la Información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19456"/>
          </a:xfrm>
          <a:prstGeom prst="rect">
            <a:avLst/>
          </a:prstGeom>
          <a:noFill/>
          <a:ln/>
        </p:spPr>
        <p:txBody>
          <a:bodyPr wrap="square" lIns="0" tIns="0" rIns="0" bIns="0" rtlCol="0" anchor="ctr"/>
          <a:lstStyle/>
          <a:p>
            <a:pPr indent="0" marL="0">
              <a:buNone/>
            </a:pPr>
            <a:r>
              <a:rPr lang="en-US" sz="1000" b="1" spc="140" kern="0" dirty="0">
                <a:solidFill>
                  <a:srgbClr val="2563EB"/>
                </a:solidFill>
                <a:latin typeface="Arial" pitchFamily="34" charset="0"/>
                <a:ea typeface="Arial" pitchFamily="34" charset="-122"/>
                <a:cs typeface="Arial" pitchFamily="34" charset="-120"/>
              </a:rPr>
              <a:t>CAPÍTULO I · PLANTEAMIENTO DEL PROBLEMA</a:t>
            </a:r>
            <a:endParaRPr lang="en-US" sz="1000" dirty="0"/>
          </a:p>
        </p:txBody>
      </p:sp>
      <p:sp>
        <p:nvSpPr>
          <p:cNvPr id="3" name="Text 1"/>
          <p:cNvSpPr/>
          <p:nvPr/>
        </p:nvSpPr>
        <p:spPr>
          <a:xfrm>
            <a:off x="548640" y="640080"/>
            <a:ext cx="11064240" cy="566928"/>
          </a:xfrm>
          <a:prstGeom prst="rect">
            <a:avLst/>
          </a:prstGeom>
          <a:noFill/>
          <a:ln/>
        </p:spPr>
        <p:txBody>
          <a:bodyPr wrap="square" lIns="0" tIns="0" rIns="0" bIns="0" rtlCol="0" anchor="t"/>
          <a:lstStyle/>
          <a:p>
            <a:pPr indent="0" marL="0">
              <a:buNone/>
            </a:pPr>
            <a:r>
              <a:rPr lang="en-US" sz="3000" b="1" dirty="0">
                <a:solidFill>
                  <a:srgbClr val="09090B"/>
                </a:solidFill>
                <a:latin typeface="Arial" pitchFamily="34" charset="0"/>
                <a:ea typeface="Arial" pitchFamily="34" charset="-122"/>
                <a:cs typeface="Arial" pitchFamily="34" charset="-120"/>
              </a:rPr>
              <a:t>Un procedimiento enteramente manual</a:t>
            </a:r>
            <a:endParaRPr lang="en-US" sz="3000" dirty="0"/>
          </a:p>
        </p:txBody>
      </p:sp>
      <p:sp>
        <p:nvSpPr>
          <p:cNvPr id="4" name="Text 2"/>
          <p:cNvSpPr/>
          <p:nvPr/>
        </p:nvSpPr>
        <p:spPr>
          <a:xfrm>
            <a:off x="548640" y="1207008"/>
            <a:ext cx="9692640" cy="274320"/>
          </a:xfrm>
          <a:prstGeom prst="rect">
            <a:avLst/>
          </a:prstGeom>
          <a:noFill/>
          <a:ln/>
        </p:spPr>
        <p:txBody>
          <a:bodyPr wrap="square" lIns="0" tIns="0" rIns="0" bIns="0" rtlCol="0" anchor="ctr"/>
          <a:lstStyle/>
          <a:p>
            <a:pPr indent="0" marL="0">
              <a:buNone/>
            </a:pPr>
            <a:r>
              <a:rPr lang="en-US" sz="1300" dirty="0">
                <a:solidFill>
                  <a:srgbClr val="6C6C75"/>
                </a:solidFill>
                <a:latin typeface="Arial" pitchFamily="34" charset="0"/>
                <a:ea typeface="Arial" pitchFamily="34" charset="-122"/>
                <a:cs typeface="Arial" pitchFamily="34" charset="-120"/>
              </a:rPr>
              <a:t>Plantillas ofimáticas, documentos elaborados uno por uno y carpetas dispersas</a:t>
            </a:r>
            <a:endParaRPr lang="en-US" sz="1300" dirty="0"/>
          </a:p>
        </p:txBody>
      </p:sp>
      <p:sp>
        <p:nvSpPr>
          <p:cNvPr id="5" name="Text 3"/>
          <p:cNvSpPr/>
          <p:nvPr/>
        </p:nvSpPr>
        <p:spPr>
          <a:xfrm>
            <a:off x="11064240" y="6510528"/>
            <a:ext cx="548640" cy="256032"/>
          </a:xfrm>
          <a:prstGeom prst="rect">
            <a:avLst/>
          </a:prstGeom>
          <a:noFill/>
          <a:ln/>
        </p:spPr>
        <p:txBody>
          <a:bodyPr wrap="square" lIns="0" tIns="0" rIns="0" bIns="0" rtlCol="0" anchor="ctr"/>
          <a:lstStyle/>
          <a:p>
            <a:pPr algn="r" indent="0" marL="0">
              <a:buNone/>
            </a:pPr>
            <a:r>
              <a:rPr lang="en-US" sz="1000" dirty="0">
                <a:solidFill>
                  <a:srgbClr val="6C6C75"/>
                </a:solidFill>
                <a:latin typeface="Arial" pitchFamily="34" charset="0"/>
                <a:ea typeface="Arial" pitchFamily="34" charset="-122"/>
                <a:cs typeface="Arial" pitchFamily="34" charset="-120"/>
              </a:rPr>
              <a:t>2</a:t>
            </a:r>
            <a:endParaRPr lang="en-US" sz="1000" dirty="0"/>
          </a:p>
        </p:txBody>
      </p:sp>
      <p:sp>
        <p:nvSpPr>
          <p:cNvPr id="6" name="Shape 4"/>
          <p:cNvSpPr/>
          <p:nvPr/>
        </p:nvSpPr>
        <p:spPr>
          <a:xfrm>
            <a:off x="548640" y="1783080"/>
            <a:ext cx="3504895" cy="1737360"/>
          </a:xfrm>
          <a:prstGeom prst="roundRect">
            <a:avLst>
              <a:gd name="adj" fmla="val 3684"/>
            </a:avLst>
          </a:prstGeom>
          <a:solidFill>
            <a:srgbClr val="F7F7F8"/>
          </a:solidFill>
          <a:ln w="12700">
            <a:solidFill>
              <a:srgbClr val="E4E4E7"/>
            </a:solidFill>
            <a:prstDash val="solid"/>
          </a:ln>
        </p:spPr>
      </p:sp>
      <p:sp>
        <p:nvSpPr>
          <p:cNvPr id="7" name="Text 5"/>
          <p:cNvSpPr/>
          <p:nvPr/>
        </p:nvSpPr>
        <p:spPr>
          <a:xfrm>
            <a:off x="768096" y="1956816"/>
            <a:ext cx="3063240" cy="731520"/>
          </a:xfrm>
          <a:prstGeom prst="rect">
            <a:avLst/>
          </a:prstGeom>
          <a:noFill/>
          <a:ln/>
        </p:spPr>
        <p:txBody>
          <a:bodyPr wrap="square" lIns="0" tIns="0" rIns="0" bIns="0" rtlCol="0" anchor="ctr"/>
          <a:lstStyle/>
          <a:p>
            <a:pPr indent="0" marL="0">
              <a:buNone/>
            </a:pPr>
            <a:r>
              <a:rPr lang="en-US" sz="4400" b="1" dirty="0">
                <a:solidFill>
                  <a:srgbClr val="2563EB"/>
                </a:solidFill>
                <a:latin typeface="Arial" pitchFamily="34" charset="0"/>
                <a:ea typeface="Arial" pitchFamily="34" charset="-122"/>
                <a:cs typeface="Arial" pitchFamily="34" charset="-120"/>
              </a:rPr>
              <a:t>6 min</a:t>
            </a:r>
            <a:endParaRPr lang="en-US" sz="4400" dirty="0"/>
          </a:p>
        </p:txBody>
      </p:sp>
      <p:sp>
        <p:nvSpPr>
          <p:cNvPr id="8" name="Text 6"/>
          <p:cNvSpPr/>
          <p:nvPr/>
        </p:nvSpPr>
        <p:spPr>
          <a:xfrm>
            <a:off x="768096" y="2779776"/>
            <a:ext cx="3063240" cy="548640"/>
          </a:xfrm>
          <a:prstGeom prst="rect">
            <a:avLst/>
          </a:prstGeom>
          <a:noFill/>
          <a:ln/>
        </p:spPr>
        <p:txBody>
          <a:bodyPr wrap="square" lIns="0" tIns="0" rIns="0" bIns="0" rtlCol="0" anchor="ctr"/>
          <a:lstStyle/>
          <a:p>
            <a:pPr indent="0" marL="0">
              <a:lnSpc>
                <a:spcPct val="110000"/>
              </a:lnSpc>
              <a:buNone/>
            </a:pPr>
            <a:r>
              <a:rPr lang="en-US" sz="1100" dirty="0">
                <a:solidFill>
                  <a:srgbClr val="6C6C75"/>
                </a:solidFill>
                <a:latin typeface="Arial" pitchFamily="34" charset="0"/>
                <a:ea typeface="Arial" pitchFamily="34" charset="-122"/>
                <a:cs typeface="Arial" pitchFamily="34" charset="-120"/>
              </a:rPr>
              <a:t>por certificado, cuando la información está completa</a:t>
            </a:r>
            <a:endParaRPr lang="en-US" sz="1100" dirty="0"/>
          </a:p>
        </p:txBody>
      </p:sp>
      <p:sp>
        <p:nvSpPr>
          <p:cNvPr id="9" name="Shape 7"/>
          <p:cNvSpPr/>
          <p:nvPr/>
        </p:nvSpPr>
        <p:spPr>
          <a:xfrm>
            <a:off x="4327855" y="1783080"/>
            <a:ext cx="3504895" cy="1737360"/>
          </a:xfrm>
          <a:prstGeom prst="roundRect">
            <a:avLst>
              <a:gd name="adj" fmla="val 3684"/>
            </a:avLst>
          </a:prstGeom>
          <a:solidFill>
            <a:srgbClr val="F7F7F8"/>
          </a:solidFill>
          <a:ln w="12700">
            <a:solidFill>
              <a:srgbClr val="E4E4E7"/>
            </a:solidFill>
            <a:prstDash val="solid"/>
          </a:ln>
        </p:spPr>
      </p:sp>
      <p:sp>
        <p:nvSpPr>
          <p:cNvPr id="10" name="Text 8"/>
          <p:cNvSpPr/>
          <p:nvPr/>
        </p:nvSpPr>
        <p:spPr>
          <a:xfrm>
            <a:off x="4547311" y="1956816"/>
            <a:ext cx="3063240" cy="731520"/>
          </a:xfrm>
          <a:prstGeom prst="rect">
            <a:avLst/>
          </a:prstGeom>
          <a:noFill/>
          <a:ln/>
        </p:spPr>
        <p:txBody>
          <a:bodyPr wrap="square" lIns="0" tIns="0" rIns="0" bIns="0" rtlCol="0" anchor="ctr"/>
          <a:lstStyle/>
          <a:p>
            <a:pPr indent="0" marL="0">
              <a:buNone/>
            </a:pPr>
            <a:r>
              <a:rPr lang="en-US" sz="4400" b="1" dirty="0">
                <a:solidFill>
                  <a:srgbClr val="2563EB"/>
                </a:solidFill>
                <a:latin typeface="Arial" pitchFamily="34" charset="0"/>
                <a:ea typeface="Arial" pitchFamily="34" charset="-122"/>
                <a:cs typeface="Arial" pitchFamily="34" charset="-120"/>
              </a:rPr>
              <a:t>124</a:t>
            </a:r>
            <a:endParaRPr lang="en-US" sz="4400" dirty="0"/>
          </a:p>
        </p:txBody>
      </p:sp>
      <p:sp>
        <p:nvSpPr>
          <p:cNvPr id="11" name="Text 9"/>
          <p:cNvSpPr/>
          <p:nvPr/>
        </p:nvSpPr>
        <p:spPr>
          <a:xfrm>
            <a:off x="4547311" y="2779776"/>
            <a:ext cx="3063240" cy="548640"/>
          </a:xfrm>
          <a:prstGeom prst="rect">
            <a:avLst/>
          </a:prstGeom>
          <a:noFill/>
          <a:ln/>
        </p:spPr>
        <p:txBody>
          <a:bodyPr wrap="square" lIns="0" tIns="0" rIns="0" bIns="0" rtlCol="0" anchor="ctr"/>
          <a:lstStyle/>
          <a:p>
            <a:pPr indent="0" marL="0">
              <a:lnSpc>
                <a:spcPct val="110000"/>
              </a:lnSpc>
              <a:buNone/>
            </a:pPr>
            <a:r>
              <a:rPr lang="en-US" sz="1100" dirty="0">
                <a:solidFill>
                  <a:srgbClr val="6C6C75"/>
                </a:solidFill>
                <a:latin typeface="Arial" pitchFamily="34" charset="0"/>
                <a:ea typeface="Arial" pitchFamily="34" charset="-122"/>
                <a:cs typeface="Arial" pitchFamily="34" charset="-120"/>
              </a:rPr>
              <a:t>certificados emitidos en el período 2025-1</a:t>
            </a:r>
            <a:endParaRPr lang="en-US" sz="1100" dirty="0"/>
          </a:p>
        </p:txBody>
      </p:sp>
      <p:sp>
        <p:nvSpPr>
          <p:cNvPr id="12" name="Shape 10"/>
          <p:cNvSpPr/>
          <p:nvPr/>
        </p:nvSpPr>
        <p:spPr>
          <a:xfrm>
            <a:off x="8107070" y="1783080"/>
            <a:ext cx="3504895" cy="1737360"/>
          </a:xfrm>
          <a:prstGeom prst="roundRect">
            <a:avLst>
              <a:gd name="adj" fmla="val 3684"/>
            </a:avLst>
          </a:prstGeom>
          <a:solidFill>
            <a:srgbClr val="F7F7F8"/>
          </a:solidFill>
          <a:ln w="12700">
            <a:solidFill>
              <a:srgbClr val="E4E4E7"/>
            </a:solidFill>
            <a:prstDash val="solid"/>
          </a:ln>
        </p:spPr>
      </p:sp>
      <p:sp>
        <p:nvSpPr>
          <p:cNvPr id="13" name="Text 11"/>
          <p:cNvSpPr/>
          <p:nvPr/>
        </p:nvSpPr>
        <p:spPr>
          <a:xfrm>
            <a:off x="8326526" y="1956816"/>
            <a:ext cx="3063240" cy="731520"/>
          </a:xfrm>
          <a:prstGeom prst="rect">
            <a:avLst/>
          </a:prstGeom>
          <a:noFill/>
          <a:ln/>
        </p:spPr>
        <p:txBody>
          <a:bodyPr wrap="square" lIns="0" tIns="0" rIns="0" bIns="0" rtlCol="0" anchor="ctr"/>
          <a:lstStyle/>
          <a:p>
            <a:pPr indent="0" marL="0">
              <a:buNone/>
            </a:pPr>
            <a:r>
              <a:rPr lang="en-US" sz="4400" b="1" dirty="0">
                <a:solidFill>
                  <a:srgbClr val="2563EB"/>
                </a:solidFill>
                <a:latin typeface="Arial" pitchFamily="34" charset="0"/>
                <a:ea typeface="Arial" pitchFamily="34" charset="-122"/>
                <a:cs typeface="Arial" pitchFamily="34" charset="-120"/>
              </a:rPr>
              <a:t>120</a:t>
            </a:r>
            <a:endParaRPr lang="en-US" sz="4400" dirty="0"/>
          </a:p>
        </p:txBody>
      </p:sp>
      <p:sp>
        <p:nvSpPr>
          <p:cNvPr id="14" name="Text 12"/>
          <p:cNvSpPr/>
          <p:nvPr/>
        </p:nvSpPr>
        <p:spPr>
          <a:xfrm>
            <a:off x="8326526" y="2779776"/>
            <a:ext cx="3063240" cy="548640"/>
          </a:xfrm>
          <a:prstGeom prst="rect">
            <a:avLst/>
          </a:prstGeom>
          <a:noFill/>
          <a:ln/>
        </p:spPr>
        <p:txBody>
          <a:bodyPr wrap="square" lIns="0" tIns="0" rIns="0" bIns="0" rtlCol="0" anchor="ctr"/>
          <a:lstStyle/>
          <a:p>
            <a:pPr indent="0" marL="0">
              <a:lnSpc>
                <a:spcPct val="110000"/>
              </a:lnSpc>
              <a:buNone/>
            </a:pPr>
            <a:r>
              <a:rPr lang="en-US" sz="1100" dirty="0">
                <a:solidFill>
                  <a:srgbClr val="6C6C75"/>
                </a:solidFill>
                <a:latin typeface="Arial" pitchFamily="34" charset="0"/>
                <a:ea typeface="Arial" pitchFamily="34" charset="-122"/>
                <a:cs typeface="Arial" pitchFamily="34" charset="-120"/>
              </a:rPr>
              <a:t>certificados emitidos en el período 2024-2</a:t>
            </a:r>
            <a:endParaRPr lang="en-US" sz="1100" dirty="0"/>
          </a:p>
        </p:txBody>
      </p:sp>
      <p:sp>
        <p:nvSpPr>
          <p:cNvPr id="15" name="Text 13"/>
          <p:cNvSpPr/>
          <p:nvPr/>
        </p:nvSpPr>
        <p:spPr>
          <a:xfrm>
            <a:off x="548640" y="3794760"/>
            <a:ext cx="3657600" cy="219456"/>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EL TRÁMITE HOY</a:t>
            </a:r>
            <a:endParaRPr lang="en-US" sz="900" dirty="0"/>
          </a:p>
        </p:txBody>
      </p:sp>
      <p:sp>
        <p:nvSpPr>
          <p:cNvPr id="16" name="Shape 14"/>
          <p:cNvSpPr/>
          <p:nvPr/>
        </p:nvSpPr>
        <p:spPr>
          <a:xfrm>
            <a:off x="548640" y="4114800"/>
            <a:ext cx="2286000" cy="1325880"/>
          </a:xfrm>
          <a:prstGeom prst="chevron">
            <a:avLst/>
          </a:prstGeom>
          <a:solidFill>
            <a:srgbClr val="F7F7F8"/>
          </a:solidFill>
          <a:ln w="12700">
            <a:solidFill>
              <a:srgbClr val="E4E4E7"/>
            </a:solidFill>
            <a:prstDash val="solid"/>
          </a:ln>
        </p:spPr>
      </p:sp>
      <p:sp>
        <p:nvSpPr>
          <p:cNvPr id="17" name="Text 15"/>
          <p:cNvSpPr/>
          <p:nvPr/>
        </p:nvSpPr>
        <p:spPr>
          <a:xfrm>
            <a:off x="841248" y="4206240"/>
            <a:ext cx="1737360" cy="1143000"/>
          </a:xfrm>
          <a:prstGeom prst="rect">
            <a:avLst/>
          </a:prstGeom>
          <a:noFill/>
          <a:ln/>
        </p:spPr>
        <p:txBody>
          <a:bodyPr wrap="square" lIns="0" tIns="0" rIns="0" bIns="0" rtlCol="0" anchor="ctr"/>
          <a:lstStyle/>
          <a:p>
            <a:pPr algn="ctr" indent="0" marL="0">
              <a:lnSpc>
                <a:spcPct val="105000"/>
              </a:lnSpc>
              <a:buNone/>
            </a:pPr>
            <a:r>
              <a:rPr lang="en-US" sz="1050" dirty="0">
                <a:solidFill>
                  <a:srgbClr val="09090B"/>
                </a:solidFill>
                <a:latin typeface="Arial" pitchFamily="34" charset="0"/>
                <a:ea typeface="Arial" pitchFamily="34" charset="-122"/>
                <a:cs typeface="Arial" pitchFamily="34" charset="-120"/>
              </a:rPr>
              <a:t>Revisar los requisitos del estudiante</a:t>
            </a:r>
            <a:endParaRPr lang="en-US" sz="1050" dirty="0"/>
          </a:p>
        </p:txBody>
      </p:sp>
      <p:sp>
        <p:nvSpPr>
          <p:cNvPr id="18" name="Shape 16"/>
          <p:cNvSpPr/>
          <p:nvPr/>
        </p:nvSpPr>
        <p:spPr>
          <a:xfrm>
            <a:off x="2761488" y="4114800"/>
            <a:ext cx="2286000" cy="1325880"/>
          </a:xfrm>
          <a:prstGeom prst="chevron">
            <a:avLst/>
          </a:prstGeom>
          <a:solidFill>
            <a:srgbClr val="F7F7F8"/>
          </a:solidFill>
          <a:ln w="12700">
            <a:solidFill>
              <a:srgbClr val="E4E4E7"/>
            </a:solidFill>
            <a:prstDash val="solid"/>
          </a:ln>
        </p:spPr>
      </p:sp>
      <p:sp>
        <p:nvSpPr>
          <p:cNvPr id="19" name="Text 17"/>
          <p:cNvSpPr/>
          <p:nvPr/>
        </p:nvSpPr>
        <p:spPr>
          <a:xfrm>
            <a:off x="3054096" y="4206240"/>
            <a:ext cx="1737360" cy="1143000"/>
          </a:xfrm>
          <a:prstGeom prst="rect">
            <a:avLst/>
          </a:prstGeom>
          <a:noFill/>
          <a:ln/>
        </p:spPr>
        <p:txBody>
          <a:bodyPr wrap="square" lIns="0" tIns="0" rIns="0" bIns="0" rtlCol="0" anchor="ctr"/>
          <a:lstStyle/>
          <a:p>
            <a:pPr algn="ctr" indent="0" marL="0">
              <a:lnSpc>
                <a:spcPct val="105000"/>
              </a:lnSpc>
              <a:buNone/>
            </a:pPr>
            <a:r>
              <a:rPr lang="en-US" sz="1050" dirty="0">
                <a:solidFill>
                  <a:srgbClr val="09090B"/>
                </a:solidFill>
                <a:latin typeface="Arial" pitchFamily="34" charset="0"/>
                <a:ea typeface="Arial" pitchFamily="34" charset="-122"/>
                <a:cs typeface="Arial" pitchFamily="34" charset="-120"/>
              </a:rPr>
              <a:t>Transcribir sus datos en la plantilla</a:t>
            </a:r>
            <a:endParaRPr lang="en-US" sz="1050" dirty="0"/>
          </a:p>
        </p:txBody>
      </p:sp>
      <p:sp>
        <p:nvSpPr>
          <p:cNvPr id="20" name="Shape 18"/>
          <p:cNvSpPr/>
          <p:nvPr/>
        </p:nvSpPr>
        <p:spPr>
          <a:xfrm>
            <a:off x="4974336" y="4114800"/>
            <a:ext cx="2286000" cy="1325880"/>
          </a:xfrm>
          <a:prstGeom prst="chevron">
            <a:avLst/>
          </a:prstGeom>
          <a:solidFill>
            <a:srgbClr val="F7F7F8"/>
          </a:solidFill>
          <a:ln w="12700">
            <a:solidFill>
              <a:srgbClr val="E4E4E7"/>
            </a:solidFill>
            <a:prstDash val="solid"/>
          </a:ln>
        </p:spPr>
      </p:sp>
      <p:sp>
        <p:nvSpPr>
          <p:cNvPr id="21" name="Text 19"/>
          <p:cNvSpPr/>
          <p:nvPr/>
        </p:nvSpPr>
        <p:spPr>
          <a:xfrm>
            <a:off x="5266944" y="4206240"/>
            <a:ext cx="1737360" cy="1143000"/>
          </a:xfrm>
          <a:prstGeom prst="rect">
            <a:avLst/>
          </a:prstGeom>
          <a:noFill/>
          <a:ln/>
        </p:spPr>
        <p:txBody>
          <a:bodyPr wrap="square" lIns="0" tIns="0" rIns="0" bIns="0" rtlCol="0" anchor="ctr"/>
          <a:lstStyle/>
          <a:p>
            <a:pPr algn="ctr" indent="0" marL="0">
              <a:lnSpc>
                <a:spcPct val="105000"/>
              </a:lnSpc>
              <a:buNone/>
            </a:pPr>
            <a:r>
              <a:rPr lang="en-US" sz="1050" dirty="0">
                <a:solidFill>
                  <a:srgbClr val="09090B"/>
                </a:solidFill>
                <a:latin typeface="Arial" pitchFamily="34" charset="0"/>
                <a:ea typeface="Arial" pitchFamily="34" charset="-122"/>
                <a:cs typeface="Arial" pitchFamily="34" charset="-120"/>
              </a:rPr>
              <a:t>Elaborar el documento, uno por uno</a:t>
            </a:r>
            <a:endParaRPr lang="en-US" sz="1050" dirty="0"/>
          </a:p>
        </p:txBody>
      </p:sp>
      <p:sp>
        <p:nvSpPr>
          <p:cNvPr id="22" name="Shape 20"/>
          <p:cNvSpPr/>
          <p:nvPr/>
        </p:nvSpPr>
        <p:spPr>
          <a:xfrm>
            <a:off x="7187184" y="4114800"/>
            <a:ext cx="2286000" cy="1325880"/>
          </a:xfrm>
          <a:prstGeom prst="chevron">
            <a:avLst/>
          </a:prstGeom>
          <a:solidFill>
            <a:srgbClr val="FDEDED"/>
          </a:solidFill>
          <a:ln w="12700">
            <a:solidFill>
              <a:srgbClr val="C62828"/>
            </a:solidFill>
            <a:prstDash val="solid"/>
          </a:ln>
        </p:spPr>
      </p:sp>
      <p:sp>
        <p:nvSpPr>
          <p:cNvPr id="23" name="Text 21"/>
          <p:cNvSpPr/>
          <p:nvPr/>
        </p:nvSpPr>
        <p:spPr>
          <a:xfrm>
            <a:off x="7479792" y="4206240"/>
            <a:ext cx="1737360" cy="1143000"/>
          </a:xfrm>
          <a:prstGeom prst="rect">
            <a:avLst/>
          </a:prstGeom>
          <a:noFill/>
          <a:ln/>
        </p:spPr>
        <p:txBody>
          <a:bodyPr wrap="square" lIns="0" tIns="0" rIns="0" bIns="0" rtlCol="0" anchor="ctr"/>
          <a:lstStyle/>
          <a:p>
            <a:pPr algn="ctr" indent="0" marL="0">
              <a:lnSpc>
                <a:spcPct val="105000"/>
              </a:lnSpc>
              <a:buNone/>
            </a:pPr>
            <a:r>
              <a:rPr lang="en-US" sz="1050" b="1" dirty="0">
                <a:solidFill>
                  <a:srgbClr val="C62828"/>
                </a:solidFill>
                <a:latin typeface="Arial" pitchFamily="34" charset="0"/>
                <a:ea typeface="Arial" pitchFamily="34" charset="-122"/>
                <a:cs typeface="Arial" pitchFamily="34" charset="-120"/>
              </a:rPr>
              <a:t>Remitir a firma, uno por uno</a:t>
            </a:r>
            <a:endParaRPr lang="en-US" sz="1050" dirty="0"/>
          </a:p>
        </p:txBody>
      </p:sp>
      <p:sp>
        <p:nvSpPr>
          <p:cNvPr id="24" name="Shape 22"/>
          <p:cNvSpPr/>
          <p:nvPr/>
        </p:nvSpPr>
        <p:spPr>
          <a:xfrm>
            <a:off x="9400032" y="4114800"/>
            <a:ext cx="2286000" cy="1325880"/>
          </a:xfrm>
          <a:prstGeom prst="chevron">
            <a:avLst/>
          </a:prstGeom>
          <a:solidFill>
            <a:srgbClr val="F7F7F8"/>
          </a:solidFill>
          <a:ln w="12700">
            <a:solidFill>
              <a:srgbClr val="E4E4E7"/>
            </a:solidFill>
            <a:prstDash val="solid"/>
          </a:ln>
        </p:spPr>
      </p:sp>
      <p:sp>
        <p:nvSpPr>
          <p:cNvPr id="25" name="Text 23"/>
          <p:cNvSpPr/>
          <p:nvPr/>
        </p:nvSpPr>
        <p:spPr>
          <a:xfrm>
            <a:off x="9692640" y="4206240"/>
            <a:ext cx="1737360" cy="1143000"/>
          </a:xfrm>
          <a:prstGeom prst="rect">
            <a:avLst/>
          </a:prstGeom>
          <a:noFill/>
          <a:ln/>
        </p:spPr>
        <p:txBody>
          <a:bodyPr wrap="square" lIns="0" tIns="0" rIns="0" bIns="0" rtlCol="0" anchor="ctr"/>
          <a:lstStyle/>
          <a:p>
            <a:pPr algn="ctr" indent="0" marL="0">
              <a:lnSpc>
                <a:spcPct val="105000"/>
              </a:lnSpc>
              <a:buNone/>
            </a:pPr>
            <a:r>
              <a:rPr lang="en-US" sz="1050" dirty="0">
                <a:solidFill>
                  <a:srgbClr val="09090B"/>
                </a:solidFill>
                <a:latin typeface="Arial" pitchFamily="34" charset="0"/>
                <a:ea typeface="Arial" pitchFamily="34" charset="-122"/>
                <a:cs typeface="Arial" pitchFamily="34" charset="-120"/>
              </a:rPr>
              <a:t>Archivar sin estructura común</a:t>
            </a:r>
            <a:endParaRPr lang="en-US" sz="1050" dirty="0"/>
          </a:p>
        </p:txBody>
      </p:sp>
      <p:sp>
        <p:nvSpPr>
          <p:cNvPr id="26" name="Text 24"/>
          <p:cNvSpPr/>
          <p:nvPr/>
        </p:nvSpPr>
        <p:spPr>
          <a:xfrm>
            <a:off x="548640" y="5852160"/>
            <a:ext cx="11064240" cy="274320"/>
          </a:xfrm>
          <a:prstGeom prst="rect">
            <a:avLst/>
          </a:prstGeom>
          <a:noFill/>
          <a:ln/>
        </p:spPr>
        <p:txBody>
          <a:bodyPr wrap="square" lIns="0" tIns="0" rIns="0" bIns="0" rtlCol="0" anchor="ctr"/>
          <a:lstStyle/>
          <a:p>
            <a:pPr indent="0" marL="0">
              <a:buNone/>
            </a:pPr>
            <a:r>
              <a:rPr lang="en-US" sz="1000" dirty="0">
                <a:solidFill>
                  <a:srgbClr val="6C6C75"/>
                </a:solidFill>
                <a:latin typeface="Arial" pitchFamily="34" charset="0"/>
                <a:ea typeface="Arial" pitchFamily="34" charset="-122"/>
                <a:cs typeface="Arial" pitchFamily="34" charset="-120"/>
              </a:rPr>
              <a:t>Nota. Cifras tomadas de los registros institucionales de emisión de la Comisión de Prácticas, no de una estimación.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19456"/>
          </a:xfrm>
          <a:prstGeom prst="rect">
            <a:avLst/>
          </a:prstGeom>
          <a:noFill/>
          <a:ln/>
        </p:spPr>
        <p:txBody>
          <a:bodyPr wrap="square" lIns="0" tIns="0" rIns="0" bIns="0" rtlCol="0" anchor="ctr"/>
          <a:lstStyle/>
          <a:p>
            <a:pPr indent="0" marL="0">
              <a:buNone/>
            </a:pPr>
            <a:r>
              <a:rPr lang="en-US" sz="1000" b="1" spc="140" kern="0" dirty="0">
                <a:solidFill>
                  <a:srgbClr val="2563EB"/>
                </a:solidFill>
                <a:latin typeface="Arial" pitchFamily="34" charset="0"/>
                <a:ea typeface="Arial" pitchFamily="34" charset="-122"/>
                <a:cs typeface="Arial" pitchFamily="34" charset="-120"/>
              </a:rPr>
              <a:t>CAPÍTULO I · DIAGRAMA CAUSA Y EFECTO</a:t>
            </a:r>
            <a:endParaRPr lang="en-US" sz="1000" dirty="0"/>
          </a:p>
        </p:txBody>
      </p:sp>
      <p:sp>
        <p:nvSpPr>
          <p:cNvPr id="3" name="Text 1"/>
          <p:cNvSpPr/>
          <p:nvPr/>
        </p:nvSpPr>
        <p:spPr>
          <a:xfrm>
            <a:off x="548640" y="640080"/>
            <a:ext cx="11064240" cy="566928"/>
          </a:xfrm>
          <a:prstGeom prst="rect">
            <a:avLst/>
          </a:prstGeom>
          <a:noFill/>
          <a:ln/>
        </p:spPr>
        <p:txBody>
          <a:bodyPr wrap="square" lIns="0" tIns="0" rIns="0" bIns="0" rtlCol="0" anchor="t"/>
          <a:lstStyle/>
          <a:p>
            <a:pPr indent="0" marL="0">
              <a:buNone/>
            </a:pPr>
            <a:r>
              <a:rPr lang="en-US" sz="3000" b="1" dirty="0">
                <a:solidFill>
                  <a:srgbClr val="09090B"/>
                </a:solidFill>
                <a:latin typeface="Arial" pitchFamily="34" charset="0"/>
                <a:ea typeface="Arial" pitchFamily="34" charset="-122"/>
                <a:cs typeface="Arial" pitchFamily="34" charset="-120"/>
              </a:rPr>
              <a:t>Nueve causas, agrupadas en cuatro categorías</a:t>
            </a:r>
            <a:endParaRPr lang="en-US" sz="3000" dirty="0"/>
          </a:p>
        </p:txBody>
      </p:sp>
      <p:sp>
        <p:nvSpPr>
          <p:cNvPr id="4" name="Text 2"/>
          <p:cNvSpPr/>
          <p:nvPr/>
        </p:nvSpPr>
        <p:spPr>
          <a:xfrm>
            <a:off x="11064240" y="6510528"/>
            <a:ext cx="548640" cy="256032"/>
          </a:xfrm>
          <a:prstGeom prst="rect">
            <a:avLst/>
          </a:prstGeom>
          <a:noFill/>
          <a:ln/>
        </p:spPr>
        <p:txBody>
          <a:bodyPr wrap="square" lIns="0" tIns="0" rIns="0" bIns="0" rtlCol="0" anchor="ctr"/>
          <a:lstStyle/>
          <a:p>
            <a:pPr algn="r" indent="0" marL="0">
              <a:buNone/>
            </a:pPr>
            <a:r>
              <a:rPr lang="en-US" sz="1000" dirty="0">
                <a:solidFill>
                  <a:srgbClr val="6C6C75"/>
                </a:solidFill>
                <a:latin typeface="Arial" pitchFamily="34" charset="0"/>
                <a:ea typeface="Arial" pitchFamily="34" charset="-122"/>
                <a:cs typeface="Arial" pitchFamily="34" charset="-120"/>
              </a:rPr>
              <a:t>3</a:t>
            </a:r>
            <a:endParaRPr lang="en-US" sz="1000" dirty="0"/>
          </a:p>
        </p:txBody>
      </p:sp>
      <p:pic>
        <p:nvPicPr>
          <p:cNvPr id="5" name="Image 0" descr="C:\Users\micro\AppData\Local\Temp\claude\C--dev-New-Tesis\dab8f396-e798-4632-b234-7d9b7ccd583c\scratchpad\assets\ishikawa.png">    </p:cNvPr>
          <p:cNvPicPr>
            <a:picLocks noChangeAspect="1"/>
          </p:cNvPicPr>
          <p:nvPr/>
        </p:nvPicPr>
        <p:blipFill>
          <a:blip r:embed="rId1"/>
          <a:stretch>
            <a:fillRect/>
          </a:stretch>
        </p:blipFill>
        <p:spPr>
          <a:xfrm>
            <a:off x="548640" y="1371600"/>
            <a:ext cx="11064240" cy="3995928"/>
          </a:xfrm>
          <a:prstGeom prst="rect">
            <a:avLst/>
          </a:prstGeom>
        </p:spPr>
      </p:pic>
      <p:sp>
        <p:nvSpPr>
          <p:cNvPr id="6" name="Shape 3"/>
          <p:cNvSpPr/>
          <p:nvPr/>
        </p:nvSpPr>
        <p:spPr>
          <a:xfrm>
            <a:off x="548640" y="5532120"/>
            <a:ext cx="11064240" cy="777240"/>
          </a:xfrm>
          <a:prstGeom prst="roundRect">
            <a:avLst>
              <a:gd name="adj" fmla="val 8235"/>
            </a:avLst>
          </a:prstGeom>
          <a:solidFill>
            <a:srgbClr val="EEF3FE"/>
          </a:solidFill>
          <a:ln w="12700">
            <a:solidFill>
              <a:srgbClr val="2563EB"/>
            </a:solidFill>
            <a:prstDash val="solid"/>
          </a:ln>
        </p:spPr>
      </p:sp>
      <p:sp>
        <p:nvSpPr>
          <p:cNvPr id="7" name="Text 4"/>
          <p:cNvSpPr/>
          <p:nvPr/>
        </p:nvSpPr>
        <p:spPr>
          <a:xfrm>
            <a:off x="749808" y="5678424"/>
            <a:ext cx="10661904" cy="502920"/>
          </a:xfrm>
          <a:prstGeom prst="rect">
            <a:avLst/>
          </a:prstGeom>
          <a:noFill/>
          <a:ln/>
        </p:spPr>
        <p:txBody>
          <a:bodyPr wrap="square" lIns="0" tIns="0" rIns="0" bIns="0" rtlCol="0" anchor="t"/>
          <a:lstStyle/>
          <a:p>
            <a:pPr indent="0" marL="0">
              <a:lnSpc>
                <a:spcPct val="112000"/>
              </a:lnSpc>
              <a:buNone/>
            </a:pPr>
            <a:r>
              <a:rPr lang="en-US" sz="1300" b="1" dirty="0">
                <a:solidFill>
                  <a:srgbClr val="09090B"/>
                </a:solidFill>
                <a:latin typeface="Arial" pitchFamily="34" charset="0"/>
                <a:ea typeface="Arial" pitchFamily="34" charset="-122"/>
                <a:cs typeface="Arial" pitchFamily="34" charset="-120"/>
              </a:rPr>
              <a:t>¿De qué manera una aplicación web puede automatizar la emisión de solicitudes, designaciones y certificados, reduciendo los tiempos de atención y asegurando la trazabilidad de los documentos oficiales?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19456"/>
          </a:xfrm>
          <a:prstGeom prst="rect">
            <a:avLst/>
          </a:prstGeom>
          <a:noFill/>
          <a:ln/>
        </p:spPr>
        <p:txBody>
          <a:bodyPr wrap="square" lIns="0" tIns="0" rIns="0" bIns="0" rtlCol="0" anchor="ctr"/>
          <a:lstStyle/>
          <a:p>
            <a:pPr indent="0" marL="0">
              <a:buNone/>
            </a:pPr>
            <a:r>
              <a:rPr lang="en-US" sz="1000" b="1" spc="140" kern="0" dirty="0">
                <a:solidFill>
                  <a:srgbClr val="2563EB"/>
                </a:solidFill>
                <a:latin typeface="Arial" pitchFamily="34" charset="0"/>
                <a:ea typeface="Arial" pitchFamily="34" charset="-122"/>
                <a:cs typeface="Arial" pitchFamily="34" charset="-120"/>
              </a:rPr>
              <a:t>CAPÍTULO I · OBJETIVOS</a:t>
            </a:r>
            <a:endParaRPr lang="en-US" sz="1000" dirty="0"/>
          </a:p>
        </p:txBody>
      </p:sp>
      <p:sp>
        <p:nvSpPr>
          <p:cNvPr id="3" name="Text 1"/>
          <p:cNvSpPr/>
          <p:nvPr/>
        </p:nvSpPr>
        <p:spPr>
          <a:xfrm>
            <a:off x="548640" y="640080"/>
            <a:ext cx="11064240" cy="566928"/>
          </a:xfrm>
          <a:prstGeom prst="rect">
            <a:avLst/>
          </a:prstGeom>
          <a:noFill/>
          <a:ln/>
        </p:spPr>
        <p:txBody>
          <a:bodyPr wrap="square" lIns="0" tIns="0" rIns="0" bIns="0" rtlCol="0" anchor="t"/>
          <a:lstStyle/>
          <a:p>
            <a:pPr indent="0" marL="0">
              <a:buNone/>
            </a:pPr>
            <a:r>
              <a:rPr lang="en-US" sz="3000" b="1" dirty="0">
                <a:solidFill>
                  <a:srgbClr val="09090B"/>
                </a:solidFill>
                <a:latin typeface="Arial" pitchFamily="34" charset="0"/>
                <a:ea typeface="Arial" pitchFamily="34" charset="-122"/>
                <a:cs typeface="Arial" pitchFamily="34" charset="-120"/>
              </a:rPr>
              <a:t>Un objetivo general y cuatro específicos</a:t>
            </a:r>
            <a:endParaRPr lang="en-US" sz="3000" dirty="0"/>
          </a:p>
        </p:txBody>
      </p:sp>
      <p:sp>
        <p:nvSpPr>
          <p:cNvPr id="4" name="Text 2"/>
          <p:cNvSpPr/>
          <p:nvPr/>
        </p:nvSpPr>
        <p:spPr>
          <a:xfrm>
            <a:off x="11064240" y="6510528"/>
            <a:ext cx="548640" cy="256032"/>
          </a:xfrm>
          <a:prstGeom prst="rect">
            <a:avLst/>
          </a:prstGeom>
          <a:noFill/>
          <a:ln/>
        </p:spPr>
        <p:txBody>
          <a:bodyPr wrap="square" lIns="0" tIns="0" rIns="0" bIns="0" rtlCol="0" anchor="ctr"/>
          <a:lstStyle/>
          <a:p>
            <a:pPr algn="r" indent="0" marL="0">
              <a:buNone/>
            </a:pPr>
            <a:r>
              <a:rPr lang="en-US" sz="1000" dirty="0">
                <a:solidFill>
                  <a:srgbClr val="6C6C75"/>
                </a:solidFill>
                <a:latin typeface="Arial" pitchFamily="34" charset="0"/>
                <a:ea typeface="Arial" pitchFamily="34" charset="-122"/>
                <a:cs typeface="Arial" pitchFamily="34" charset="-120"/>
              </a:rPr>
              <a:t>4</a:t>
            </a:r>
            <a:endParaRPr lang="en-US" sz="1000" dirty="0"/>
          </a:p>
        </p:txBody>
      </p:sp>
      <p:sp>
        <p:nvSpPr>
          <p:cNvPr id="5" name="Shape 3"/>
          <p:cNvSpPr/>
          <p:nvPr/>
        </p:nvSpPr>
        <p:spPr>
          <a:xfrm>
            <a:off x="548640" y="1371600"/>
            <a:ext cx="11064240" cy="960120"/>
          </a:xfrm>
          <a:prstGeom prst="roundRect">
            <a:avLst>
              <a:gd name="adj" fmla="val 6667"/>
            </a:avLst>
          </a:prstGeom>
          <a:solidFill>
            <a:srgbClr val="2563EB"/>
          </a:solidFill>
          <a:ln w="12700">
            <a:solidFill>
              <a:srgbClr val="2563EB"/>
            </a:solidFill>
            <a:prstDash val="solid"/>
          </a:ln>
        </p:spPr>
      </p:sp>
      <p:sp>
        <p:nvSpPr>
          <p:cNvPr id="6" name="Text 4"/>
          <p:cNvSpPr/>
          <p:nvPr/>
        </p:nvSpPr>
        <p:spPr>
          <a:xfrm>
            <a:off x="768096" y="1499616"/>
            <a:ext cx="3657600" cy="201168"/>
          </a:xfrm>
          <a:prstGeom prst="rect">
            <a:avLst/>
          </a:prstGeom>
          <a:noFill/>
          <a:ln/>
        </p:spPr>
        <p:txBody>
          <a:bodyPr wrap="square" lIns="0" tIns="0" rIns="0" bIns="0" rtlCol="0" anchor="ctr"/>
          <a:lstStyle/>
          <a:p>
            <a:pPr indent="0" marL="0">
              <a:buNone/>
            </a:pPr>
            <a:r>
              <a:rPr lang="en-US" sz="900" b="1" spc="120" kern="0" dirty="0">
                <a:solidFill>
                  <a:srgbClr val="BFD0F5"/>
                </a:solidFill>
                <a:latin typeface="Arial" pitchFamily="34" charset="0"/>
                <a:ea typeface="Arial" pitchFamily="34" charset="-122"/>
                <a:cs typeface="Arial" pitchFamily="34" charset="-120"/>
              </a:rPr>
              <a:t>OBJETIVO GENERAL</a:t>
            </a:r>
            <a:endParaRPr lang="en-US" sz="900" dirty="0"/>
          </a:p>
        </p:txBody>
      </p:sp>
      <p:sp>
        <p:nvSpPr>
          <p:cNvPr id="7" name="Text 5"/>
          <p:cNvSpPr/>
          <p:nvPr/>
        </p:nvSpPr>
        <p:spPr>
          <a:xfrm>
            <a:off x="768096" y="1737360"/>
            <a:ext cx="10625328" cy="502920"/>
          </a:xfrm>
          <a:prstGeom prst="rect">
            <a:avLst/>
          </a:prstGeom>
          <a:noFill/>
          <a:ln/>
        </p:spPr>
        <p:txBody>
          <a:bodyPr wrap="square" lIns="0" tIns="0" rIns="0" bIns="0" rtlCol="0" anchor="ctr"/>
          <a:lstStyle/>
          <a:p>
            <a:pPr indent="0" marL="0">
              <a:lnSpc>
                <a:spcPct val="110000"/>
              </a:lnSpc>
              <a:buNone/>
            </a:pPr>
            <a:r>
              <a:rPr lang="en-US" sz="1300" dirty="0">
                <a:solidFill>
                  <a:srgbClr val="FFFFFF"/>
                </a:solidFill>
                <a:latin typeface="Arial" pitchFamily="34" charset="0"/>
                <a:ea typeface="Arial" pitchFamily="34" charset="-122"/>
                <a:cs typeface="Arial" pitchFamily="34" charset="-120"/>
              </a:rPr>
              <a:t>Desarrollar una aplicación web para la gestión automatizada de solicitudes y certificados de prácticas preprofesionales en la Carrera de Tecnologías de la Información de la Universidad Laica Eloy Alfaro de Manabí.</a:t>
            </a:r>
            <a:endParaRPr lang="en-US" sz="1300" dirty="0"/>
          </a:p>
        </p:txBody>
      </p:sp>
      <p:sp>
        <p:nvSpPr>
          <p:cNvPr id="8" name="Shape 6"/>
          <p:cNvSpPr/>
          <p:nvPr/>
        </p:nvSpPr>
        <p:spPr>
          <a:xfrm>
            <a:off x="548640" y="2606040"/>
            <a:ext cx="2594610" cy="3246120"/>
          </a:xfrm>
          <a:prstGeom prst="roundRect">
            <a:avLst>
              <a:gd name="adj" fmla="val 2467"/>
            </a:avLst>
          </a:prstGeom>
          <a:solidFill>
            <a:srgbClr val="F7F7F8"/>
          </a:solidFill>
          <a:ln w="12700">
            <a:solidFill>
              <a:srgbClr val="E4E4E7"/>
            </a:solidFill>
            <a:prstDash val="solid"/>
          </a:ln>
        </p:spPr>
      </p:sp>
      <p:sp>
        <p:nvSpPr>
          <p:cNvPr id="9" name="Shape 7"/>
          <p:cNvSpPr/>
          <p:nvPr/>
        </p:nvSpPr>
        <p:spPr>
          <a:xfrm>
            <a:off x="749808" y="2761488"/>
            <a:ext cx="475488" cy="475488"/>
          </a:xfrm>
          <a:prstGeom prst="ellipse">
            <a:avLst/>
          </a:prstGeom>
          <a:solidFill>
            <a:srgbClr val="2563EB"/>
          </a:solidFill>
          <a:ln w="12700">
            <a:solidFill>
              <a:srgbClr val="2563EB"/>
            </a:solidFill>
            <a:prstDash val="solid"/>
          </a:ln>
        </p:spPr>
      </p:sp>
      <p:sp>
        <p:nvSpPr>
          <p:cNvPr id="10" name="Text 8"/>
          <p:cNvSpPr/>
          <p:nvPr/>
        </p:nvSpPr>
        <p:spPr>
          <a:xfrm>
            <a:off x="749808" y="276148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11" name="Text 9"/>
          <p:cNvSpPr/>
          <p:nvPr/>
        </p:nvSpPr>
        <p:spPr>
          <a:xfrm>
            <a:off x="749808" y="3401568"/>
            <a:ext cx="2194560" cy="2331720"/>
          </a:xfrm>
          <a:prstGeom prst="rect">
            <a:avLst/>
          </a:prstGeom>
          <a:noFill/>
          <a:ln/>
        </p:spPr>
        <p:txBody>
          <a:bodyPr wrap="square" lIns="0" tIns="0" rIns="0" bIns="0" rtlCol="0" anchor="t"/>
          <a:lstStyle/>
          <a:p>
            <a:pPr indent="0" marL="0">
              <a:lnSpc>
                <a:spcPct val="114000"/>
              </a:lnSpc>
              <a:buNone/>
            </a:pPr>
            <a:r>
              <a:rPr lang="en-US" sz="1150" dirty="0">
                <a:solidFill>
                  <a:srgbClr val="09090B"/>
                </a:solidFill>
                <a:latin typeface="Arial" pitchFamily="34" charset="0"/>
                <a:ea typeface="Arial" pitchFamily="34" charset="-122"/>
                <a:cs typeface="Arial" pitchFamily="34" charset="-120"/>
              </a:rPr>
              <a:t>Analizar el procedimiento actual de emisión, con el fin de establecer los requerimientos funcionales y no funcionales de la aplicación web.</a:t>
            </a:r>
            <a:endParaRPr lang="en-US" sz="1150" dirty="0"/>
          </a:p>
        </p:txBody>
      </p:sp>
      <p:sp>
        <p:nvSpPr>
          <p:cNvPr id="12" name="Shape 10"/>
          <p:cNvSpPr/>
          <p:nvPr/>
        </p:nvSpPr>
        <p:spPr>
          <a:xfrm>
            <a:off x="3371850" y="2606040"/>
            <a:ext cx="2594610" cy="3246120"/>
          </a:xfrm>
          <a:prstGeom prst="roundRect">
            <a:avLst>
              <a:gd name="adj" fmla="val 2467"/>
            </a:avLst>
          </a:prstGeom>
          <a:solidFill>
            <a:srgbClr val="F7F7F8"/>
          </a:solidFill>
          <a:ln w="12700">
            <a:solidFill>
              <a:srgbClr val="E4E4E7"/>
            </a:solidFill>
            <a:prstDash val="solid"/>
          </a:ln>
        </p:spPr>
      </p:sp>
      <p:sp>
        <p:nvSpPr>
          <p:cNvPr id="13" name="Shape 11"/>
          <p:cNvSpPr/>
          <p:nvPr/>
        </p:nvSpPr>
        <p:spPr>
          <a:xfrm>
            <a:off x="3573018" y="2761488"/>
            <a:ext cx="475488" cy="475488"/>
          </a:xfrm>
          <a:prstGeom prst="ellipse">
            <a:avLst/>
          </a:prstGeom>
          <a:solidFill>
            <a:srgbClr val="2563EB"/>
          </a:solidFill>
          <a:ln w="12700">
            <a:solidFill>
              <a:srgbClr val="2563EB"/>
            </a:solidFill>
            <a:prstDash val="solid"/>
          </a:ln>
        </p:spPr>
      </p:sp>
      <p:sp>
        <p:nvSpPr>
          <p:cNvPr id="14" name="Text 12"/>
          <p:cNvSpPr/>
          <p:nvPr/>
        </p:nvSpPr>
        <p:spPr>
          <a:xfrm>
            <a:off x="3573018" y="276148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5" name="Text 13"/>
          <p:cNvSpPr/>
          <p:nvPr/>
        </p:nvSpPr>
        <p:spPr>
          <a:xfrm>
            <a:off x="3573018" y="3401568"/>
            <a:ext cx="2194560" cy="2331720"/>
          </a:xfrm>
          <a:prstGeom prst="rect">
            <a:avLst/>
          </a:prstGeom>
          <a:noFill/>
          <a:ln/>
        </p:spPr>
        <p:txBody>
          <a:bodyPr wrap="square" lIns="0" tIns="0" rIns="0" bIns="0" rtlCol="0" anchor="t"/>
          <a:lstStyle/>
          <a:p>
            <a:pPr indent="0" marL="0">
              <a:lnSpc>
                <a:spcPct val="114000"/>
              </a:lnSpc>
              <a:buNone/>
            </a:pPr>
            <a:r>
              <a:rPr lang="en-US" sz="1150" dirty="0">
                <a:solidFill>
                  <a:srgbClr val="09090B"/>
                </a:solidFill>
                <a:latin typeface="Arial" pitchFamily="34" charset="0"/>
                <a:ea typeface="Arial" pitchFamily="34" charset="-122"/>
                <a:cs typeface="Arial" pitchFamily="34" charset="-120"/>
              </a:rPr>
              <a:t>Determinar la arquitectura de software, las herramientas tecnológicas y la metodología de desarrollo más adecuadas.</a:t>
            </a:r>
            <a:endParaRPr lang="en-US" sz="1150" dirty="0"/>
          </a:p>
        </p:txBody>
      </p:sp>
      <p:sp>
        <p:nvSpPr>
          <p:cNvPr id="16" name="Shape 14"/>
          <p:cNvSpPr/>
          <p:nvPr/>
        </p:nvSpPr>
        <p:spPr>
          <a:xfrm>
            <a:off x="6195060" y="2606040"/>
            <a:ext cx="2594610" cy="3246120"/>
          </a:xfrm>
          <a:prstGeom prst="roundRect">
            <a:avLst>
              <a:gd name="adj" fmla="val 2467"/>
            </a:avLst>
          </a:prstGeom>
          <a:solidFill>
            <a:srgbClr val="F7F7F8"/>
          </a:solidFill>
          <a:ln w="12700">
            <a:solidFill>
              <a:srgbClr val="E4E4E7"/>
            </a:solidFill>
            <a:prstDash val="solid"/>
          </a:ln>
        </p:spPr>
      </p:sp>
      <p:sp>
        <p:nvSpPr>
          <p:cNvPr id="17" name="Shape 15"/>
          <p:cNvSpPr/>
          <p:nvPr/>
        </p:nvSpPr>
        <p:spPr>
          <a:xfrm>
            <a:off x="6396228" y="2761488"/>
            <a:ext cx="475488" cy="475488"/>
          </a:xfrm>
          <a:prstGeom prst="ellipse">
            <a:avLst/>
          </a:prstGeom>
          <a:solidFill>
            <a:srgbClr val="2563EB"/>
          </a:solidFill>
          <a:ln w="12700">
            <a:solidFill>
              <a:srgbClr val="2563EB"/>
            </a:solidFill>
            <a:prstDash val="solid"/>
          </a:ln>
        </p:spPr>
      </p:sp>
      <p:sp>
        <p:nvSpPr>
          <p:cNvPr id="18" name="Text 16"/>
          <p:cNvSpPr/>
          <p:nvPr/>
        </p:nvSpPr>
        <p:spPr>
          <a:xfrm>
            <a:off x="6396228" y="276148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9" name="Text 17"/>
          <p:cNvSpPr/>
          <p:nvPr/>
        </p:nvSpPr>
        <p:spPr>
          <a:xfrm>
            <a:off x="6396228" y="3401568"/>
            <a:ext cx="2194560" cy="2331720"/>
          </a:xfrm>
          <a:prstGeom prst="rect">
            <a:avLst/>
          </a:prstGeom>
          <a:noFill/>
          <a:ln/>
        </p:spPr>
        <p:txBody>
          <a:bodyPr wrap="square" lIns="0" tIns="0" rIns="0" bIns="0" rtlCol="0" anchor="t"/>
          <a:lstStyle/>
          <a:p>
            <a:pPr indent="0" marL="0">
              <a:lnSpc>
                <a:spcPct val="114000"/>
              </a:lnSpc>
              <a:buNone/>
            </a:pPr>
            <a:r>
              <a:rPr lang="en-US" sz="1150" dirty="0">
                <a:solidFill>
                  <a:srgbClr val="09090B"/>
                </a:solidFill>
                <a:latin typeface="Arial" pitchFamily="34" charset="0"/>
                <a:ea typeface="Arial" pitchFamily="34" charset="-122"/>
                <a:cs typeface="Arial" pitchFamily="34" charset="-120"/>
              </a:rPr>
              <a:t>Desarrollar la aplicación web bajo un enfoque iterativo e incremental, cubriendo la generación documental y el circuito de firma electrónica.</a:t>
            </a:r>
            <a:endParaRPr lang="en-US" sz="1150" dirty="0"/>
          </a:p>
        </p:txBody>
      </p:sp>
      <p:sp>
        <p:nvSpPr>
          <p:cNvPr id="20" name="Shape 18"/>
          <p:cNvSpPr/>
          <p:nvPr/>
        </p:nvSpPr>
        <p:spPr>
          <a:xfrm>
            <a:off x="9018270" y="2606040"/>
            <a:ext cx="2594610" cy="3246120"/>
          </a:xfrm>
          <a:prstGeom prst="roundRect">
            <a:avLst>
              <a:gd name="adj" fmla="val 2467"/>
            </a:avLst>
          </a:prstGeom>
          <a:solidFill>
            <a:srgbClr val="F7F7F8"/>
          </a:solidFill>
          <a:ln w="12700">
            <a:solidFill>
              <a:srgbClr val="E4E4E7"/>
            </a:solidFill>
            <a:prstDash val="solid"/>
          </a:ln>
        </p:spPr>
      </p:sp>
      <p:sp>
        <p:nvSpPr>
          <p:cNvPr id="21" name="Shape 19"/>
          <p:cNvSpPr/>
          <p:nvPr/>
        </p:nvSpPr>
        <p:spPr>
          <a:xfrm>
            <a:off x="9219438" y="2761488"/>
            <a:ext cx="475488" cy="475488"/>
          </a:xfrm>
          <a:prstGeom prst="ellipse">
            <a:avLst/>
          </a:prstGeom>
          <a:solidFill>
            <a:srgbClr val="2563EB"/>
          </a:solidFill>
          <a:ln w="12700">
            <a:solidFill>
              <a:srgbClr val="2563EB"/>
            </a:solidFill>
            <a:prstDash val="solid"/>
          </a:ln>
        </p:spPr>
      </p:sp>
      <p:sp>
        <p:nvSpPr>
          <p:cNvPr id="22" name="Text 20"/>
          <p:cNvSpPr/>
          <p:nvPr/>
        </p:nvSpPr>
        <p:spPr>
          <a:xfrm>
            <a:off x="9219438" y="276148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3" name="Text 21"/>
          <p:cNvSpPr/>
          <p:nvPr/>
        </p:nvSpPr>
        <p:spPr>
          <a:xfrm>
            <a:off x="9219438" y="3401568"/>
            <a:ext cx="2194560" cy="2331720"/>
          </a:xfrm>
          <a:prstGeom prst="rect">
            <a:avLst/>
          </a:prstGeom>
          <a:noFill/>
          <a:ln/>
        </p:spPr>
        <p:txBody>
          <a:bodyPr wrap="square" lIns="0" tIns="0" rIns="0" bIns="0" rtlCol="0" anchor="t"/>
          <a:lstStyle/>
          <a:p>
            <a:pPr indent="0" marL="0">
              <a:lnSpc>
                <a:spcPct val="114000"/>
              </a:lnSpc>
              <a:buNone/>
            </a:pPr>
            <a:r>
              <a:rPr lang="en-US" sz="1150" dirty="0">
                <a:solidFill>
                  <a:srgbClr val="09090B"/>
                </a:solidFill>
                <a:latin typeface="Arial" pitchFamily="34" charset="0"/>
                <a:ea typeface="Arial" pitchFamily="34" charset="-122"/>
                <a:cs typeface="Arial" pitchFamily="34" charset="-120"/>
              </a:rPr>
              <a:t>Validar el funcionamiento de la aplicación mediante pruebas de sus requerimientos funcionales.</a:t>
            </a:r>
            <a:endParaRPr lang="en-US" sz="1150" dirty="0"/>
          </a:p>
        </p:txBody>
      </p:sp>
      <p:sp>
        <p:nvSpPr>
          <p:cNvPr id="24" name="Text 22"/>
          <p:cNvSpPr/>
          <p:nvPr/>
        </p:nvSpPr>
        <p:spPr>
          <a:xfrm>
            <a:off x="548640" y="6035040"/>
            <a:ext cx="11064240" cy="274320"/>
          </a:xfrm>
          <a:prstGeom prst="rect">
            <a:avLst/>
          </a:prstGeom>
          <a:noFill/>
          <a:ln/>
        </p:spPr>
        <p:txBody>
          <a:bodyPr wrap="square" lIns="0" tIns="0" rIns="0" bIns="0" rtlCol="0" anchor="ctr"/>
          <a:lstStyle/>
          <a:p>
            <a:pPr indent="0" marL="0">
              <a:buNone/>
            </a:pPr>
            <a:r>
              <a:rPr lang="en-US" sz="1050" dirty="0">
                <a:solidFill>
                  <a:srgbClr val="6C6C75"/>
                </a:solidFill>
                <a:latin typeface="Arial" pitchFamily="34" charset="0"/>
                <a:ea typeface="Arial" pitchFamily="34" charset="-122"/>
                <a:cs typeface="Arial" pitchFamily="34" charset="-120"/>
              </a:rPr>
              <a:t>Cada objetivo se retoma al cierre con su conclusión correspondiente.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19456"/>
          </a:xfrm>
          <a:prstGeom prst="rect">
            <a:avLst/>
          </a:prstGeom>
          <a:noFill/>
          <a:ln/>
        </p:spPr>
        <p:txBody>
          <a:bodyPr wrap="square" lIns="0" tIns="0" rIns="0" bIns="0" rtlCol="0" anchor="ctr"/>
          <a:lstStyle/>
          <a:p>
            <a:pPr indent="0" marL="0">
              <a:buNone/>
            </a:pPr>
            <a:r>
              <a:rPr lang="en-US" sz="1000" b="1" spc="140" kern="0" dirty="0">
                <a:solidFill>
                  <a:srgbClr val="2563EB"/>
                </a:solidFill>
                <a:latin typeface="Arial" pitchFamily="34" charset="0"/>
                <a:ea typeface="Arial" pitchFamily="34" charset="-122"/>
                <a:cs typeface="Arial" pitchFamily="34" charset="-120"/>
              </a:rPr>
              <a:t>CAPÍTULO II · ANTECEDENTES DE INVESTIGACIÓN</a:t>
            </a:r>
            <a:endParaRPr lang="en-US" sz="1000" dirty="0"/>
          </a:p>
        </p:txBody>
      </p:sp>
      <p:sp>
        <p:nvSpPr>
          <p:cNvPr id="3" name="Text 1"/>
          <p:cNvSpPr/>
          <p:nvPr/>
        </p:nvSpPr>
        <p:spPr>
          <a:xfrm>
            <a:off x="548640" y="640080"/>
            <a:ext cx="11064240" cy="566928"/>
          </a:xfrm>
          <a:prstGeom prst="rect">
            <a:avLst/>
          </a:prstGeom>
          <a:noFill/>
          <a:ln/>
        </p:spPr>
        <p:txBody>
          <a:bodyPr wrap="square" lIns="0" tIns="0" rIns="0" bIns="0" rtlCol="0" anchor="t"/>
          <a:lstStyle/>
          <a:p>
            <a:pPr indent="0" marL="0">
              <a:buNone/>
            </a:pPr>
            <a:r>
              <a:rPr lang="en-US" sz="3000" b="1" dirty="0">
                <a:solidFill>
                  <a:srgbClr val="09090B"/>
                </a:solidFill>
                <a:latin typeface="Arial" pitchFamily="34" charset="0"/>
                <a:ea typeface="Arial" pitchFamily="34" charset="-122"/>
                <a:cs typeface="Arial" pitchFamily="34" charset="-120"/>
              </a:rPr>
              <a:t>Tres investigaciones y lo que aportó cada una</a:t>
            </a:r>
            <a:endParaRPr lang="en-US" sz="3000" dirty="0"/>
          </a:p>
        </p:txBody>
      </p:sp>
      <p:sp>
        <p:nvSpPr>
          <p:cNvPr id="4" name="Text 2"/>
          <p:cNvSpPr/>
          <p:nvPr/>
        </p:nvSpPr>
        <p:spPr>
          <a:xfrm>
            <a:off x="548640" y="1207008"/>
            <a:ext cx="9692640" cy="274320"/>
          </a:xfrm>
          <a:prstGeom prst="rect">
            <a:avLst/>
          </a:prstGeom>
          <a:noFill/>
          <a:ln/>
        </p:spPr>
        <p:txBody>
          <a:bodyPr wrap="square" lIns="0" tIns="0" rIns="0" bIns="0" rtlCol="0" anchor="ctr"/>
          <a:lstStyle/>
          <a:p>
            <a:pPr indent="0" marL="0">
              <a:buNone/>
            </a:pPr>
            <a:r>
              <a:rPr lang="en-US" sz="1300" dirty="0">
                <a:solidFill>
                  <a:srgbClr val="6C6C75"/>
                </a:solidFill>
                <a:latin typeface="Arial" pitchFamily="34" charset="0"/>
                <a:ea typeface="Arial" pitchFamily="34" charset="-122"/>
                <a:cs typeface="Arial" pitchFamily="34" charset="-120"/>
              </a:rPr>
              <a:t>La revisión no se limitó a describir experiencias: de cada una se recogió una decisión técnica</a:t>
            </a:r>
            <a:endParaRPr lang="en-US" sz="1300" dirty="0"/>
          </a:p>
        </p:txBody>
      </p:sp>
      <p:sp>
        <p:nvSpPr>
          <p:cNvPr id="5" name="Text 3"/>
          <p:cNvSpPr/>
          <p:nvPr/>
        </p:nvSpPr>
        <p:spPr>
          <a:xfrm>
            <a:off x="11064240" y="6510528"/>
            <a:ext cx="548640" cy="256032"/>
          </a:xfrm>
          <a:prstGeom prst="rect">
            <a:avLst/>
          </a:prstGeom>
          <a:noFill/>
          <a:ln/>
        </p:spPr>
        <p:txBody>
          <a:bodyPr wrap="square" lIns="0" tIns="0" rIns="0" bIns="0" rtlCol="0" anchor="ctr"/>
          <a:lstStyle/>
          <a:p>
            <a:pPr algn="r" indent="0" marL="0">
              <a:buNone/>
            </a:pPr>
            <a:r>
              <a:rPr lang="en-US" sz="1000" dirty="0">
                <a:solidFill>
                  <a:srgbClr val="6C6C75"/>
                </a:solidFill>
                <a:latin typeface="Arial" pitchFamily="34" charset="0"/>
                <a:ea typeface="Arial" pitchFamily="34" charset="-122"/>
                <a:cs typeface="Arial" pitchFamily="34" charset="-120"/>
              </a:rPr>
              <a:t>5</a:t>
            </a:r>
            <a:endParaRPr lang="en-US" sz="1000" dirty="0"/>
          </a:p>
        </p:txBody>
      </p:sp>
      <p:sp>
        <p:nvSpPr>
          <p:cNvPr id="6" name="Shape 4"/>
          <p:cNvSpPr/>
          <p:nvPr/>
        </p:nvSpPr>
        <p:spPr>
          <a:xfrm>
            <a:off x="548640" y="1691640"/>
            <a:ext cx="3504895" cy="4434840"/>
          </a:xfrm>
          <a:prstGeom prst="roundRect">
            <a:avLst>
              <a:gd name="adj" fmla="val 1826"/>
            </a:avLst>
          </a:prstGeom>
          <a:solidFill>
            <a:srgbClr val="F7F7F8"/>
          </a:solidFill>
          <a:ln w="12700">
            <a:solidFill>
              <a:srgbClr val="E4E4E7"/>
            </a:solidFill>
            <a:prstDash val="solid"/>
          </a:ln>
        </p:spPr>
      </p:sp>
      <p:sp>
        <p:nvSpPr>
          <p:cNvPr id="7" name="Text 5"/>
          <p:cNvSpPr/>
          <p:nvPr/>
        </p:nvSpPr>
        <p:spPr>
          <a:xfrm>
            <a:off x="749808" y="1837944"/>
            <a:ext cx="3102559" cy="201168"/>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REGISTRO ÚNICO DE DATOS</a:t>
            </a:r>
            <a:endParaRPr lang="en-US" sz="900" dirty="0"/>
          </a:p>
        </p:txBody>
      </p:sp>
      <p:sp>
        <p:nvSpPr>
          <p:cNvPr id="8" name="Text 6"/>
          <p:cNvSpPr/>
          <p:nvPr/>
        </p:nvSpPr>
        <p:spPr>
          <a:xfrm>
            <a:off x="749808" y="2084832"/>
            <a:ext cx="3102559" cy="420624"/>
          </a:xfrm>
          <a:prstGeom prst="rect">
            <a:avLst/>
          </a:prstGeom>
          <a:noFill/>
          <a:ln/>
        </p:spPr>
        <p:txBody>
          <a:bodyPr wrap="square" lIns="0" tIns="0" rIns="0" bIns="0" rtlCol="0" anchor="ctr"/>
          <a:lstStyle/>
          <a:p>
            <a:pPr indent="0" marL="0">
              <a:buNone/>
            </a:pPr>
            <a:r>
              <a:rPr lang="en-US" sz="1200" b="1" dirty="0">
                <a:solidFill>
                  <a:srgbClr val="09090B"/>
                </a:solidFill>
                <a:latin typeface="Arial" pitchFamily="34" charset="0"/>
                <a:ea typeface="Arial" pitchFamily="34" charset="-122"/>
                <a:cs typeface="Arial" pitchFamily="34" charset="-120"/>
              </a:rPr>
              <a:t>Delgado y Osorio (2024) · Ecuador · UIDE</a:t>
            </a:r>
            <a:endParaRPr lang="en-US" sz="1200" dirty="0"/>
          </a:p>
        </p:txBody>
      </p:sp>
      <p:sp>
        <p:nvSpPr>
          <p:cNvPr id="9" name="Text 7"/>
          <p:cNvSpPr/>
          <p:nvPr/>
        </p:nvSpPr>
        <p:spPr>
          <a:xfrm>
            <a:off x="749808" y="2560320"/>
            <a:ext cx="3102559" cy="3438144"/>
          </a:xfrm>
          <a:prstGeom prst="rect">
            <a:avLst/>
          </a:prstGeom>
          <a:noFill/>
          <a:ln/>
        </p:spPr>
        <p:txBody>
          <a:bodyPr wrap="square" lIns="0" tIns="0" rIns="0" bIns="0" rtlCol="0" anchor="t"/>
          <a:lstStyle/>
          <a:p>
            <a:pPr indent="0" marL="0">
              <a:lnSpc>
                <a:spcPct val="112000"/>
              </a:lnSpc>
              <a:buNone/>
            </a:pPr>
            <a:r>
              <a:rPr lang="en-US" sz="900" b="1" spc="100" kern="0" dirty="0">
                <a:solidFill>
                  <a:srgbClr val="6C6C75"/>
                </a:solidFill>
                <a:latin typeface="Arial" pitchFamily="34" charset="0"/>
                <a:ea typeface="Arial" pitchFamily="34" charset="-122"/>
                <a:cs typeface="Arial" pitchFamily="34" charset="-120"/>
              </a:rPr>
              <a:t>QUÉ HICIERON</a:t>
            </a:r>
            <a:endParaRPr lang="en-US" sz="1250" dirty="0"/>
          </a:p>
          <a:p>
            <a:pPr indent="0" marL="0">
              <a:lnSpc>
                <a:spcPct val="112000"/>
              </a:lnSpc>
              <a:buNone/>
            </a:pPr>
            <a:r>
              <a:rPr lang="en-US" sz="1200" dirty="0">
                <a:solidFill>
                  <a:srgbClr val="09090B"/>
                </a:solidFill>
                <a:latin typeface="Arial" pitchFamily="34" charset="0"/>
                <a:ea typeface="Arial" pitchFamily="34" charset="-122"/>
                <a:cs typeface="Arial" pitchFamily="34" charset="-120"/>
              </a:rPr>
              <a:t>Sistema de gestión automatizada de prácticas: asignación de estudiantes a empresas receptoras, registro de horas y coordinación de la evaluación de los mentores.</a:t>
            </a:r>
            <a:endParaRPr lang="en-US" sz="1250" dirty="0"/>
          </a:p>
          <a:p>
            <a:pPr indent="0" marL="0">
              <a:lnSpc>
                <a:spcPct val="112000"/>
              </a:lnSpc>
              <a:buNone/>
            </a:pPr>
            <a:r>
              <a:rPr lang="en-US" sz="500" dirty="0">
                <a:solidFill>
                  <a:srgbClr val="09090B"/>
                </a:solidFill>
                <a:latin typeface="Arial" pitchFamily="34" charset="0"/>
                <a:ea typeface="Arial" pitchFamily="34" charset="-122"/>
                <a:cs typeface="Arial" pitchFamily="34" charset="-120"/>
              </a:rPr>
              <a:t> </a:t>
            </a:r>
            <a:endParaRPr lang="en-US" sz="1250" dirty="0"/>
          </a:p>
          <a:p>
            <a:pPr indent="0" marL="0">
              <a:lnSpc>
                <a:spcPct val="112000"/>
              </a:lnSpc>
              <a:buNone/>
            </a:pPr>
            <a:r>
              <a:rPr lang="en-US" sz="900" b="1" spc="100" kern="0" dirty="0">
                <a:solidFill>
                  <a:srgbClr val="6C6C75"/>
                </a:solidFill>
                <a:latin typeface="Arial" pitchFamily="34" charset="0"/>
                <a:ea typeface="Arial" pitchFamily="34" charset="-122"/>
                <a:cs typeface="Arial" pitchFamily="34" charset="-120"/>
              </a:rPr>
              <a:t>QUÉ SE RECOGE</a:t>
            </a:r>
            <a:endParaRPr lang="en-US" sz="1250" dirty="0"/>
          </a:p>
          <a:p>
            <a:pPr indent="0" marL="0">
              <a:lnSpc>
                <a:spcPct val="112000"/>
              </a:lnSpc>
              <a:buNone/>
            </a:pPr>
            <a:r>
              <a:rPr lang="en-US" sz="1200" dirty="0">
                <a:solidFill>
                  <a:srgbClr val="09090B"/>
                </a:solidFill>
                <a:latin typeface="Arial" pitchFamily="34" charset="0"/>
                <a:ea typeface="Arial" pitchFamily="34" charset="-122"/>
                <a:cs typeface="Arial" pitchFamily="34" charset="-120"/>
              </a:rPr>
              <a:t>La documentación debe elaborarse a partir de datos preexistentes, no de transcripciones.</a:t>
            </a:r>
            <a:endParaRPr lang="en-US" sz="1250" dirty="0"/>
          </a:p>
        </p:txBody>
      </p:sp>
      <p:sp>
        <p:nvSpPr>
          <p:cNvPr id="10" name="Shape 8"/>
          <p:cNvSpPr/>
          <p:nvPr/>
        </p:nvSpPr>
        <p:spPr>
          <a:xfrm>
            <a:off x="4327855" y="1691640"/>
            <a:ext cx="3504895" cy="4434840"/>
          </a:xfrm>
          <a:prstGeom prst="roundRect">
            <a:avLst>
              <a:gd name="adj" fmla="val 1826"/>
            </a:avLst>
          </a:prstGeom>
          <a:solidFill>
            <a:srgbClr val="F7F7F8"/>
          </a:solidFill>
          <a:ln w="12700">
            <a:solidFill>
              <a:srgbClr val="E4E4E7"/>
            </a:solidFill>
            <a:prstDash val="solid"/>
          </a:ln>
        </p:spPr>
      </p:sp>
      <p:sp>
        <p:nvSpPr>
          <p:cNvPr id="11" name="Text 9"/>
          <p:cNvSpPr/>
          <p:nvPr/>
        </p:nvSpPr>
        <p:spPr>
          <a:xfrm>
            <a:off x="4529023" y="1837944"/>
            <a:ext cx="3102559" cy="201168"/>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FLUJO DOCUMENTAL POR ESTADOS</a:t>
            </a:r>
            <a:endParaRPr lang="en-US" sz="900" dirty="0"/>
          </a:p>
        </p:txBody>
      </p:sp>
      <p:sp>
        <p:nvSpPr>
          <p:cNvPr id="12" name="Text 10"/>
          <p:cNvSpPr/>
          <p:nvPr/>
        </p:nvSpPr>
        <p:spPr>
          <a:xfrm>
            <a:off x="4529023" y="2084832"/>
            <a:ext cx="3102559" cy="420624"/>
          </a:xfrm>
          <a:prstGeom prst="rect">
            <a:avLst/>
          </a:prstGeom>
          <a:noFill/>
          <a:ln/>
        </p:spPr>
        <p:txBody>
          <a:bodyPr wrap="square" lIns="0" tIns="0" rIns="0" bIns="0" rtlCol="0" anchor="ctr"/>
          <a:lstStyle/>
          <a:p>
            <a:pPr indent="0" marL="0">
              <a:buNone/>
            </a:pPr>
            <a:r>
              <a:rPr lang="en-US" sz="1200" b="1" dirty="0">
                <a:solidFill>
                  <a:srgbClr val="09090B"/>
                </a:solidFill>
                <a:latin typeface="Arial" pitchFamily="34" charset="0"/>
                <a:ea typeface="Arial" pitchFamily="34" charset="-122"/>
                <a:cs typeface="Arial" pitchFamily="34" charset="-120"/>
              </a:rPr>
              <a:t>Enríquez (2021) · Ecuador · UTA</a:t>
            </a:r>
            <a:endParaRPr lang="en-US" sz="1200" dirty="0"/>
          </a:p>
        </p:txBody>
      </p:sp>
      <p:sp>
        <p:nvSpPr>
          <p:cNvPr id="13" name="Text 11"/>
          <p:cNvSpPr/>
          <p:nvPr/>
        </p:nvSpPr>
        <p:spPr>
          <a:xfrm>
            <a:off x="4529023" y="2560320"/>
            <a:ext cx="3102559" cy="3438144"/>
          </a:xfrm>
          <a:prstGeom prst="rect">
            <a:avLst/>
          </a:prstGeom>
          <a:noFill/>
          <a:ln/>
        </p:spPr>
        <p:txBody>
          <a:bodyPr wrap="square" lIns="0" tIns="0" rIns="0" bIns="0" rtlCol="0" anchor="t"/>
          <a:lstStyle/>
          <a:p>
            <a:pPr indent="0" marL="0">
              <a:lnSpc>
                <a:spcPct val="112000"/>
              </a:lnSpc>
              <a:buNone/>
            </a:pPr>
            <a:r>
              <a:rPr lang="en-US" sz="900" b="1" spc="100" kern="0" dirty="0">
                <a:solidFill>
                  <a:srgbClr val="6C6C75"/>
                </a:solidFill>
                <a:latin typeface="Arial" pitchFamily="34" charset="0"/>
                <a:ea typeface="Arial" pitchFamily="34" charset="-122"/>
                <a:cs typeface="Arial" pitchFamily="34" charset="-120"/>
              </a:rPr>
              <a:t>QUÉ HICIERON</a:t>
            </a:r>
            <a:endParaRPr lang="en-US" sz="1250" dirty="0"/>
          </a:p>
          <a:p>
            <a:pPr indent="0" marL="0">
              <a:lnSpc>
                <a:spcPct val="112000"/>
              </a:lnSpc>
              <a:buNone/>
            </a:pPr>
            <a:r>
              <a:rPr lang="en-US" sz="1200" dirty="0">
                <a:solidFill>
                  <a:srgbClr val="09090B"/>
                </a:solidFill>
                <a:latin typeface="Arial" pitchFamily="34" charset="0"/>
                <a:ea typeface="Arial" pitchFamily="34" charset="-122"/>
                <a:cs typeface="Arial" pitchFamily="34" charset="-120"/>
              </a:rPr>
              <a:t>Sistema web de gestión documental en ASP.NET con un motor de flujo de trabajo que representa actores, tareas y decisiones del procedimiento.</a:t>
            </a:r>
            <a:endParaRPr lang="en-US" sz="1250" dirty="0"/>
          </a:p>
          <a:p>
            <a:pPr indent="0" marL="0">
              <a:lnSpc>
                <a:spcPct val="112000"/>
              </a:lnSpc>
              <a:buNone/>
            </a:pPr>
            <a:r>
              <a:rPr lang="en-US" sz="500" dirty="0">
                <a:solidFill>
                  <a:srgbClr val="09090B"/>
                </a:solidFill>
                <a:latin typeface="Arial" pitchFamily="34" charset="0"/>
                <a:ea typeface="Arial" pitchFamily="34" charset="-122"/>
                <a:cs typeface="Arial" pitchFamily="34" charset="-120"/>
              </a:rPr>
              <a:t> </a:t>
            </a:r>
            <a:endParaRPr lang="en-US" sz="1250" dirty="0"/>
          </a:p>
          <a:p>
            <a:pPr indent="0" marL="0">
              <a:lnSpc>
                <a:spcPct val="112000"/>
              </a:lnSpc>
              <a:buNone/>
            </a:pPr>
            <a:r>
              <a:rPr lang="en-US" sz="900" b="1" spc="100" kern="0" dirty="0">
                <a:solidFill>
                  <a:srgbClr val="6C6C75"/>
                </a:solidFill>
                <a:latin typeface="Arial" pitchFamily="34" charset="0"/>
                <a:ea typeface="Arial" pitchFamily="34" charset="-122"/>
                <a:cs typeface="Arial" pitchFamily="34" charset="-120"/>
              </a:rPr>
              <a:t>QUÉ SE RECOGE</a:t>
            </a:r>
            <a:endParaRPr lang="en-US" sz="1250" dirty="0"/>
          </a:p>
          <a:p>
            <a:pPr indent="0" marL="0">
              <a:lnSpc>
                <a:spcPct val="112000"/>
              </a:lnSpc>
              <a:buNone/>
            </a:pPr>
            <a:r>
              <a:rPr lang="en-US" sz="1200" dirty="0">
                <a:solidFill>
                  <a:srgbClr val="09090B"/>
                </a:solidFill>
                <a:latin typeface="Arial" pitchFamily="34" charset="0"/>
                <a:ea typeface="Arial" pitchFamily="34" charset="-122"/>
                <a:cs typeface="Arial" pitchFamily="34" charset="-120"/>
              </a:rPr>
              <a:t>La noción de documento que avanza por estados, base del circuito de firma de los certificados.</a:t>
            </a:r>
            <a:endParaRPr lang="en-US" sz="1250" dirty="0"/>
          </a:p>
        </p:txBody>
      </p:sp>
      <p:sp>
        <p:nvSpPr>
          <p:cNvPr id="14" name="Shape 12"/>
          <p:cNvSpPr/>
          <p:nvPr/>
        </p:nvSpPr>
        <p:spPr>
          <a:xfrm>
            <a:off x="8107070" y="1691640"/>
            <a:ext cx="3504895" cy="4434840"/>
          </a:xfrm>
          <a:prstGeom prst="roundRect">
            <a:avLst>
              <a:gd name="adj" fmla="val 1826"/>
            </a:avLst>
          </a:prstGeom>
          <a:solidFill>
            <a:srgbClr val="F7F7F8"/>
          </a:solidFill>
          <a:ln w="12700">
            <a:solidFill>
              <a:srgbClr val="E4E4E7"/>
            </a:solidFill>
            <a:prstDash val="solid"/>
          </a:ln>
        </p:spPr>
      </p:sp>
      <p:sp>
        <p:nvSpPr>
          <p:cNvPr id="15" name="Text 13"/>
          <p:cNvSpPr/>
          <p:nvPr/>
        </p:nvSpPr>
        <p:spPr>
          <a:xfrm>
            <a:off x="8308238" y="1837944"/>
            <a:ext cx="3102559" cy="201168"/>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PLANTILLAS EDITABLES POR EL USUARIO</a:t>
            </a:r>
            <a:endParaRPr lang="en-US" sz="900" dirty="0"/>
          </a:p>
        </p:txBody>
      </p:sp>
      <p:sp>
        <p:nvSpPr>
          <p:cNvPr id="16" name="Text 14"/>
          <p:cNvSpPr/>
          <p:nvPr/>
        </p:nvSpPr>
        <p:spPr>
          <a:xfrm>
            <a:off x="8308238" y="2084832"/>
            <a:ext cx="3102559" cy="420624"/>
          </a:xfrm>
          <a:prstGeom prst="rect">
            <a:avLst/>
          </a:prstGeom>
          <a:noFill/>
          <a:ln/>
        </p:spPr>
        <p:txBody>
          <a:bodyPr wrap="square" lIns="0" tIns="0" rIns="0" bIns="0" rtlCol="0" anchor="ctr"/>
          <a:lstStyle/>
          <a:p>
            <a:pPr indent="0" marL="0">
              <a:buNone/>
            </a:pPr>
            <a:r>
              <a:rPr lang="en-US" sz="1200" b="1" dirty="0">
                <a:solidFill>
                  <a:srgbClr val="09090B"/>
                </a:solidFill>
                <a:latin typeface="Arial" pitchFamily="34" charset="0"/>
                <a:ea typeface="Arial" pitchFamily="34" charset="-122"/>
                <a:cs typeface="Arial" pitchFamily="34" charset="-120"/>
              </a:rPr>
              <a:t>Bornais (s. f.) · código abierto</a:t>
            </a:r>
            <a:endParaRPr lang="en-US" sz="1200" dirty="0"/>
          </a:p>
        </p:txBody>
      </p:sp>
      <p:sp>
        <p:nvSpPr>
          <p:cNvPr id="17" name="Text 15"/>
          <p:cNvSpPr/>
          <p:nvPr/>
        </p:nvSpPr>
        <p:spPr>
          <a:xfrm>
            <a:off x="8308238" y="2560320"/>
            <a:ext cx="3102559" cy="3438144"/>
          </a:xfrm>
          <a:prstGeom prst="rect">
            <a:avLst/>
          </a:prstGeom>
          <a:noFill/>
          <a:ln/>
        </p:spPr>
        <p:txBody>
          <a:bodyPr wrap="square" lIns="0" tIns="0" rIns="0" bIns="0" rtlCol="0" anchor="t"/>
          <a:lstStyle/>
          <a:p>
            <a:pPr indent="0" marL="0">
              <a:lnSpc>
                <a:spcPct val="112000"/>
              </a:lnSpc>
              <a:buNone/>
            </a:pPr>
            <a:r>
              <a:rPr lang="en-US" sz="900" b="1" spc="100" kern="0" dirty="0">
                <a:solidFill>
                  <a:srgbClr val="6C6C75"/>
                </a:solidFill>
                <a:latin typeface="Arial" pitchFamily="34" charset="0"/>
                <a:ea typeface="Arial" pitchFamily="34" charset="-122"/>
                <a:cs typeface="Arial" pitchFamily="34" charset="-120"/>
              </a:rPr>
              <a:t>QUÉ HICIERON</a:t>
            </a:r>
            <a:endParaRPr lang="en-US" sz="1250" dirty="0"/>
          </a:p>
          <a:p>
            <a:pPr indent="0" marL="0">
              <a:lnSpc>
                <a:spcPct val="112000"/>
              </a:lnSpc>
              <a:buNone/>
            </a:pPr>
            <a:r>
              <a:rPr lang="en-US" sz="1200" dirty="0">
                <a:solidFill>
                  <a:srgbClr val="09090B"/>
                </a:solidFill>
                <a:latin typeface="Arial" pitchFamily="34" charset="0"/>
                <a:ea typeface="Arial" pitchFamily="34" charset="-122"/>
                <a:cs typeface="Arial" pitchFamily="34" charset="-120"/>
              </a:rPr>
              <a:t>Generador de certificados que opera desde el navegador: la plantilla se configura arrastrando campos y los datos se cargan desde un archivo CSV.</a:t>
            </a:r>
            <a:endParaRPr lang="en-US" sz="1250" dirty="0"/>
          </a:p>
          <a:p>
            <a:pPr indent="0" marL="0">
              <a:lnSpc>
                <a:spcPct val="112000"/>
              </a:lnSpc>
              <a:buNone/>
            </a:pPr>
            <a:r>
              <a:rPr lang="en-US" sz="500" dirty="0">
                <a:solidFill>
                  <a:srgbClr val="09090B"/>
                </a:solidFill>
                <a:latin typeface="Arial" pitchFamily="34" charset="0"/>
                <a:ea typeface="Arial" pitchFamily="34" charset="-122"/>
                <a:cs typeface="Arial" pitchFamily="34" charset="-120"/>
              </a:rPr>
              <a:t> </a:t>
            </a:r>
            <a:endParaRPr lang="en-US" sz="1250" dirty="0"/>
          </a:p>
          <a:p>
            <a:pPr indent="0" marL="0">
              <a:lnSpc>
                <a:spcPct val="112000"/>
              </a:lnSpc>
              <a:buNone/>
            </a:pPr>
            <a:r>
              <a:rPr lang="en-US" sz="900" b="1" spc="100" kern="0" dirty="0">
                <a:solidFill>
                  <a:srgbClr val="6C6C75"/>
                </a:solidFill>
                <a:latin typeface="Arial" pitchFamily="34" charset="0"/>
                <a:ea typeface="Arial" pitchFamily="34" charset="-122"/>
                <a:cs typeface="Arial" pitchFamily="34" charset="-120"/>
              </a:rPr>
              <a:t>QUÉ SE RECOGE</a:t>
            </a:r>
            <a:endParaRPr lang="en-US" sz="1250" dirty="0"/>
          </a:p>
          <a:p>
            <a:pPr indent="0" marL="0">
              <a:lnSpc>
                <a:spcPct val="112000"/>
              </a:lnSpc>
              <a:buNone/>
            </a:pPr>
            <a:r>
              <a:rPr lang="en-US" sz="1200" dirty="0">
                <a:solidFill>
                  <a:srgbClr val="09090B"/>
                </a:solidFill>
                <a:latin typeface="Arial" pitchFamily="34" charset="0"/>
                <a:ea typeface="Arial" pitchFamily="34" charset="-122"/>
                <a:cs typeface="Arial" pitchFamily="34" charset="-120"/>
              </a:rPr>
              <a:t>Quien administra las plantillas deja de depender de un programador para ajustarlas.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19456"/>
          </a:xfrm>
          <a:prstGeom prst="rect">
            <a:avLst/>
          </a:prstGeom>
          <a:noFill/>
          <a:ln/>
        </p:spPr>
        <p:txBody>
          <a:bodyPr wrap="square" lIns="0" tIns="0" rIns="0" bIns="0" rtlCol="0" anchor="ctr"/>
          <a:lstStyle/>
          <a:p>
            <a:pPr indent="0" marL="0">
              <a:buNone/>
            </a:pPr>
            <a:r>
              <a:rPr lang="en-US" sz="1000" b="1" spc="140" kern="0" dirty="0">
                <a:solidFill>
                  <a:srgbClr val="2563EB"/>
                </a:solidFill>
                <a:latin typeface="Arial" pitchFamily="34" charset="0"/>
                <a:ea typeface="Arial" pitchFamily="34" charset="-122"/>
                <a:cs typeface="Arial" pitchFamily="34" charset="-120"/>
              </a:rPr>
              <a:t>CAPÍTULO II · MARCO NORMATIVO INSTITUCIONAL</a:t>
            </a:r>
            <a:endParaRPr lang="en-US" sz="1000" dirty="0"/>
          </a:p>
        </p:txBody>
      </p:sp>
      <p:sp>
        <p:nvSpPr>
          <p:cNvPr id="3" name="Text 1"/>
          <p:cNvSpPr/>
          <p:nvPr/>
        </p:nvSpPr>
        <p:spPr>
          <a:xfrm>
            <a:off x="548640" y="640080"/>
            <a:ext cx="11064240" cy="566928"/>
          </a:xfrm>
          <a:prstGeom prst="rect">
            <a:avLst/>
          </a:prstGeom>
          <a:noFill/>
          <a:ln/>
        </p:spPr>
        <p:txBody>
          <a:bodyPr wrap="square" lIns="0" tIns="0" rIns="0" bIns="0" rtlCol="0" anchor="t"/>
          <a:lstStyle/>
          <a:p>
            <a:pPr indent="0" marL="0">
              <a:buNone/>
            </a:pPr>
            <a:r>
              <a:rPr lang="en-US" sz="3000" b="1" dirty="0">
                <a:solidFill>
                  <a:srgbClr val="09090B"/>
                </a:solidFill>
                <a:latin typeface="Arial" pitchFamily="34" charset="0"/>
                <a:ea typeface="Arial" pitchFamily="34" charset="-122"/>
                <a:cs typeface="Arial" pitchFamily="34" charset="-120"/>
              </a:rPr>
              <a:t>Manual PAP-01: cuatro etapas y sus formatos</a:t>
            </a:r>
            <a:endParaRPr lang="en-US" sz="3000" dirty="0"/>
          </a:p>
        </p:txBody>
      </p:sp>
      <p:sp>
        <p:nvSpPr>
          <p:cNvPr id="4" name="Text 2"/>
          <p:cNvSpPr/>
          <p:nvPr/>
        </p:nvSpPr>
        <p:spPr>
          <a:xfrm>
            <a:off x="548640" y="1207008"/>
            <a:ext cx="9692640" cy="274320"/>
          </a:xfrm>
          <a:prstGeom prst="rect">
            <a:avLst/>
          </a:prstGeom>
          <a:noFill/>
          <a:ln/>
        </p:spPr>
        <p:txBody>
          <a:bodyPr wrap="square" lIns="0" tIns="0" rIns="0" bIns="0" rtlCol="0" anchor="ctr"/>
          <a:lstStyle/>
          <a:p>
            <a:pPr indent="0" marL="0">
              <a:buNone/>
            </a:pPr>
            <a:r>
              <a:rPr lang="en-US" sz="1300" dirty="0">
                <a:solidFill>
                  <a:srgbClr val="6C6C75"/>
                </a:solidFill>
                <a:latin typeface="Arial" pitchFamily="34" charset="0"/>
                <a:ea typeface="Arial" pitchFamily="34" charset="-122"/>
                <a:cs typeface="Arial" pitchFamily="34" charset="-120"/>
              </a:rPr>
              <a:t>En azul, lo que el sistema cubre; en gris, lo que conserva su tramitación actual</a:t>
            </a:r>
            <a:endParaRPr lang="en-US" sz="1300" dirty="0"/>
          </a:p>
        </p:txBody>
      </p:sp>
      <p:sp>
        <p:nvSpPr>
          <p:cNvPr id="5" name="Text 3"/>
          <p:cNvSpPr/>
          <p:nvPr/>
        </p:nvSpPr>
        <p:spPr>
          <a:xfrm>
            <a:off x="11064240" y="6510528"/>
            <a:ext cx="548640" cy="256032"/>
          </a:xfrm>
          <a:prstGeom prst="rect">
            <a:avLst/>
          </a:prstGeom>
          <a:noFill/>
          <a:ln/>
        </p:spPr>
        <p:txBody>
          <a:bodyPr wrap="square" lIns="0" tIns="0" rIns="0" bIns="0" rtlCol="0" anchor="ctr"/>
          <a:lstStyle/>
          <a:p>
            <a:pPr algn="r" indent="0" marL="0">
              <a:buNone/>
            </a:pPr>
            <a:r>
              <a:rPr lang="en-US" sz="1000" dirty="0">
                <a:solidFill>
                  <a:srgbClr val="6C6C75"/>
                </a:solidFill>
                <a:latin typeface="Arial" pitchFamily="34" charset="0"/>
                <a:ea typeface="Arial" pitchFamily="34" charset="-122"/>
                <a:cs typeface="Arial" pitchFamily="34" charset="-120"/>
              </a:rPr>
              <a:t>6</a:t>
            </a:r>
            <a:endParaRPr lang="en-US" sz="1000" dirty="0"/>
          </a:p>
        </p:txBody>
      </p:sp>
      <p:sp>
        <p:nvSpPr>
          <p:cNvPr id="6" name="Shape 4"/>
          <p:cNvSpPr/>
          <p:nvPr/>
        </p:nvSpPr>
        <p:spPr>
          <a:xfrm>
            <a:off x="548640" y="1737360"/>
            <a:ext cx="2594610" cy="2697480"/>
          </a:xfrm>
          <a:prstGeom prst="roundRect">
            <a:avLst>
              <a:gd name="adj" fmla="val 2467"/>
            </a:avLst>
          </a:prstGeom>
          <a:solidFill>
            <a:srgbClr val="EEF3FE"/>
          </a:solidFill>
          <a:ln w="12700">
            <a:solidFill>
              <a:srgbClr val="2563EB"/>
            </a:solidFill>
            <a:prstDash val="solid"/>
          </a:ln>
        </p:spPr>
      </p:sp>
      <p:sp>
        <p:nvSpPr>
          <p:cNvPr id="7" name="Text 5"/>
          <p:cNvSpPr/>
          <p:nvPr/>
        </p:nvSpPr>
        <p:spPr>
          <a:xfrm>
            <a:off x="749808" y="1883664"/>
            <a:ext cx="2192274" cy="201168"/>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1 · PLANIFICACIÓN</a:t>
            </a:r>
            <a:endParaRPr lang="en-US" sz="900" dirty="0"/>
          </a:p>
        </p:txBody>
      </p:sp>
      <p:sp>
        <p:nvSpPr>
          <p:cNvPr id="8" name="Text 6"/>
          <p:cNvSpPr/>
          <p:nvPr/>
        </p:nvSpPr>
        <p:spPr>
          <a:xfrm>
            <a:off x="749808" y="2130552"/>
            <a:ext cx="2192274" cy="2176272"/>
          </a:xfrm>
          <a:prstGeom prst="rect">
            <a:avLst/>
          </a:prstGeom>
          <a:noFill/>
          <a:ln/>
        </p:spPr>
        <p:txBody>
          <a:bodyPr wrap="square" lIns="0" tIns="0" rIns="0" bIns="0" rtlCol="0" anchor="t"/>
          <a:lstStyle/>
          <a:p>
            <a:pPr indent="0" marL="0">
              <a:lnSpc>
                <a:spcPct val="112000"/>
              </a:lnSpc>
              <a:buNone/>
            </a:pPr>
            <a:r>
              <a:rPr lang="en-US" sz="1100" dirty="0">
                <a:solidFill>
                  <a:srgbClr val="09090B"/>
                </a:solidFill>
                <a:latin typeface="Arial" pitchFamily="34" charset="0"/>
                <a:ea typeface="Arial" pitchFamily="34" charset="-122"/>
                <a:cs typeface="Arial" pitchFamily="34" charset="-120"/>
              </a:rPr>
              <a:t>PAP-01-F-001  Planificación semestral</a:t>
            </a:r>
            <a:endParaRPr lang="en-US" sz="1100" dirty="0"/>
          </a:p>
          <a:p>
            <a:pPr indent="0" marL="0">
              <a:lnSpc>
                <a:spcPct val="112000"/>
              </a:lnSpc>
              <a:buNone/>
            </a:pPr>
            <a:r>
              <a:rPr lang="en-US" sz="1100" dirty="0">
                <a:solidFill>
                  <a:srgbClr val="09090B"/>
                </a:solidFill>
                <a:latin typeface="Arial" pitchFamily="34" charset="0"/>
                <a:ea typeface="Arial" pitchFamily="34" charset="-122"/>
                <a:cs typeface="Arial" pitchFamily="34" charset="-120"/>
              </a:rPr>
              <a:t>PAP-01-F-006  Solicitud de prácticas</a:t>
            </a:r>
            <a:endParaRPr lang="en-US" sz="1100" dirty="0"/>
          </a:p>
        </p:txBody>
      </p:sp>
      <p:sp>
        <p:nvSpPr>
          <p:cNvPr id="9" name="Shape 7"/>
          <p:cNvSpPr/>
          <p:nvPr/>
        </p:nvSpPr>
        <p:spPr>
          <a:xfrm>
            <a:off x="3371850" y="1737360"/>
            <a:ext cx="2594610" cy="2697480"/>
          </a:xfrm>
          <a:prstGeom prst="roundRect">
            <a:avLst>
              <a:gd name="adj" fmla="val 2467"/>
            </a:avLst>
          </a:prstGeom>
          <a:solidFill>
            <a:srgbClr val="F7F7F8"/>
          </a:solidFill>
          <a:ln w="12700">
            <a:solidFill>
              <a:srgbClr val="E4E4E7"/>
            </a:solidFill>
            <a:prstDash val="solid"/>
          </a:ln>
        </p:spPr>
      </p:sp>
      <p:sp>
        <p:nvSpPr>
          <p:cNvPr id="10" name="Text 8"/>
          <p:cNvSpPr/>
          <p:nvPr/>
        </p:nvSpPr>
        <p:spPr>
          <a:xfrm>
            <a:off x="3573018" y="1883664"/>
            <a:ext cx="2192274" cy="201168"/>
          </a:xfrm>
          <a:prstGeom prst="rect">
            <a:avLst/>
          </a:prstGeom>
          <a:noFill/>
          <a:ln/>
        </p:spPr>
        <p:txBody>
          <a:bodyPr wrap="square" lIns="0" tIns="0" rIns="0" bIns="0" rtlCol="0" anchor="ctr"/>
          <a:lstStyle/>
          <a:p>
            <a:pPr indent="0" marL="0">
              <a:buNone/>
            </a:pPr>
            <a:r>
              <a:rPr lang="en-US" sz="900" b="1" spc="120" kern="0" dirty="0">
                <a:solidFill>
                  <a:srgbClr val="6C6C75"/>
                </a:solidFill>
                <a:latin typeface="Arial" pitchFamily="34" charset="0"/>
                <a:ea typeface="Arial" pitchFamily="34" charset="-122"/>
                <a:cs typeface="Arial" pitchFamily="34" charset="-120"/>
              </a:rPr>
              <a:t>2 · EJECUCIÓN</a:t>
            </a:r>
            <a:endParaRPr lang="en-US" sz="900" dirty="0"/>
          </a:p>
        </p:txBody>
      </p:sp>
      <p:sp>
        <p:nvSpPr>
          <p:cNvPr id="11" name="Text 9"/>
          <p:cNvSpPr/>
          <p:nvPr/>
        </p:nvSpPr>
        <p:spPr>
          <a:xfrm>
            <a:off x="3573018" y="2130552"/>
            <a:ext cx="2192274" cy="2176272"/>
          </a:xfrm>
          <a:prstGeom prst="rect">
            <a:avLst/>
          </a:prstGeom>
          <a:noFill/>
          <a:ln/>
        </p:spPr>
        <p:txBody>
          <a:bodyPr wrap="square" lIns="0" tIns="0" rIns="0" bIns="0" rtlCol="0" anchor="t"/>
          <a:lstStyle/>
          <a:p>
            <a:pPr indent="0" marL="0">
              <a:lnSpc>
                <a:spcPct val="112000"/>
              </a:lnSpc>
              <a:buNone/>
            </a:pPr>
            <a:r>
              <a:rPr lang="en-US" sz="1100" dirty="0">
                <a:solidFill>
                  <a:srgbClr val="6C6C75"/>
                </a:solidFill>
                <a:latin typeface="Arial" pitchFamily="34" charset="0"/>
                <a:ea typeface="Arial" pitchFamily="34" charset="-122"/>
                <a:cs typeface="Arial" pitchFamily="34" charset="-120"/>
              </a:rPr>
              <a:t>PAP-01-F-002  Registro de actividades diarias del estudiante</a:t>
            </a:r>
            <a:endParaRPr lang="en-US" sz="1100" dirty="0"/>
          </a:p>
        </p:txBody>
      </p:sp>
      <p:sp>
        <p:nvSpPr>
          <p:cNvPr id="12" name="Shape 10"/>
          <p:cNvSpPr/>
          <p:nvPr/>
        </p:nvSpPr>
        <p:spPr>
          <a:xfrm>
            <a:off x="6195060" y="1737360"/>
            <a:ext cx="2594610" cy="2697480"/>
          </a:xfrm>
          <a:prstGeom prst="roundRect">
            <a:avLst>
              <a:gd name="adj" fmla="val 2467"/>
            </a:avLst>
          </a:prstGeom>
          <a:solidFill>
            <a:srgbClr val="F7F7F8"/>
          </a:solidFill>
          <a:ln w="12700">
            <a:solidFill>
              <a:srgbClr val="E4E4E7"/>
            </a:solidFill>
            <a:prstDash val="solid"/>
          </a:ln>
        </p:spPr>
      </p:sp>
      <p:sp>
        <p:nvSpPr>
          <p:cNvPr id="13" name="Text 11"/>
          <p:cNvSpPr/>
          <p:nvPr/>
        </p:nvSpPr>
        <p:spPr>
          <a:xfrm>
            <a:off x="6396228" y="1883664"/>
            <a:ext cx="2192274" cy="201168"/>
          </a:xfrm>
          <a:prstGeom prst="rect">
            <a:avLst/>
          </a:prstGeom>
          <a:noFill/>
          <a:ln/>
        </p:spPr>
        <p:txBody>
          <a:bodyPr wrap="square" lIns="0" tIns="0" rIns="0" bIns="0" rtlCol="0" anchor="ctr"/>
          <a:lstStyle/>
          <a:p>
            <a:pPr indent="0" marL="0">
              <a:buNone/>
            </a:pPr>
            <a:r>
              <a:rPr lang="en-US" sz="900" b="1" spc="120" kern="0" dirty="0">
                <a:solidFill>
                  <a:srgbClr val="6C6C75"/>
                </a:solidFill>
                <a:latin typeface="Arial" pitchFamily="34" charset="0"/>
                <a:ea typeface="Arial" pitchFamily="34" charset="-122"/>
                <a:cs typeface="Arial" pitchFamily="34" charset="-120"/>
              </a:rPr>
              <a:t>3 · SUPERVISIÓN</a:t>
            </a:r>
            <a:endParaRPr lang="en-US" sz="900" dirty="0"/>
          </a:p>
        </p:txBody>
      </p:sp>
      <p:sp>
        <p:nvSpPr>
          <p:cNvPr id="14" name="Text 12"/>
          <p:cNvSpPr/>
          <p:nvPr/>
        </p:nvSpPr>
        <p:spPr>
          <a:xfrm>
            <a:off x="6396228" y="2130552"/>
            <a:ext cx="2192274" cy="2176272"/>
          </a:xfrm>
          <a:prstGeom prst="rect">
            <a:avLst/>
          </a:prstGeom>
          <a:noFill/>
          <a:ln/>
        </p:spPr>
        <p:txBody>
          <a:bodyPr wrap="square" lIns="0" tIns="0" rIns="0" bIns="0" rtlCol="0" anchor="t"/>
          <a:lstStyle/>
          <a:p>
            <a:pPr indent="0" marL="0">
              <a:lnSpc>
                <a:spcPct val="112000"/>
              </a:lnSpc>
              <a:buNone/>
            </a:pPr>
            <a:r>
              <a:rPr lang="en-US" sz="1100" dirty="0">
                <a:solidFill>
                  <a:srgbClr val="6C6C75"/>
                </a:solidFill>
                <a:latin typeface="Arial" pitchFamily="34" charset="0"/>
                <a:ea typeface="Arial" pitchFamily="34" charset="-122"/>
                <a:cs typeface="Arial" pitchFamily="34" charset="-120"/>
              </a:rPr>
              <a:t>PAP-01-F-003  Ficha para supervisar al estudiante</a:t>
            </a:r>
            <a:endParaRPr lang="en-US" sz="1100" dirty="0"/>
          </a:p>
        </p:txBody>
      </p:sp>
      <p:sp>
        <p:nvSpPr>
          <p:cNvPr id="15" name="Shape 13"/>
          <p:cNvSpPr/>
          <p:nvPr/>
        </p:nvSpPr>
        <p:spPr>
          <a:xfrm>
            <a:off x="9018270" y="1737360"/>
            <a:ext cx="2594610" cy="2697480"/>
          </a:xfrm>
          <a:prstGeom prst="roundRect">
            <a:avLst>
              <a:gd name="adj" fmla="val 2467"/>
            </a:avLst>
          </a:prstGeom>
          <a:solidFill>
            <a:srgbClr val="EEF3FE"/>
          </a:solidFill>
          <a:ln w="12700">
            <a:solidFill>
              <a:srgbClr val="2563EB"/>
            </a:solidFill>
            <a:prstDash val="solid"/>
          </a:ln>
        </p:spPr>
      </p:sp>
      <p:sp>
        <p:nvSpPr>
          <p:cNvPr id="16" name="Text 14"/>
          <p:cNvSpPr/>
          <p:nvPr/>
        </p:nvSpPr>
        <p:spPr>
          <a:xfrm>
            <a:off x="9219438" y="1883664"/>
            <a:ext cx="2192274" cy="201168"/>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4 · EVALUACIÓN</a:t>
            </a:r>
            <a:endParaRPr lang="en-US" sz="900" dirty="0"/>
          </a:p>
        </p:txBody>
      </p:sp>
      <p:sp>
        <p:nvSpPr>
          <p:cNvPr id="17" name="Text 15"/>
          <p:cNvSpPr/>
          <p:nvPr/>
        </p:nvSpPr>
        <p:spPr>
          <a:xfrm>
            <a:off x="9219438" y="2130552"/>
            <a:ext cx="2192274" cy="2176272"/>
          </a:xfrm>
          <a:prstGeom prst="rect">
            <a:avLst/>
          </a:prstGeom>
          <a:noFill/>
          <a:ln/>
        </p:spPr>
        <p:txBody>
          <a:bodyPr wrap="square" lIns="0" tIns="0" rIns="0" bIns="0" rtlCol="0" anchor="t"/>
          <a:lstStyle/>
          <a:p>
            <a:pPr indent="0" marL="0">
              <a:lnSpc>
                <a:spcPct val="112000"/>
              </a:lnSpc>
              <a:buNone/>
            </a:pPr>
            <a:r>
              <a:rPr lang="en-US" sz="1100" dirty="0">
                <a:solidFill>
                  <a:srgbClr val="09090B"/>
                </a:solidFill>
                <a:latin typeface="Arial" pitchFamily="34" charset="0"/>
                <a:ea typeface="Arial" pitchFamily="34" charset="-122"/>
                <a:cs typeface="Arial" pitchFamily="34" charset="-120"/>
              </a:rPr>
              <a:t>PAP-01-F-004  Informe final</a:t>
            </a:r>
            <a:endParaRPr lang="en-US" sz="1100" dirty="0"/>
          </a:p>
          <a:p>
            <a:pPr indent="0" marL="0">
              <a:lnSpc>
                <a:spcPct val="112000"/>
              </a:lnSpc>
              <a:buNone/>
            </a:pPr>
            <a:r>
              <a:rPr lang="en-US" sz="1100" dirty="0">
                <a:solidFill>
                  <a:srgbClr val="09090B"/>
                </a:solidFill>
                <a:latin typeface="Arial" pitchFamily="34" charset="0"/>
                <a:ea typeface="Arial" pitchFamily="34" charset="-122"/>
                <a:cs typeface="Arial" pitchFamily="34" charset="-120"/>
              </a:rPr>
              <a:t>PAP-01-F-005  Evaluación general</a:t>
            </a:r>
            <a:endParaRPr lang="en-US" sz="1100" dirty="0"/>
          </a:p>
          <a:p>
            <a:pPr indent="0" marL="0">
              <a:lnSpc>
                <a:spcPct val="112000"/>
              </a:lnSpc>
              <a:buNone/>
            </a:pPr>
            <a:r>
              <a:rPr lang="en-US" sz="1100" dirty="0">
                <a:solidFill>
                  <a:srgbClr val="09090B"/>
                </a:solidFill>
                <a:latin typeface="Arial" pitchFamily="34" charset="0"/>
                <a:ea typeface="Arial" pitchFamily="34" charset="-122"/>
                <a:cs typeface="Arial" pitchFamily="34" charset="-120"/>
              </a:rPr>
              <a:t>Certificado de horas cumplidas</a:t>
            </a:r>
            <a:endParaRPr lang="en-US" sz="1100" dirty="0"/>
          </a:p>
        </p:txBody>
      </p:sp>
      <p:sp>
        <p:nvSpPr>
          <p:cNvPr id="18" name="Shape 16"/>
          <p:cNvSpPr/>
          <p:nvPr/>
        </p:nvSpPr>
        <p:spPr>
          <a:xfrm>
            <a:off x="548640" y="4754880"/>
            <a:ext cx="11064240" cy="1143000"/>
          </a:xfrm>
          <a:prstGeom prst="roundRect">
            <a:avLst>
              <a:gd name="adj" fmla="val 5600"/>
            </a:avLst>
          </a:prstGeom>
          <a:solidFill>
            <a:srgbClr val="F7F7F8"/>
          </a:solidFill>
          <a:ln w="12700">
            <a:solidFill>
              <a:srgbClr val="E4E4E7"/>
            </a:solidFill>
            <a:prstDash val="solid"/>
          </a:ln>
        </p:spPr>
      </p:sp>
      <p:sp>
        <p:nvSpPr>
          <p:cNvPr id="19" name="Text 17"/>
          <p:cNvSpPr/>
          <p:nvPr/>
        </p:nvSpPr>
        <p:spPr>
          <a:xfrm>
            <a:off x="749808" y="4901184"/>
            <a:ext cx="10661904" cy="201168"/>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ALCANCE DEL SISTEMA</a:t>
            </a:r>
            <a:endParaRPr lang="en-US" sz="900" dirty="0"/>
          </a:p>
        </p:txBody>
      </p:sp>
      <p:sp>
        <p:nvSpPr>
          <p:cNvPr id="20" name="Text 18"/>
          <p:cNvSpPr/>
          <p:nvPr/>
        </p:nvSpPr>
        <p:spPr>
          <a:xfrm>
            <a:off x="749808" y="5148072"/>
            <a:ext cx="10661904" cy="621792"/>
          </a:xfrm>
          <a:prstGeom prst="rect">
            <a:avLst/>
          </a:prstGeom>
          <a:noFill/>
          <a:ln/>
        </p:spPr>
        <p:txBody>
          <a:bodyPr wrap="square" lIns="0" tIns="0" rIns="0" bIns="0" rtlCol="0" anchor="t"/>
          <a:lstStyle/>
          <a:p>
            <a:pPr indent="0" marL="0">
              <a:lnSpc>
                <a:spcPct val="112000"/>
              </a:lnSpc>
              <a:buNone/>
            </a:pPr>
            <a:r>
              <a:rPr lang="en-US" sz="1150" dirty="0">
                <a:solidFill>
                  <a:srgbClr val="09090B"/>
                </a:solidFill>
                <a:latin typeface="Arial" pitchFamily="34" charset="0"/>
                <a:ea typeface="Arial" pitchFamily="34" charset="-122"/>
                <a:cs typeface="Arial" pitchFamily="34" charset="-120"/>
              </a:rPr>
              <a:t>Interviene sobre los documentos de la etapa de planificación y sobre la acreditación que cierra el ciclo. Los formatos de ejecución y supervisión se diligencian en la entidad receptora, no en la Facultad.</a:t>
            </a:r>
            <a:endParaRPr lang="en-US" sz="1150" dirty="0"/>
          </a:p>
          <a:p>
            <a:pPr indent="0" marL="0">
              <a:lnSpc>
                <a:spcPct val="112000"/>
              </a:lnSpc>
              <a:buNone/>
            </a:pPr>
            <a:r>
              <a:rPr lang="en-US" sz="1150" dirty="0">
                <a:solidFill>
                  <a:srgbClr val="09090B"/>
                </a:solidFill>
                <a:latin typeface="Arial" pitchFamily="34" charset="0"/>
                <a:ea typeface="Arial" pitchFamily="34" charset="-122"/>
                <a:cs typeface="Arial" pitchFamily="34" charset="-120"/>
              </a:rPr>
              <a:t>Esto permite afirmar que el sistema automatiza el procedimiento oficial, y no una práctica local surgida de la conveniencia de quienes lo ejecutan.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19456"/>
          </a:xfrm>
          <a:prstGeom prst="rect">
            <a:avLst/>
          </a:prstGeom>
          <a:noFill/>
          <a:ln/>
        </p:spPr>
        <p:txBody>
          <a:bodyPr wrap="square" lIns="0" tIns="0" rIns="0" bIns="0" rtlCol="0" anchor="ctr"/>
          <a:lstStyle/>
          <a:p>
            <a:pPr indent="0" marL="0">
              <a:buNone/>
            </a:pPr>
            <a:r>
              <a:rPr lang="en-US" sz="1000" b="1" spc="140" kern="0" dirty="0">
                <a:solidFill>
                  <a:srgbClr val="2563EB"/>
                </a:solidFill>
                <a:latin typeface="Arial" pitchFamily="34" charset="0"/>
                <a:ea typeface="Arial" pitchFamily="34" charset="-122"/>
                <a:cs typeface="Arial" pitchFamily="34" charset="-120"/>
              </a:rPr>
              <a:t>CAPÍTULO III · MARCO INVESTIGATIVO</a:t>
            </a:r>
            <a:endParaRPr lang="en-US" sz="1000" dirty="0"/>
          </a:p>
        </p:txBody>
      </p:sp>
      <p:sp>
        <p:nvSpPr>
          <p:cNvPr id="3" name="Text 1"/>
          <p:cNvSpPr/>
          <p:nvPr/>
        </p:nvSpPr>
        <p:spPr>
          <a:xfrm>
            <a:off x="548640" y="640080"/>
            <a:ext cx="11064240" cy="566928"/>
          </a:xfrm>
          <a:prstGeom prst="rect">
            <a:avLst/>
          </a:prstGeom>
          <a:noFill/>
          <a:ln/>
        </p:spPr>
        <p:txBody>
          <a:bodyPr wrap="square" lIns="0" tIns="0" rIns="0" bIns="0" rtlCol="0" anchor="t"/>
          <a:lstStyle/>
          <a:p>
            <a:pPr indent="0" marL="0">
              <a:buNone/>
            </a:pPr>
            <a:r>
              <a:rPr lang="en-US" sz="3000" b="1" dirty="0">
                <a:solidFill>
                  <a:srgbClr val="09090B"/>
                </a:solidFill>
                <a:latin typeface="Arial" pitchFamily="34" charset="0"/>
                <a:ea typeface="Arial" pitchFamily="34" charset="-122"/>
                <a:cs typeface="Arial" pitchFamily="34" charset="-120"/>
              </a:rPr>
              <a:t>Metodología y fuentes consultadas</a:t>
            </a:r>
            <a:endParaRPr lang="en-US" sz="3000" dirty="0"/>
          </a:p>
        </p:txBody>
      </p:sp>
      <p:sp>
        <p:nvSpPr>
          <p:cNvPr id="4" name="Text 2"/>
          <p:cNvSpPr/>
          <p:nvPr/>
        </p:nvSpPr>
        <p:spPr>
          <a:xfrm>
            <a:off x="11064240" y="6510528"/>
            <a:ext cx="548640" cy="256032"/>
          </a:xfrm>
          <a:prstGeom prst="rect">
            <a:avLst/>
          </a:prstGeom>
          <a:noFill/>
          <a:ln/>
        </p:spPr>
        <p:txBody>
          <a:bodyPr wrap="square" lIns="0" tIns="0" rIns="0" bIns="0" rtlCol="0" anchor="ctr"/>
          <a:lstStyle/>
          <a:p>
            <a:pPr algn="r" indent="0" marL="0">
              <a:buNone/>
            </a:pPr>
            <a:r>
              <a:rPr lang="en-US" sz="1000" dirty="0">
                <a:solidFill>
                  <a:srgbClr val="6C6C75"/>
                </a:solidFill>
                <a:latin typeface="Arial" pitchFamily="34" charset="0"/>
                <a:ea typeface="Arial" pitchFamily="34" charset="-122"/>
                <a:cs typeface="Arial" pitchFamily="34" charset="-120"/>
              </a:rPr>
              <a:t>7</a:t>
            </a:r>
            <a:endParaRPr lang="en-US" sz="1000" dirty="0"/>
          </a:p>
        </p:txBody>
      </p:sp>
      <p:sp>
        <p:nvSpPr>
          <p:cNvPr id="5" name="Shape 3"/>
          <p:cNvSpPr/>
          <p:nvPr/>
        </p:nvSpPr>
        <p:spPr>
          <a:xfrm>
            <a:off x="548640" y="1554480"/>
            <a:ext cx="4480560" cy="4572000"/>
          </a:xfrm>
          <a:prstGeom prst="roundRect">
            <a:avLst>
              <a:gd name="adj" fmla="val 1429"/>
            </a:avLst>
          </a:prstGeom>
          <a:solidFill>
            <a:srgbClr val="F7F7F8"/>
          </a:solidFill>
          <a:ln w="12700">
            <a:solidFill>
              <a:srgbClr val="E4E4E7"/>
            </a:solidFill>
            <a:prstDash val="solid"/>
          </a:ln>
        </p:spPr>
      </p:sp>
      <p:sp>
        <p:nvSpPr>
          <p:cNvPr id="6" name="Text 4"/>
          <p:cNvSpPr/>
          <p:nvPr/>
        </p:nvSpPr>
        <p:spPr>
          <a:xfrm>
            <a:off x="749808" y="1700784"/>
            <a:ext cx="4078224" cy="201168"/>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DISEÑO DE LA INVESTIGACIÓN</a:t>
            </a:r>
            <a:endParaRPr lang="en-US" sz="900" dirty="0"/>
          </a:p>
        </p:txBody>
      </p:sp>
      <p:sp>
        <p:nvSpPr>
          <p:cNvPr id="7" name="Text 5"/>
          <p:cNvSpPr/>
          <p:nvPr/>
        </p:nvSpPr>
        <p:spPr>
          <a:xfrm>
            <a:off x="749808" y="1947672"/>
            <a:ext cx="4078224" cy="4050792"/>
          </a:xfrm>
          <a:prstGeom prst="rect">
            <a:avLst/>
          </a:prstGeom>
          <a:noFill/>
          <a:ln/>
        </p:spPr>
        <p:txBody>
          <a:bodyPr wrap="square" lIns="0" tIns="0" rIns="0" bIns="0" rtlCol="0" anchor="t"/>
          <a:lstStyle/>
          <a:p>
            <a:pPr indent="0" marL="0">
              <a:lnSpc>
                <a:spcPct val="112000"/>
              </a:lnSpc>
              <a:buNone/>
            </a:pPr>
            <a:r>
              <a:rPr lang="en-US" sz="850" b="1" spc="100" kern="0" dirty="0">
                <a:solidFill>
                  <a:srgbClr val="6C6C75"/>
                </a:solidFill>
                <a:latin typeface="Arial" pitchFamily="34" charset="0"/>
                <a:ea typeface="Arial" pitchFamily="34" charset="-122"/>
                <a:cs typeface="Arial" pitchFamily="34" charset="-120"/>
              </a:rPr>
              <a:t>TIPO</a:t>
            </a:r>
            <a:endParaRPr lang="en-US" sz="1250" dirty="0"/>
          </a:p>
          <a:p>
            <a:pPr indent="0" marL="0">
              <a:lnSpc>
                <a:spcPct val="112000"/>
              </a:lnSpc>
              <a:buNone/>
            </a:pPr>
            <a:r>
              <a:rPr lang="en-US" sz="1200" dirty="0">
                <a:solidFill>
                  <a:srgbClr val="09090B"/>
                </a:solidFill>
                <a:latin typeface="Arial" pitchFamily="34" charset="0"/>
                <a:ea typeface="Arial" pitchFamily="34" charset="-122"/>
                <a:cs typeface="Arial" pitchFamily="34" charset="-120"/>
              </a:rPr>
              <a:t>Aplicada y descriptiva
</a:t>
            </a:r>
            <a:endParaRPr lang="en-US" sz="1250" dirty="0"/>
          </a:p>
          <a:p>
            <a:pPr indent="0" marL="0">
              <a:lnSpc>
                <a:spcPct val="112000"/>
              </a:lnSpc>
              <a:buNone/>
            </a:pPr>
            <a:r>
              <a:rPr lang="en-US" sz="850" b="1" spc="100" kern="0" dirty="0">
                <a:solidFill>
                  <a:srgbClr val="6C6C75"/>
                </a:solidFill>
                <a:latin typeface="Arial" pitchFamily="34" charset="0"/>
                <a:ea typeface="Arial" pitchFamily="34" charset="-122"/>
                <a:cs typeface="Arial" pitchFamily="34" charset="-120"/>
              </a:rPr>
              <a:t>DISEÑO</a:t>
            </a:r>
            <a:endParaRPr lang="en-US" sz="1250" dirty="0"/>
          </a:p>
          <a:p>
            <a:pPr indent="0" marL="0">
              <a:lnSpc>
                <a:spcPct val="112000"/>
              </a:lnSpc>
              <a:buNone/>
            </a:pPr>
            <a:r>
              <a:rPr lang="en-US" sz="1200" dirty="0">
                <a:solidFill>
                  <a:srgbClr val="09090B"/>
                </a:solidFill>
                <a:latin typeface="Arial" pitchFamily="34" charset="0"/>
                <a:ea typeface="Arial" pitchFamily="34" charset="-122"/>
                <a:cs typeface="Arial" pitchFamily="34" charset="-120"/>
              </a:rPr>
              <a:t>No experimental, de corte transversal
</a:t>
            </a:r>
            <a:endParaRPr lang="en-US" sz="1250" dirty="0"/>
          </a:p>
          <a:p>
            <a:pPr indent="0" marL="0">
              <a:lnSpc>
                <a:spcPct val="112000"/>
              </a:lnSpc>
              <a:buNone/>
            </a:pPr>
            <a:r>
              <a:rPr lang="en-US" sz="850" b="1" spc="100" kern="0" dirty="0">
                <a:solidFill>
                  <a:srgbClr val="6C6C75"/>
                </a:solidFill>
                <a:latin typeface="Arial" pitchFamily="34" charset="0"/>
                <a:ea typeface="Arial" pitchFamily="34" charset="-122"/>
                <a:cs typeface="Arial" pitchFamily="34" charset="-120"/>
              </a:rPr>
              <a:t>ENFOQUE</a:t>
            </a:r>
            <a:endParaRPr lang="en-US" sz="1250" dirty="0"/>
          </a:p>
          <a:p>
            <a:pPr indent="0" marL="0">
              <a:lnSpc>
                <a:spcPct val="112000"/>
              </a:lnSpc>
              <a:buNone/>
            </a:pPr>
            <a:r>
              <a:rPr lang="en-US" sz="1200" dirty="0">
                <a:solidFill>
                  <a:srgbClr val="09090B"/>
                </a:solidFill>
                <a:latin typeface="Arial" pitchFamily="34" charset="0"/>
                <a:ea typeface="Arial" pitchFamily="34" charset="-122"/>
                <a:cs typeface="Arial" pitchFamily="34" charset="-120"/>
              </a:rPr>
              <a:t>Predominantemente cualitativo
</a:t>
            </a:r>
            <a:endParaRPr lang="en-US" sz="1250" dirty="0"/>
          </a:p>
          <a:p>
            <a:pPr indent="0" marL="0">
              <a:lnSpc>
                <a:spcPct val="112000"/>
              </a:lnSpc>
              <a:buNone/>
            </a:pPr>
            <a:r>
              <a:rPr lang="en-US" sz="850" b="1" spc="100" kern="0" dirty="0">
                <a:solidFill>
                  <a:srgbClr val="6C6C75"/>
                </a:solidFill>
                <a:latin typeface="Arial" pitchFamily="34" charset="0"/>
                <a:ea typeface="Arial" pitchFamily="34" charset="-122"/>
                <a:cs typeface="Arial" pitchFamily="34" charset="-120"/>
              </a:rPr>
              <a:t>MÉTODOS</a:t>
            </a:r>
            <a:endParaRPr lang="en-US" sz="1250" dirty="0"/>
          </a:p>
          <a:p>
            <a:pPr indent="0" marL="0">
              <a:lnSpc>
                <a:spcPct val="112000"/>
              </a:lnSpc>
              <a:buNone/>
            </a:pPr>
            <a:r>
              <a:rPr lang="en-US" sz="1200" dirty="0">
                <a:solidFill>
                  <a:srgbClr val="09090B"/>
                </a:solidFill>
                <a:latin typeface="Arial" pitchFamily="34" charset="0"/>
                <a:ea typeface="Arial" pitchFamily="34" charset="-122"/>
                <a:cs typeface="Arial" pitchFamily="34" charset="-120"/>
              </a:rPr>
              <a:t>Inductivo y deductivo</a:t>
            </a:r>
            <a:endParaRPr lang="en-US" sz="1250" dirty="0"/>
          </a:p>
        </p:txBody>
      </p:sp>
      <p:sp>
        <p:nvSpPr>
          <p:cNvPr id="8" name="Shape 6"/>
          <p:cNvSpPr/>
          <p:nvPr/>
        </p:nvSpPr>
        <p:spPr>
          <a:xfrm>
            <a:off x="5303520" y="1554480"/>
            <a:ext cx="6309360" cy="2148840"/>
          </a:xfrm>
          <a:prstGeom prst="roundRect">
            <a:avLst>
              <a:gd name="adj" fmla="val 2979"/>
            </a:avLst>
          </a:prstGeom>
          <a:solidFill>
            <a:srgbClr val="E9F3F9"/>
          </a:solidFill>
          <a:ln w="12700">
            <a:solidFill>
              <a:srgbClr val="0B6D9D"/>
            </a:solidFill>
            <a:prstDash val="solid"/>
          </a:ln>
        </p:spPr>
      </p:sp>
      <p:sp>
        <p:nvSpPr>
          <p:cNvPr id="9" name="Text 7"/>
          <p:cNvSpPr/>
          <p:nvPr/>
        </p:nvSpPr>
        <p:spPr>
          <a:xfrm>
            <a:off x="5504688" y="1700784"/>
            <a:ext cx="5907024" cy="201168"/>
          </a:xfrm>
          <a:prstGeom prst="rect">
            <a:avLst/>
          </a:prstGeom>
          <a:noFill/>
          <a:ln/>
        </p:spPr>
        <p:txBody>
          <a:bodyPr wrap="square" lIns="0" tIns="0" rIns="0" bIns="0" rtlCol="0" anchor="ctr"/>
          <a:lstStyle/>
          <a:p>
            <a:pPr indent="0" marL="0">
              <a:buNone/>
            </a:pPr>
            <a:r>
              <a:rPr lang="en-US" sz="900" b="1" spc="120" kern="0" dirty="0">
                <a:solidFill>
                  <a:srgbClr val="0B6D9D"/>
                </a:solidFill>
                <a:latin typeface="Arial" pitchFamily="34" charset="0"/>
                <a:ea typeface="Arial" pitchFamily="34" charset="-122"/>
                <a:cs typeface="Arial" pitchFamily="34" charset="-120"/>
              </a:rPr>
              <a:t>INFORMANTES CLAVE · POBLACIÓN: 2 PERSONAS</a:t>
            </a:r>
            <a:endParaRPr lang="en-US" sz="900" dirty="0"/>
          </a:p>
        </p:txBody>
      </p:sp>
      <p:sp>
        <p:nvSpPr>
          <p:cNvPr id="10" name="Text 8"/>
          <p:cNvSpPr/>
          <p:nvPr/>
        </p:nvSpPr>
        <p:spPr>
          <a:xfrm>
            <a:off x="5504688" y="1947672"/>
            <a:ext cx="5907024" cy="1627632"/>
          </a:xfrm>
          <a:prstGeom prst="rect">
            <a:avLst/>
          </a:prstGeom>
          <a:noFill/>
          <a:ln/>
        </p:spPr>
        <p:txBody>
          <a:bodyPr wrap="square" lIns="0" tIns="0" rIns="0" bIns="0" rtlCol="0" anchor="t"/>
          <a:lstStyle/>
          <a:p>
            <a:pPr indent="0" marL="0">
              <a:lnSpc>
                <a:spcPct val="112000"/>
              </a:lnSpc>
              <a:buNone/>
            </a:pPr>
            <a:r>
              <a:rPr lang="en-US" sz="900" b="1" spc="100" kern="0" dirty="0">
                <a:solidFill>
                  <a:srgbClr val="6C6C75"/>
                </a:solidFill>
                <a:latin typeface="Arial" pitchFamily="34" charset="0"/>
                <a:ea typeface="Arial" pitchFamily="34" charset="-122"/>
                <a:cs typeface="Arial" pitchFamily="34" charset="-120"/>
              </a:rPr>
              <a:t>ENTREVISTA SEMIESTRUCTURADA</a:t>
            </a:r>
            <a:endParaRPr lang="en-US" sz="1250" dirty="0"/>
          </a:p>
          <a:p>
            <a:pPr indent="0" marL="0">
              <a:lnSpc>
                <a:spcPct val="112000"/>
              </a:lnSpc>
              <a:buNone/>
            </a:pPr>
            <a:r>
              <a:rPr lang="en-US" sz="1200" dirty="0">
                <a:solidFill>
                  <a:srgbClr val="09090B"/>
                </a:solidFill>
                <a:latin typeface="Arial" pitchFamily="34" charset="0"/>
                <a:ea typeface="Arial" pitchFamily="34" charset="-122"/>
                <a:cs typeface="Arial" pitchFamily="34" charset="-120"/>
              </a:rPr>
              <a:t>Funcionaria que ejecuta materialmente el trámite · 12 preguntas · Anexo A</a:t>
            </a:r>
            <a:endParaRPr lang="en-US" sz="1250" dirty="0"/>
          </a:p>
          <a:p>
            <a:pPr indent="0" marL="0">
              <a:lnSpc>
                <a:spcPct val="112000"/>
              </a:lnSpc>
              <a:buNone/>
            </a:pPr>
            <a:r>
              <a:rPr lang="en-US" sz="500" dirty="0">
                <a:solidFill>
                  <a:srgbClr val="09090B"/>
                </a:solidFill>
                <a:latin typeface="Arial" pitchFamily="34" charset="0"/>
                <a:ea typeface="Arial" pitchFamily="34" charset="-122"/>
                <a:cs typeface="Arial" pitchFamily="34" charset="-120"/>
              </a:rPr>
              <a:t> </a:t>
            </a:r>
            <a:endParaRPr lang="en-US" sz="1250" dirty="0"/>
          </a:p>
          <a:p>
            <a:pPr indent="0" marL="0">
              <a:lnSpc>
                <a:spcPct val="112000"/>
              </a:lnSpc>
              <a:buNone/>
            </a:pPr>
            <a:r>
              <a:rPr lang="en-US" sz="900" b="1" spc="100" kern="0" dirty="0">
                <a:solidFill>
                  <a:srgbClr val="6C6C75"/>
                </a:solidFill>
                <a:latin typeface="Arial" pitchFamily="34" charset="0"/>
                <a:ea typeface="Arial" pitchFamily="34" charset="-122"/>
                <a:cs typeface="Arial" pitchFamily="34" charset="-120"/>
              </a:rPr>
              <a:t>CUESTIONARIO AUTOADMINISTRADO</a:t>
            </a:r>
            <a:endParaRPr lang="en-US" sz="1250" dirty="0"/>
          </a:p>
          <a:p>
            <a:pPr indent="0" marL="0">
              <a:lnSpc>
                <a:spcPct val="112000"/>
              </a:lnSpc>
              <a:buNone/>
            </a:pPr>
            <a:r>
              <a:rPr lang="en-US" sz="1200" dirty="0">
                <a:solidFill>
                  <a:srgbClr val="09090B"/>
                </a:solidFill>
                <a:latin typeface="Arial" pitchFamily="34" charset="0"/>
                <a:ea typeface="Arial" pitchFamily="34" charset="-122"/>
                <a:cs typeface="Arial" pitchFamily="34" charset="-120"/>
              </a:rPr>
              <a:t>Docente responsable del proceso de prácticas · Anexo J</a:t>
            </a:r>
            <a:endParaRPr lang="en-US" sz="1250" dirty="0"/>
          </a:p>
        </p:txBody>
      </p:sp>
      <p:sp>
        <p:nvSpPr>
          <p:cNvPr id="11" name="Shape 9"/>
          <p:cNvSpPr/>
          <p:nvPr/>
        </p:nvSpPr>
        <p:spPr>
          <a:xfrm>
            <a:off x="5303520" y="3886200"/>
            <a:ext cx="3017520" cy="2240280"/>
          </a:xfrm>
          <a:prstGeom prst="roundRect">
            <a:avLst>
              <a:gd name="adj" fmla="val 2857"/>
            </a:avLst>
          </a:prstGeom>
          <a:solidFill>
            <a:srgbClr val="F7F7F8"/>
          </a:solidFill>
          <a:ln w="12700">
            <a:solidFill>
              <a:srgbClr val="E4E4E7"/>
            </a:solidFill>
            <a:prstDash val="solid"/>
          </a:ln>
        </p:spPr>
      </p:sp>
      <p:sp>
        <p:nvSpPr>
          <p:cNvPr id="12" name="Text 10"/>
          <p:cNvSpPr/>
          <p:nvPr/>
        </p:nvSpPr>
        <p:spPr>
          <a:xfrm>
            <a:off x="5504688" y="4032504"/>
            <a:ext cx="2615184" cy="201168"/>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FUENTES PRIMARIAS</a:t>
            </a:r>
            <a:endParaRPr lang="en-US" sz="900" dirty="0"/>
          </a:p>
        </p:txBody>
      </p:sp>
      <p:sp>
        <p:nvSpPr>
          <p:cNvPr id="13" name="Text 11"/>
          <p:cNvSpPr/>
          <p:nvPr/>
        </p:nvSpPr>
        <p:spPr>
          <a:xfrm>
            <a:off x="5504688" y="4279392"/>
            <a:ext cx="2615184" cy="1719072"/>
          </a:xfrm>
          <a:prstGeom prst="rect">
            <a:avLst/>
          </a:prstGeom>
          <a:noFill/>
          <a:ln/>
        </p:spPr>
        <p:txBody>
          <a:bodyPr wrap="square" lIns="0" tIns="0" rIns="0" bIns="0" rtlCol="0" anchor="t"/>
          <a:lstStyle/>
          <a:p>
            <a:pPr indent="0" marL="0">
              <a:lnSpc>
                <a:spcPct val="112000"/>
              </a:lnSpc>
              <a:buNone/>
            </a:pPr>
            <a:r>
              <a:rPr lang="en-US" sz="1150" dirty="0">
                <a:solidFill>
                  <a:srgbClr val="09090B"/>
                </a:solidFill>
                <a:latin typeface="Arial" pitchFamily="34" charset="0"/>
                <a:ea typeface="Arial" pitchFamily="34" charset="-122"/>
                <a:cs typeface="Arial" pitchFamily="34" charset="-120"/>
              </a:rPr>
              <a:t>Entrevistas al personal a cargo</a:t>
            </a:r>
            <a:endParaRPr lang="en-US" sz="1150" dirty="0"/>
          </a:p>
          <a:p>
            <a:pPr indent="0" marL="0">
              <a:lnSpc>
                <a:spcPct val="112000"/>
              </a:lnSpc>
              <a:buNone/>
            </a:pPr>
            <a:r>
              <a:rPr lang="en-US" sz="1150" dirty="0">
                <a:solidFill>
                  <a:srgbClr val="09090B"/>
                </a:solidFill>
                <a:latin typeface="Arial" pitchFamily="34" charset="0"/>
                <a:ea typeface="Arial" pitchFamily="34" charset="-122"/>
                <a:cs typeface="Arial" pitchFamily="34" charset="-120"/>
              </a:rPr>
              <a:t>Registros institucionales de emisión</a:t>
            </a:r>
            <a:endParaRPr lang="en-US" sz="1150" dirty="0"/>
          </a:p>
          <a:p>
            <a:pPr indent="0" marL="0">
              <a:lnSpc>
                <a:spcPct val="112000"/>
              </a:lnSpc>
              <a:buNone/>
            </a:pPr>
            <a:r>
              <a:rPr lang="en-US" sz="1150" dirty="0">
                <a:solidFill>
                  <a:srgbClr val="09090B"/>
                </a:solidFill>
                <a:latin typeface="Arial" pitchFamily="34" charset="0"/>
                <a:ea typeface="Arial" pitchFamily="34" charset="-122"/>
                <a:cs typeface="Arial" pitchFamily="34" charset="-120"/>
              </a:rPr>
              <a:t>Formatos oficiales vigentes</a:t>
            </a:r>
            <a:endParaRPr lang="en-US" sz="1150" dirty="0"/>
          </a:p>
        </p:txBody>
      </p:sp>
      <p:sp>
        <p:nvSpPr>
          <p:cNvPr id="14" name="Shape 12"/>
          <p:cNvSpPr/>
          <p:nvPr/>
        </p:nvSpPr>
        <p:spPr>
          <a:xfrm>
            <a:off x="8595360" y="3886200"/>
            <a:ext cx="3017520" cy="2240280"/>
          </a:xfrm>
          <a:prstGeom prst="roundRect">
            <a:avLst>
              <a:gd name="adj" fmla="val 2857"/>
            </a:avLst>
          </a:prstGeom>
          <a:solidFill>
            <a:srgbClr val="F7F7F8"/>
          </a:solidFill>
          <a:ln w="12700">
            <a:solidFill>
              <a:srgbClr val="E4E4E7"/>
            </a:solidFill>
            <a:prstDash val="solid"/>
          </a:ln>
        </p:spPr>
      </p:sp>
      <p:sp>
        <p:nvSpPr>
          <p:cNvPr id="15" name="Text 13"/>
          <p:cNvSpPr/>
          <p:nvPr/>
        </p:nvSpPr>
        <p:spPr>
          <a:xfrm>
            <a:off x="8796528" y="4032504"/>
            <a:ext cx="2615184" cy="201168"/>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FUENTES SECUNDARIAS</a:t>
            </a:r>
            <a:endParaRPr lang="en-US" sz="900" dirty="0"/>
          </a:p>
        </p:txBody>
      </p:sp>
      <p:sp>
        <p:nvSpPr>
          <p:cNvPr id="16" name="Text 14"/>
          <p:cNvSpPr/>
          <p:nvPr/>
        </p:nvSpPr>
        <p:spPr>
          <a:xfrm>
            <a:off x="8796528" y="4279392"/>
            <a:ext cx="2615184" cy="1719072"/>
          </a:xfrm>
          <a:prstGeom prst="rect">
            <a:avLst/>
          </a:prstGeom>
          <a:noFill/>
          <a:ln/>
        </p:spPr>
        <p:txBody>
          <a:bodyPr wrap="square" lIns="0" tIns="0" rIns="0" bIns="0" rtlCol="0" anchor="t"/>
          <a:lstStyle/>
          <a:p>
            <a:pPr indent="0" marL="0">
              <a:lnSpc>
                <a:spcPct val="112000"/>
              </a:lnSpc>
              <a:buNone/>
            </a:pPr>
            <a:r>
              <a:rPr lang="en-US" sz="1150" dirty="0">
                <a:solidFill>
                  <a:srgbClr val="09090B"/>
                </a:solidFill>
                <a:latin typeface="Arial" pitchFamily="34" charset="0"/>
                <a:ea typeface="Arial" pitchFamily="34" charset="-122"/>
                <a:cs typeface="Arial" pitchFamily="34" charset="-120"/>
              </a:rPr>
              <a:t>Normativa PAP-01</a:t>
            </a:r>
            <a:endParaRPr lang="en-US" sz="1150" dirty="0"/>
          </a:p>
          <a:p>
            <a:pPr indent="0" marL="0">
              <a:lnSpc>
                <a:spcPct val="112000"/>
              </a:lnSpc>
              <a:buNone/>
            </a:pPr>
            <a:r>
              <a:rPr lang="en-US" sz="1150" dirty="0">
                <a:solidFill>
                  <a:srgbClr val="09090B"/>
                </a:solidFill>
                <a:latin typeface="Arial" pitchFamily="34" charset="0"/>
                <a:ea typeface="Arial" pitchFamily="34" charset="-122"/>
                <a:cs typeface="Arial" pitchFamily="34" charset="-120"/>
              </a:rPr>
              <a:t>Trabajos de titulación y artículos</a:t>
            </a:r>
            <a:endParaRPr lang="en-US" sz="1150" dirty="0"/>
          </a:p>
          <a:p>
            <a:pPr indent="0" marL="0">
              <a:lnSpc>
                <a:spcPct val="112000"/>
              </a:lnSpc>
              <a:buNone/>
            </a:pPr>
            <a:r>
              <a:rPr lang="en-US" sz="1150" dirty="0">
                <a:solidFill>
                  <a:srgbClr val="09090B"/>
                </a:solidFill>
                <a:latin typeface="Arial" pitchFamily="34" charset="0"/>
                <a:ea typeface="Arial" pitchFamily="34" charset="-122"/>
                <a:cs typeface="Arial" pitchFamily="34" charset="-120"/>
              </a:rPr>
              <a:t>Literatura especializada</a:t>
            </a:r>
            <a:pPr indent="0" marL="0">
              <a:lnSpc>
                <a:spcPct val="112000"/>
              </a:lnSpc>
              <a:buNone/>
            </a:pPr>
            <a:r>
              <a:rPr lang="en-US" sz="600" dirty="0">
                <a:solidFill>
                  <a:srgbClr val="09090B"/>
                </a:solidFill>
                <a:latin typeface="Arial" pitchFamily="34" charset="0"/>
                <a:ea typeface="Arial" pitchFamily="34" charset="-122"/>
                <a:cs typeface="Arial" pitchFamily="34" charset="-120"/>
              </a:rPr>
              <a:t>
</a:t>
            </a:r>
            <a:endParaRPr lang="en-US" sz="1150" dirty="0"/>
          </a:p>
          <a:p>
            <a:pPr indent="0" marL="0">
              <a:lnSpc>
                <a:spcPct val="112000"/>
              </a:lnSpc>
              <a:buNone/>
            </a:pPr>
            <a:r>
              <a:rPr lang="en-US" sz="1300" b="1" dirty="0">
                <a:solidFill>
                  <a:srgbClr val="2563EB"/>
                </a:solidFill>
                <a:latin typeface="Arial" pitchFamily="34" charset="0"/>
                <a:ea typeface="Arial" pitchFamily="34" charset="-122"/>
                <a:cs typeface="Arial" pitchFamily="34" charset="-120"/>
              </a:rPr>
              <a:t>56 referencias bibliográficas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19456"/>
          </a:xfrm>
          <a:prstGeom prst="rect">
            <a:avLst/>
          </a:prstGeom>
          <a:noFill/>
          <a:ln/>
        </p:spPr>
        <p:txBody>
          <a:bodyPr wrap="square" lIns="0" tIns="0" rIns="0" bIns="0" rtlCol="0" anchor="ctr"/>
          <a:lstStyle/>
          <a:p>
            <a:pPr indent="0" marL="0">
              <a:buNone/>
            </a:pPr>
            <a:r>
              <a:rPr lang="en-US" sz="1000" b="1" spc="140" kern="0" dirty="0">
                <a:solidFill>
                  <a:srgbClr val="2563EB"/>
                </a:solidFill>
                <a:latin typeface="Arial" pitchFamily="34" charset="0"/>
                <a:ea typeface="Arial" pitchFamily="34" charset="-122"/>
                <a:cs typeface="Arial" pitchFamily="34" charset="-120"/>
              </a:rPr>
              <a:t>CAPÍTULO III · RESULTADOS</a:t>
            </a:r>
            <a:endParaRPr lang="en-US" sz="1000" dirty="0"/>
          </a:p>
        </p:txBody>
      </p:sp>
      <p:sp>
        <p:nvSpPr>
          <p:cNvPr id="3" name="Text 1"/>
          <p:cNvSpPr/>
          <p:nvPr/>
        </p:nvSpPr>
        <p:spPr>
          <a:xfrm>
            <a:off x="548640" y="640080"/>
            <a:ext cx="11064240" cy="566928"/>
          </a:xfrm>
          <a:prstGeom prst="rect">
            <a:avLst/>
          </a:prstGeom>
          <a:noFill/>
          <a:ln/>
        </p:spPr>
        <p:txBody>
          <a:bodyPr wrap="square" lIns="0" tIns="0" rIns="0" bIns="0" rtlCol="0" anchor="t"/>
          <a:lstStyle/>
          <a:p>
            <a:pPr indent="0" marL="0">
              <a:buNone/>
            </a:pPr>
            <a:r>
              <a:rPr lang="en-US" sz="3000" b="1" dirty="0">
                <a:solidFill>
                  <a:srgbClr val="09090B"/>
                </a:solidFill>
                <a:latin typeface="Arial" pitchFamily="34" charset="0"/>
                <a:ea typeface="Arial" pitchFamily="34" charset="-122"/>
                <a:cs typeface="Arial" pitchFamily="34" charset="-120"/>
              </a:rPr>
              <a:t>Lo que reveló la entrevista</a:t>
            </a:r>
            <a:endParaRPr lang="en-US" sz="3000" dirty="0"/>
          </a:p>
        </p:txBody>
      </p:sp>
      <p:sp>
        <p:nvSpPr>
          <p:cNvPr id="4" name="Text 2"/>
          <p:cNvSpPr/>
          <p:nvPr/>
        </p:nvSpPr>
        <p:spPr>
          <a:xfrm>
            <a:off x="11064240" y="6510528"/>
            <a:ext cx="548640" cy="256032"/>
          </a:xfrm>
          <a:prstGeom prst="rect">
            <a:avLst/>
          </a:prstGeom>
          <a:noFill/>
          <a:ln/>
        </p:spPr>
        <p:txBody>
          <a:bodyPr wrap="square" lIns="0" tIns="0" rIns="0" bIns="0" rtlCol="0" anchor="ctr"/>
          <a:lstStyle/>
          <a:p>
            <a:pPr algn="r" indent="0" marL="0">
              <a:buNone/>
            </a:pPr>
            <a:r>
              <a:rPr lang="en-US" sz="1000" dirty="0">
                <a:solidFill>
                  <a:srgbClr val="6C6C75"/>
                </a:solidFill>
                <a:latin typeface="Arial" pitchFamily="34" charset="0"/>
                <a:ea typeface="Arial" pitchFamily="34" charset="-122"/>
                <a:cs typeface="Arial" pitchFamily="34" charset="-120"/>
              </a:rPr>
              <a:t>8</a:t>
            </a:r>
            <a:endParaRPr lang="en-US" sz="1000" dirty="0"/>
          </a:p>
        </p:txBody>
      </p:sp>
      <p:sp>
        <p:nvSpPr>
          <p:cNvPr id="5" name="Shape 3"/>
          <p:cNvSpPr/>
          <p:nvPr/>
        </p:nvSpPr>
        <p:spPr>
          <a:xfrm>
            <a:off x="548640" y="1481328"/>
            <a:ext cx="11064240" cy="960120"/>
          </a:xfrm>
          <a:prstGeom prst="roundRect">
            <a:avLst>
              <a:gd name="adj" fmla="val 6667"/>
            </a:avLst>
          </a:prstGeom>
          <a:solidFill>
            <a:srgbClr val="E9F3F9"/>
          </a:solidFill>
          <a:ln w="12700">
            <a:solidFill>
              <a:srgbClr val="0B6D9D"/>
            </a:solidFill>
            <a:prstDash val="solid"/>
          </a:ln>
        </p:spPr>
      </p:sp>
      <p:sp>
        <p:nvSpPr>
          <p:cNvPr id="6" name="Text 4"/>
          <p:cNvSpPr/>
          <p:nvPr/>
        </p:nvSpPr>
        <p:spPr>
          <a:xfrm>
            <a:off x="749808" y="1627632"/>
            <a:ext cx="10661904" cy="685800"/>
          </a:xfrm>
          <a:prstGeom prst="rect">
            <a:avLst/>
          </a:prstGeom>
          <a:noFill/>
          <a:ln/>
        </p:spPr>
        <p:txBody>
          <a:bodyPr wrap="square" lIns="0" tIns="0" rIns="0" bIns="0" rtlCol="0" anchor="ctr"/>
          <a:lstStyle/>
          <a:p>
            <a:pPr indent="0" marL="0">
              <a:lnSpc>
                <a:spcPct val="112000"/>
              </a:lnSpc>
              <a:buNone/>
            </a:pPr>
            <a:r>
              <a:rPr lang="en-US" sz="1700" i="1" dirty="0">
                <a:solidFill>
                  <a:srgbClr val="09090B"/>
                </a:solidFill>
                <a:latin typeface="Arial" pitchFamily="34" charset="0"/>
                <a:ea typeface="Arial" pitchFamily="34" charset="-122"/>
                <a:cs typeface="Arial" pitchFamily="34" charset="-120"/>
              </a:rPr>
              <a:t>«El problema no es hacer uno; el problema es el final del semestre.»</a:t>
            </a:r>
            <a:endParaRPr lang="en-US" sz="1250" dirty="0"/>
          </a:p>
        </p:txBody>
      </p:sp>
      <p:sp>
        <p:nvSpPr>
          <p:cNvPr id="7" name="Shape 5"/>
          <p:cNvSpPr/>
          <p:nvPr/>
        </p:nvSpPr>
        <p:spPr>
          <a:xfrm>
            <a:off x="548640" y="2697480"/>
            <a:ext cx="5394960" cy="3154680"/>
          </a:xfrm>
          <a:prstGeom prst="roundRect">
            <a:avLst>
              <a:gd name="adj" fmla="val 2029"/>
            </a:avLst>
          </a:prstGeom>
          <a:solidFill>
            <a:srgbClr val="F7F7F8"/>
          </a:solidFill>
          <a:ln w="12700">
            <a:solidFill>
              <a:srgbClr val="E4E4E7"/>
            </a:solidFill>
            <a:prstDash val="solid"/>
          </a:ln>
        </p:spPr>
      </p:sp>
      <p:sp>
        <p:nvSpPr>
          <p:cNvPr id="8" name="Text 6"/>
          <p:cNvSpPr/>
          <p:nvPr/>
        </p:nvSpPr>
        <p:spPr>
          <a:xfrm>
            <a:off x="749808" y="2843784"/>
            <a:ext cx="4992624" cy="201168"/>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TRES HALLAZGOS</a:t>
            </a:r>
            <a:endParaRPr lang="en-US" sz="900" dirty="0"/>
          </a:p>
        </p:txBody>
      </p:sp>
      <p:sp>
        <p:nvSpPr>
          <p:cNvPr id="9" name="Text 7"/>
          <p:cNvSpPr/>
          <p:nvPr/>
        </p:nvSpPr>
        <p:spPr>
          <a:xfrm>
            <a:off x="749808" y="3090672"/>
            <a:ext cx="4992624" cy="2633472"/>
          </a:xfrm>
          <a:prstGeom prst="rect">
            <a:avLst/>
          </a:prstGeom>
          <a:noFill/>
          <a:ln/>
        </p:spPr>
        <p:txBody>
          <a:bodyPr wrap="square" lIns="0" tIns="0" rIns="0" bIns="0" rtlCol="0" anchor="t"/>
          <a:lstStyle/>
          <a:p>
            <a:pPr indent="0" marL="0">
              <a:lnSpc>
                <a:spcPct val="112000"/>
              </a:lnSpc>
              <a:buNone/>
            </a:pPr>
            <a:r>
              <a:rPr lang="en-US" sz="900" b="1" spc="100" kern="0" dirty="0">
                <a:solidFill>
                  <a:srgbClr val="6C6C75"/>
                </a:solidFill>
                <a:latin typeface="Arial" pitchFamily="34" charset="0"/>
                <a:ea typeface="Arial" pitchFamily="34" charset="-122"/>
                <a:cs typeface="Arial" pitchFamily="34" charset="-120"/>
              </a:rPr>
              <a:t>TIEMPO</a:t>
            </a:r>
            <a:endParaRPr lang="en-US" sz="1250" dirty="0"/>
          </a:p>
          <a:p>
            <a:pPr indent="0" marL="0">
              <a:lnSpc>
                <a:spcPct val="112000"/>
              </a:lnSpc>
              <a:buNone/>
            </a:pPr>
            <a:r>
              <a:rPr lang="en-US" sz="1200" dirty="0">
                <a:solidFill>
                  <a:srgbClr val="09090B"/>
                </a:solidFill>
                <a:latin typeface="Arial" pitchFamily="34" charset="0"/>
                <a:ea typeface="Arial" pitchFamily="34" charset="-122"/>
                <a:cs typeface="Arial" pitchFamily="34" charset="-120"/>
              </a:rPr>
              <a:t>El trámite consume un tiempo desproporcionado a su complejidad.</a:t>
            </a:r>
            <a:endParaRPr lang="en-US" sz="1250" dirty="0"/>
          </a:p>
          <a:p>
            <a:pPr indent="0" marL="0">
              <a:lnSpc>
                <a:spcPct val="112000"/>
              </a:lnSpc>
              <a:buNone/>
            </a:pPr>
            <a:r>
              <a:rPr lang="en-US" sz="500" dirty="0">
                <a:solidFill>
                  <a:srgbClr val="09090B"/>
                </a:solidFill>
                <a:latin typeface="Arial" pitchFamily="34" charset="0"/>
                <a:ea typeface="Arial" pitchFamily="34" charset="-122"/>
                <a:cs typeface="Arial" pitchFamily="34" charset="-120"/>
              </a:rPr>
              <a:t> </a:t>
            </a:r>
            <a:endParaRPr lang="en-US" sz="1250" dirty="0"/>
          </a:p>
          <a:p>
            <a:pPr indent="0" marL="0">
              <a:lnSpc>
                <a:spcPct val="112000"/>
              </a:lnSpc>
              <a:buNone/>
            </a:pPr>
            <a:r>
              <a:rPr lang="en-US" sz="900" b="1" spc="100" kern="0" dirty="0">
                <a:solidFill>
                  <a:srgbClr val="6C6C75"/>
                </a:solidFill>
                <a:latin typeface="Arial" pitchFamily="34" charset="0"/>
                <a:ea typeface="Arial" pitchFamily="34" charset="-122"/>
                <a:cs typeface="Arial" pitchFamily="34" charset="-120"/>
              </a:rPr>
              <a:t>FIABILIDAD</a:t>
            </a:r>
            <a:endParaRPr lang="en-US" sz="1250" dirty="0"/>
          </a:p>
          <a:p>
            <a:pPr indent="0" marL="0">
              <a:lnSpc>
                <a:spcPct val="112000"/>
              </a:lnSpc>
              <a:buNone/>
            </a:pPr>
            <a:r>
              <a:rPr lang="en-US" sz="1200" dirty="0">
                <a:solidFill>
                  <a:srgbClr val="09090B"/>
                </a:solidFill>
                <a:latin typeface="Arial" pitchFamily="34" charset="0"/>
                <a:ea typeface="Arial" pitchFamily="34" charset="-122"/>
                <a:cs typeface="Arial" pitchFamily="34" charset="-120"/>
              </a:rPr>
              <a:t>Al reutilizar un certificado anterior como base, queda el nombre del estudiante previo; se detecta cuando ya está firmado.</a:t>
            </a:r>
            <a:endParaRPr lang="en-US" sz="1250" dirty="0"/>
          </a:p>
          <a:p>
            <a:pPr indent="0" marL="0">
              <a:lnSpc>
                <a:spcPct val="112000"/>
              </a:lnSpc>
              <a:buNone/>
            </a:pPr>
            <a:r>
              <a:rPr lang="en-US" sz="500" dirty="0">
                <a:solidFill>
                  <a:srgbClr val="09090B"/>
                </a:solidFill>
                <a:latin typeface="Arial" pitchFamily="34" charset="0"/>
                <a:ea typeface="Arial" pitchFamily="34" charset="-122"/>
                <a:cs typeface="Arial" pitchFamily="34" charset="-120"/>
              </a:rPr>
              <a:t> </a:t>
            </a:r>
            <a:endParaRPr lang="en-US" sz="1250" dirty="0"/>
          </a:p>
          <a:p>
            <a:pPr indent="0" marL="0">
              <a:lnSpc>
                <a:spcPct val="112000"/>
              </a:lnSpc>
              <a:buNone/>
            </a:pPr>
            <a:r>
              <a:rPr lang="en-US" sz="900" b="1" spc="100" kern="0" dirty="0">
                <a:solidFill>
                  <a:srgbClr val="6C6C75"/>
                </a:solidFill>
                <a:latin typeface="Arial" pitchFamily="34" charset="0"/>
                <a:ea typeface="Arial" pitchFamily="34" charset="-122"/>
                <a:cs typeface="Arial" pitchFamily="34" charset="-120"/>
              </a:rPr>
              <a:t>PRESERVACIÓN</a:t>
            </a:r>
            <a:endParaRPr lang="en-US" sz="1250" dirty="0"/>
          </a:p>
          <a:p>
            <a:pPr indent="0" marL="0">
              <a:lnSpc>
                <a:spcPct val="112000"/>
              </a:lnSpc>
              <a:buNone/>
            </a:pPr>
            <a:r>
              <a:rPr lang="en-US" sz="1200" dirty="0">
                <a:solidFill>
                  <a:srgbClr val="09090B"/>
                </a:solidFill>
                <a:latin typeface="Arial" pitchFamily="34" charset="0"/>
                <a:ea typeface="Arial" pitchFamily="34" charset="-122"/>
                <a:cs typeface="Arial" pitchFamily="34" charset="-120"/>
              </a:rPr>
              <a:t>Carpetas, impresos y nube, sin criterio común: no hay repositorio único.</a:t>
            </a:r>
            <a:endParaRPr lang="en-US" sz="1250" dirty="0"/>
          </a:p>
        </p:txBody>
      </p:sp>
      <p:sp>
        <p:nvSpPr>
          <p:cNvPr id="10" name="Shape 8"/>
          <p:cNvSpPr/>
          <p:nvPr/>
        </p:nvSpPr>
        <p:spPr>
          <a:xfrm>
            <a:off x="6217920" y="2697480"/>
            <a:ext cx="5394960" cy="3154680"/>
          </a:xfrm>
          <a:prstGeom prst="roundRect">
            <a:avLst>
              <a:gd name="adj" fmla="val 2029"/>
            </a:avLst>
          </a:prstGeom>
          <a:solidFill>
            <a:srgbClr val="F7F7F8"/>
          </a:solidFill>
          <a:ln w="12700">
            <a:solidFill>
              <a:srgbClr val="E4E4E7"/>
            </a:solidFill>
            <a:prstDash val="solid"/>
          </a:ln>
        </p:spPr>
      </p:sp>
      <p:sp>
        <p:nvSpPr>
          <p:cNvPr id="11" name="Text 9"/>
          <p:cNvSpPr/>
          <p:nvPr/>
        </p:nvSpPr>
        <p:spPr>
          <a:xfrm>
            <a:off x="6419088" y="2843784"/>
            <a:ext cx="4992624" cy="201168"/>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CUATRO REQUISITOS DERIVADOS</a:t>
            </a:r>
            <a:endParaRPr lang="en-US" sz="900" dirty="0"/>
          </a:p>
        </p:txBody>
      </p:sp>
      <p:sp>
        <p:nvSpPr>
          <p:cNvPr id="12" name="Text 10"/>
          <p:cNvSpPr/>
          <p:nvPr/>
        </p:nvSpPr>
        <p:spPr>
          <a:xfrm>
            <a:off x="6419088" y="3090672"/>
            <a:ext cx="4992624" cy="2633472"/>
          </a:xfrm>
          <a:prstGeom prst="rect">
            <a:avLst/>
          </a:prstGeom>
          <a:noFill/>
          <a:ln/>
        </p:spPr>
        <p:txBody>
          <a:bodyPr wrap="square" lIns="0" tIns="0" rIns="0" bIns="0" rtlCol="0" anchor="t"/>
          <a:lstStyle/>
          <a:p>
            <a:pPr indent="0" marL="0">
              <a:lnSpc>
                <a:spcPct val="112000"/>
              </a:lnSpc>
              <a:buNone/>
            </a:pPr>
            <a:r>
              <a:rPr lang="en-US" sz="1200" dirty="0">
                <a:solidFill>
                  <a:srgbClr val="09090B"/>
                </a:solidFill>
                <a:latin typeface="Arial" pitchFamily="34" charset="0"/>
                <a:ea typeface="Arial" pitchFamily="34" charset="-122"/>
                <a:cs typeface="Arial" pitchFamily="34" charset="-120"/>
              </a:rPr>
              <a:t>1.  Llenado automático de plantillas desde datos ya almacenados</a:t>
            </a:r>
            <a:endParaRPr lang="en-US" sz="1200" dirty="0"/>
          </a:p>
          <a:p>
            <a:pPr indent="0" marL="0">
              <a:lnSpc>
                <a:spcPct val="112000"/>
              </a:lnSpc>
              <a:buNone/>
            </a:pPr>
            <a:r>
              <a:rPr lang="en-US" sz="1200" dirty="0">
                <a:solidFill>
                  <a:srgbClr val="09090B"/>
                </a:solidFill>
                <a:latin typeface="Arial" pitchFamily="34" charset="0"/>
                <a:ea typeface="Arial" pitchFamily="34" charset="-122"/>
                <a:cs typeface="Arial" pitchFamily="34" charset="-120"/>
              </a:rPr>
              <a:t>2.  Entrega en Word y en PDF, cada formato para un uso distinto</a:t>
            </a:r>
            <a:endParaRPr lang="en-US" sz="1200" dirty="0"/>
          </a:p>
          <a:p>
            <a:pPr indent="0" marL="0">
              <a:lnSpc>
                <a:spcPct val="112000"/>
              </a:lnSpc>
              <a:buNone/>
            </a:pPr>
            <a:r>
              <a:rPr lang="en-US" sz="1200" dirty="0">
                <a:solidFill>
                  <a:srgbClr val="09090B"/>
                </a:solidFill>
                <a:latin typeface="Arial" pitchFamily="34" charset="0"/>
                <a:ea typeface="Arial" pitchFamily="34" charset="-122"/>
                <a:cs typeface="Arial" pitchFamily="34" charset="-120"/>
              </a:rPr>
              <a:t>3.  Circuito de firma que respete el orden entre autoridades</a:t>
            </a:r>
            <a:endParaRPr lang="en-US" sz="1200" dirty="0"/>
          </a:p>
          <a:p>
            <a:pPr indent="0" marL="0">
              <a:lnSpc>
                <a:spcPct val="112000"/>
              </a:lnSpc>
              <a:buNone/>
            </a:pPr>
            <a:r>
              <a:rPr lang="en-US" sz="1200" dirty="0">
                <a:solidFill>
                  <a:srgbClr val="09090B"/>
                </a:solidFill>
                <a:latin typeface="Arial" pitchFamily="34" charset="0"/>
                <a:ea typeface="Arial" pitchFamily="34" charset="-122"/>
                <a:cs typeface="Arial" pitchFamily="34" charset="-120"/>
              </a:rPr>
              <a:t>4.  Accesos delimitados por rol: el decano solo requiere firmar</a:t>
            </a:r>
            <a:endParaRPr lang="en-US" sz="1200" dirty="0"/>
          </a:p>
        </p:txBody>
      </p:sp>
      <p:sp>
        <p:nvSpPr>
          <p:cNvPr id="13" name="Text 11"/>
          <p:cNvSpPr/>
          <p:nvPr/>
        </p:nvSpPr>
        <p:spPr>
          <a:xfrm>
            <a:off x="548640" y="6035040"/>
            <a:ext cx="11064240" cy="274320"/>
          </a:xfrm>
          <a:prstGeom prst="rect">
            <a:avLst/>
          </a:prstGeom>
          <a:noFill/>
          <a:ln/>
        </p:spPr>
        <p:txBody>
          <a:bodyPr wrap="square" lIns="0" tIns="0" rIns="0" bIns="0" rtlCol="0" anchor="ctr"/>
          <a:lstStyle/>
          <a:p>
            <a:pPr indent="0" marL="0">
              <a:buNone/>
            </a:pPr>
            <a:r>
              <a:rPr lang="en-US" sz="1200" b="1" dirty="0">
                <a:solidFill>
                  <a:srgbClr val="2563EB"/>
                </a:solidFill>
                <a:latin typeface="Arial" pitchFamily="34" charset="0"/>
                <a:ea typeface="Arial" pitchFamily="34" charset="-122"/>
                <a:cs typeface="Arial" pitchFamily="34" charset="-120"/>
              </a:rPr>
              <a:t>El origen del error no está en el descuido, sino en el método.</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19456"/>
          </a:xfrm>
          <a:prstGeom prst="rect">
            <a:avLst/>
          </a:prstGeom>
          <a:noFill/>
          <a:ln/>
        </p:spPr>
        <p:txBody>
          <a:bodyPr wrap="square" lIns="0" tIns="0" rIns="0" bIns="0" rtlCol="0" anchor="ctr"/>
          <a:lstStyle/>
          <a:p>
            <a:pPr indent="0" marL="0">
              <a:buNone/>
            </a:pPr>
            <a:r>
              <a:rPr lang="en-US" sz="1000" b="1" spc="140" kern="0" dirty="0">
                <a:solidFill>
                  <a:srgbClr val="2563EB"/>
                </a:solidFill>
                <a:latin typeface="Arial" pitchFamily="34" charset="0"/>
                <a:ea typeface="Arial" pitchFamily="34" charset="-122"/>
                <a:cs typeface="Arial" pitchFamily="34" charset="-120"/>
              </a:rPr>
              <a:t>CAPÍTULO III · RESULTADOS</a:t>
            </a:r>
            <a:endParaRPr lang="en-US" sz="1000" dirty="0"/>
          </a:p>
        </p:txBody>
      </p:sp>
      <p:sp>
        <p:nvSpPr>
          <p:cNvPr id="3" name="Text 1"/>
          <p:cNvSpPr/>
          <p:nvPr/>
        </p:nvSpPr>
        <p:spPr>
          <a:xfrm>
            <a:off x="548640" y="640080"/>
            <a:ext cx="11064240" cy="566928"/>
          </a:xfrm>
          <a:prstGeom prst="rect">
            <a:avLst/>
          </a:prstGeom>
          <a:noFill/>
          <a:ln/>
        </p:spPr>
        <p:txBody>
          <a:bodyPr wrap="square" lIns="0" tIns="0" rIns="0" bIns="0" rtlCol="0" anchor="t"/>
          <a:lstStyle/>
          <a:p>
            <a:pPr indent="0" marL="0">
              <a:buNone/>
            </a:pPr>
            <a:r>
              <a:rPr lang="en-US" sz="3000" b="1" dirty="0">
                <a:solidFill>
                  <a:srgbClr val="09090B"/>
                </a:solidFill>
                <a:latin typeface="Arial" pitchFamily="34" charset="0"/>
                <a:ea typeface="Arial" pitchFamily="34" charset="-122"/>
                <a:cs typeface="Arial" pitchFamily="34" charset="-120"/>
              </a:rPr>
              <a:t>El cuestionario, contrastado con la entrevista</a:t>
            </a:r>
            <a:endParaRPr lang="en-US" sz="3000" dirty="0"/>
          </a:p>
        </p:txBody>
      </p:sp>
      <p:sp>
        <p:nvSpPr>
          <p:cNvPr id="4" name="Text 2"/>
          <p:cNvSpPr/>
          <p:nvPr/>
        </p:nvSpPr>
        <p:spPr>
          <a:xfrm>
            <a:off x="11064240" y="6510528"/>
            <a:ext cx="548640" cy="256032"/>
          </a:xfrm>
          <a:prstGeom prst="rect">
            <a:avLst/>
          </a:prstGeom>
          <a:noFill/>
          <a:ln/>
        </p:spPr>
        <p:txBody>
          <a:bodyPr wrap="square" lIns="0" tIns="0" rIns="0" bIns="0" rtlCol="0" anchor="ctr"/>
          <a:lstStyle/>
          <a:p>
            <a:pPr algn="r" indent="0" marL="0">
              <a:buNone/>
            </a:pPr>
            <a:r>
              <a:rPr lang="en-US" sz="1000" dirty="0">
                <a:solidFill>
                  <a:srgbClr val="6C6C75"/>
                </a:solidFill>
                <a:latin typeface="Arial" pitchFamily="34" charset="0"/>
                <a:ea typeface="Arial" pitchFamily="34" charset="-122"/>
                <a:cs typeface="Arial" pitchFamily="34" charset="-120"/>
              </a:rPr>
              <a:t>9</a:t>
            </a:r>
            <a:endParaRPr lang="en-US" sz="1000" dirty="0"/>
          </a:p>
        </p:txBody>
      </p:sp>
      <p:sp>
        <p:nvSpPr>
          <p:cNvPr id="5" name="Shape 3"/>
          <p:cNvSpPr/>
          <p:nvPr/>
        </p:nvSpPr>
        <p:spPr>
          <a:xfrm>
            <a:off x="548640" y="1600200"/>
            <a:ext cx="5394960" cy="3611880"/>
          </a:xfrm>
          <a:prstGeom prst="roundRect">
            <a:avLst>
              <a:gd name="adj" fmla="val 1772"/>
            </a:avLst>
          </a:prstGeom>
          <a:solidFill>
            <a:srgbClr val="EAF3EE"/>
          </a:solidFill>
          <a:ln w="12700">
            <a:solidFill>
              <a:srgbClr val="157E3C"/>
            </a:solidFill>
            <a:prstDash val="solid"/>
          </a:ln>
        </p:spPr>
      </p:sp>
      <p:sp>
        <p:nvSpPr>
          <p:cNvPr id="6" name="Text 4"/>
          <p:cNvSpPr/>
          <p:nvPr/>
        </p:nvSpPr>
        <p:spPr>
          <a:xfrm>
            <a:off x="749808" y="1746504"/>
            <a:ext cx="4992624" cy="201168"/>
          </a:xfrm>
          <a:prstGeom prst="rect">
            <a:avLst/>
          </a:prstGeom>
          <a:noFill/>
          <a:ln/>
        </p:spPr>
        <p:txBody>
          <a:bodyPr wrap="square" lIns="0" tIns="0" rIns="0" bIns="0" rtlCol="0" anchor="ctr"/>
          <a:lstStyle/>
          <a:p>
            <a:pPr indent="0" marL="0">
              <a:buNone/>
            </a:pPr>
            <a:r>
              <a:rPr lang="en-US" sz="900" b="1" spc="120" kern="0" dirty="0">
                <a:solidFill>
                  <a:srgbClr val="157E3C"/>
                </a:solidFill>
                <a:latin typeface="Arial" pitchFamily="34" charset="0"/>
                <a:ea typeface="Arial" pitchFamily="34" charset="-122"/>
                <a:cs typeface="Arial" pitchFamily="34" charset="-120"/>
              </a:rPr>
              <a:t>COINCIDEN LAS DOS FUENTES</a:t>
            </a:r>
            <a:endParaRPr lang="en-US" sz="900" dirty="0"/>
          </a:p>
        </p:txBody>
      </p:sp>
      <p:sp>
        <p:nvSpPr>
          <p:cNvPr id="7" name="Text 5"/>
          <p:cNvSpPr/>
          <p:nvPr/>
        </p:nvSpPr>
        <p:spPr>
          <a:xfrm>
            <a:off x="749808" y="1993392"/>
            <a:ext cx="4992624" cy="3090672"/>
          </a:xfrm>
          <a:prstGeom prst="rect">
            <a:avLst/>
          </a:prstGeom>
          <a:noFill/>
          <a:ln/>
        </p:spPr>
        <p:txBody>
          <a:bodyPr wrap="square" lIns="0" tIns="0" rIns="0" bIns="0" rtlCol="0" anchor="t"/>
          <a:lstStyle/>
          <a:p>
            <a:pPr indent="0" marL="0">
              <a:lnSpc>
                <a:spcPct val="112000"/>
              </a:lnSpc>
              <a:buNone/>
            </a:pPr>
            <a:r>
              <a:rPr lang="en-US" sz="1200" dirty="0">
                <a:solidFill>
                  <a:srgbClr val="09090B"/>
                </a:solidFill>
                <a:latin typeface="Arial" pitchFamily="34" charset="0"/>
                <a:ea typeface="Arial" pitchFamily="34" charset="-122"/>
                <a:cs typeface="Arial" pitchFamily="34" charset="-120"/>
              </a:rPr>
              <a:t>Los errores se originan en los criterios con que se llenan los formularios</a:t>
            </a:r>
            <a:endParaRPr lang="en-US" sz="1200" dirty="0"/>
          </a:p>
          <a:p>
            <a:pPr indent="0" marL="0">
              <a:lnSpc>
                <a:spcPct val="112000"/>
              </a:lnSpc>
              <a:buNone/>
            </a:pPr>
            <a:r>
              <a:rPr lang="en-US" sz="1200" dirty="0">
                <a:solidFill>
                  <a:srgbClr val="09090B"/>
                </a:solidFill>
                <a:latin typeface="Arial" pitchFamily="34" charset="0"/>
                <a:ea typeface="Arial" pitchFamily="34" charset="-122"/>
                <a:cs typeface="Arial" pitchFamily="34" charset="-120"/>
              </a:rPr>
              <a:t>Los documentos físicos pueden perderse</a:t>
            </a:r>
            <a:endParaRPr lang="en-US" sz="1200" dirty="0"/>
          </a:p>
          <a:p>
            <a:pPr indent="0" marL="0">
              <a:lnSpc>
                <a:spcPct val="112000"/>
              </a:lnSpc>
              <a:buNone/>
            </a:pPr>
            <a:r>
              <a:rPr lang="en-US" sz="1200" dirty="0">
                <a:solidFill>
                  <a:srgbClr val="09090B"/>
                </a:solidFill>
                <a:latin typeface="Arial" pitchFamily="34" charset="0"/>
                <a:ea typeface="Arial" pitchFamily="34" charset="-122"/>
                <a:cs typeface="Arial" pitchFamily="34" charset="-120"/>
              </a:rPr>
              <a:t>La coordinación de la firma de las autoridades es un trámite manual</a:t>
            </a:r>
            <a:endParaRPr lang="en-US" sz="1200" dirty="0"/>
          </a:p>
        </p:txBody>
      </p:sp>
      <p:sp>
        <p:nvSpPr>
          <p:cNvPr id="8" name="Shape 6"/>
          <p:cNvSpPr/>
          <p:nvPr/>
        </p:nvSpPr>
        <p:spPr>
          <a:xfrm>
            <a:off x="6217920" y="1600200"/>
            <a:ext cx="5394960" cy="3611880"/>
          </a:xfrm>
          <a:prstGeom prst="roundRect">
            <a:avLst>
              <a:gd name="adj" fmla="val 1772"/>
            </a:avLst>
          </a:prstGeom>
          <a:solidFill>
            <a:srgbClr val="FBF2E6"/>
          </a:solidFill>
          <a:ln w="12700">
            <a:solidFill>
              <a:srgbClr val="A95C04"/>
            </a:solidFill>
            <a:prstDash val="solid"/>
          </a:ln>
        </p:spPr>
      </p:sp>
      <p:sp>
        <p:nvSpPr>
          <p:cNvPr id="9" name="Text 7"/>
          <p:cNvSpPr/>
          <p:nvPr/>
        </p:nvSpPr>
        <p:spPr>
          <a:xfrm>
            <a:off x="6419088" y="1746504"/>
            <a:ext cx="4992624" cy="201168"/>
          </a:xfrm>
          <a:prstGeom prst="rect">
            <a:avLst/>
          </a:prstGeom>
          <a:noFill/>
          <a:ln/>
        </p:spPr>
        <p:txBody>
          <a:bodyPr wrap="square" lIns="0" tIns="0" rIns="0" bIns="0" rtlCol="0" anchor="ctr"/>
          <a:lstStyle/>
          <a:p>
            <a:pPr indent="0" marL="0">
              <a:buNone/>
            </a:pPr>
            <a:r>
              <a:rPr lang="en-US" sz="900" b="1" spc="120" kern="0" dirty="0">
                <a:solidFill>
                  <a:srgbClr val="A95C04"/>
                </a:solidFill>
                <a:latin typeface="Arial" pitchFamily="34" charset="0"/>
                <a:ea typeface="Arial" pitchFamily="34" charset="-122"/>
                <a:cs typeface="Arial" pitchFamily="34" charset="-120"/>
              </a:rPr>
              <a:t>DIVERGE</a:t>
            </a:r>
            <a:endParaRPr lang="en-US" sz="900" dirty="0"/>
          </a:p>
        </p:txBody>
      </p:sp>
      <p:sp>
        <p:nvSpPr>
          <p:cNvPr id="10" name="Text 8"/>
          <p:cNvSpPr/>
          <p:nvPr/>
        </p:nvSpPr>
        <p:spPr>
          <a:xfrm>
            <a:off x="6419088" y="1993392"/>
            <a:ext cx="4992624" cy="3090672"/>
          </a:xfrm>
          <a:prstGeom prst="rect">
            <a:avLst/>
          </a:prstGeom>
          <a:noFill/>
          <a:ln/>
        </p:spPr>
        <p:txBody>
          <a:bodyPr wrap="square" lIns="0" tIns="0" rIns="0" bIns="0" rtlCol="0" anchor="t"/>
          <a:lstStyle/>
          <a:p>
            <a:pPr indent="0" marL="0">
              <a:lnSpc>
                <a:spcPct val="112000"/>
              </a:lnSpc>
              <a:buNone/>
            </a:pPr>
            <a:r>
              <a:rPr lang="en-US" sz="1200" dirty="0">
                <a:solidFill>
                  <a:srgbClr val="09090B"/>
                </a:solidFill>
                <a:latin typeface="Arial" pitchFamily="34" charset="0"/>
                <a:ea typeface="Arial" pitchFamily="34" charset="-122"/>
                <a:cs typeface="Arial" pitchFamily="34" charset="-120"/>
              </a:rPr>
              <a:t>Mencionó PDF y Excel como formatos de salida. El sistema emite en PDF y Word, y reserva la hoja de cálculo para la importación de datos.
</a:t>
            </a:r>
            <a:endParaRPr lang="en-US" sz="1200" dirty="0"/>
          </a:p>
          <a:p>
            <a:pPr indent="0" marL="0">
              <a:lnSpc>
                <a:spcPct val="112000"/>
              </a:lnSpc>
              <a:buNone/>
            </a:pPr>
            <a:r>
              <a:rPr lang="en-US" sz="1200" dirty="0">
                <a:solidFill>
                  <a:srgbClr val="6C6C75"/>
                </a:solidFill>
                <a:latin typeface="Arial" pitchFamily="34" charset="0"/>
                <a:ea typeface="Arial" pitchFamily="34" charset="-122"/>
                <a:cs typeface="Arial" pitchFamily="34" charset="-120"/>
              </a:rPr>
              <a:t>Se atribuye a que el instrumento no permitió precisar el uso previsto de cada formato.
</a:t>
            </a:r>
            <a:endParaRPr lang="en-US" sz="1200" dirty="0"/>
          </a:p>
          <a:p>
            <a:pPr indent="0" marL="0">
              <a:lnSpc>
                <a:spcPct val="112000"/>
              </a:lnSpc>
              <a:buNone/>
            </a:pPr>
            <a:r>
              <a:rPr lang="en-US" sz="1200" b="1" dirty="0">
                <a:solidFill>
                  <a:srgbClr val="09090B"/>
                </a:solidFill>
                <a:latin typeface="Arial" pitchFamily="34" charset="0"/>
                <a:ea typeface="Arial" pitchFamily="34" charset="-122"/>
                <a:cs typeface="Arial" pitchFamily="34" charset="-120"/>
              </a:rPr>
              <a:t>Queda registrada como divergencia, no corregida.</a:t>
            </a:r>
            <a:endParaRPr lang="en-US" sz="1200" dirty="0"/>
          </a:p>
        </p:txBody>
      </p:sp>
      <p:sp>
        <p:nvSpPr>
          <p:cNvPr id="11" name="Shape 9"/>
          <p:cNvSpPr/>
          <p:nvPr/>
        </p:nvSpPr>
        <p:spPr>
          <a:xfrm>
            <a:off x="548640" y="5394960"/>
            <a:ext cx="11064240" cy="914400"/>
          </a:xfrm>
          <a:prstGeom prst="roundRect">
            <a:avLst>
              <a:gd name="adj" fmla="val 7000"/>
            </a:avLst>
          </a:prstGeom>
          <a:solidFill>
            <a:srgbClr val="F7F7F8"/>
          </a:solidFill>
          <a:ln w="12700">
            <a:solidFill>
              <a:srgbClr val="E4E4E7"/>
            </a:solidFill>
            <a:prstDash val="solid"/>
          </a:ln>
        </p:spPr>
      </p:sp>
      <p:sp>
        <p:nvSpPr>
          <p:cNvPr id="12" name="Text 10"/>
          <p:cNvSpPr/>
          <p:nvPr/>
        </p:nvSpPr>
        <p:spPr>
          <a:xfrm>
            <a:off x="749808" y="5541264"/>
            <a:ext cx="10661904" cy="201168"/>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APORTE PROPIO DEL CUESTIONARIO</a:t>
            </a:r>
            <a:endParaRPr lang="en-US" sz="900" dirty="0"/>
          </a:p>
        </p:txBody>
      </p:sp>
      <p:sp>
        <p:nvSpPr>
          <p:cNvPr id="13" name="Text 11"/>
          <p:cNvSpPr/>
          <p:nvPr/>
        </p:nvSpPr>
        <p:spPr>
          <a:xfrm>
            <a:off x="749808" y="5788152"/>
            <a:ext cx="10661904" cy="393192"/>
          </a:xfrm>
          <a:prstGeom prst="rect">
            <a:avLst/>
          </a:prstGeom>
          <a:noFill/>
          <a:ln/>
        </p:spPr>
        <p:txBody>
          <a:bodyPr wrap="square" lIns="0" tIns="0" rIns="0" bIns="0" rtlCol="0" anchor="t"/>
          <a:lstStyle/>
          <a:p>
            <a:pPr indent="0" marL="0">
              <a:lnSpc>
                <a:spcPct val="112000"/>
              </a:lnSpc>
              <a:buNone/>
            </a:pPr>
            <a:r>
              <a:rPr lang="en-US" sz="1150" dirty="0">
                <a:solidFill>
                  <a:srgbClr val="09090B"/>
                </a:solidFill>
                <a:latin typeface="Arial" pitchFamily="34" charset="0"/>
                <a:ea typeface="Arial" pitchFamily="34" charset="-122"/>
                <a:cs typeface="Arial" pitchFamily="34" charset="-120"/>
              </a:rPr>
              <a:t>Ante un documento emitido por error, el sistema debe permitir su corrección y mantenerlo editable. Ese criterio sustenta el mecanismo de anulación con motivo y la emisión de los oficios también en Word.</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19456"/>
          </a:xfrm>
          <a:prstGeom prst="rect">
            <a:avLst/>
          </a:prstGeom>
          <a:noFill/>
          <a:ln/>
        </p:spPr>
        <p:txBody>
          <a:bodyPr wrap="square" lIns="0" tIns="0" rIns="0" bIns="0" rtlCol="0" anchor="ctr"/>
          <a:lstStyle/>
          <a:p>
            <a:pPr indent="0" marL="0">
              <a:buNone/>
            </a:pPr>
            <a:r>
              <a:rPr lang="en-US" sz="1000" b="1" spc="140" kern="0" dirty="0">
                <a:solidFill>
                  <a:srgbClr val="2563EB"/>
                </a:solidFill>
                <a:latin typeface="Arial" pitchFamily="34" charset="0"/>
                <a:ea typeface="Arial" pitchFamily="34" charset="-122"/>
                <a:cs typeface="Arial" pitchFamily="34" charset="-120"/>
              </a:rPr>
              <a:t>CAPÍTULO IV · MARCO PROPOSITIVO</a:t>
            </a:r>
            <a:endParaRPr lang="en-US" sz="1000" dirty="0"/>
          </a:p>
        </p:txBody>
      </p:sp>
      <p:sp>
        <p:nvSpPr>
          <p:cNvPr id="3" name="Text 1"/>
          <p:cNvSpPr/>
          <p:nvPr/>
        </p:nvSpPr>
        <p:spPr>
          <a:xfrm>
            <a:off x="548640" y="640080"/>
            <a:ext cx="11064240" cy="566928"/>
          </a:xfrm>
          <a:prstGeom prst="rect">
            <a:avLst/>
          </a:prstGeom>
          <a:noFill/>
          <a:ln/>
        </p:spPr>
        <p:txBody>
          <a:bodyPr wrap="square" lIns="0" tIns="0" rIns="0" bIns="0" rtlCol="0" anchor="t"/>
          <a:lstStyle/>
          <a:p>
            <a:pPr indent="0" marL="0">
              <a:buNone/>
            </a:pPr>
            <a:r>
              <a:rPr lang="en-US" sz="3000" b="1" dirty="0">
                <a:solidFill>
                  <a:srgbClr val="09090B"/>
                </a:solidFill>
                <a:latin typeface="Arial" pitchFamily="34" charset="0"/>
                <a:ea typeface="Arial" pitchFamily="34" charset="-122"/>
                <a:cs typeface="Arial" pitchFamily="34" charset="-120"/>
              </a:rPr>
              <a:t>Quince requisitos funcionales, siete no funcionales</a:t>
            </a:r>
            <a:endParaRPr lang="en-US" sz="3000" dirty="0"/>
          </a:p>
        </p:txBody>
      </p:sp>
      <p:sp>
        <p:nvSpPr>
          <p:cNvPr id="4" name="Text 2"/>
          <p:cNvSpPr/>
          <p:nvPr/>
        </p:nvSpPr>
        <p:spPr>
          <a:xfrm>
            <a:off x="548640" y="1207008"/>
            <a:ext cx="9692640" cy="274320"/>
          </a:xfrm>
          <a:prstGeom prst="rect">
            <a:avLst/>
          </a:prstGeom>
          <a:noFill/>
          <a:ln/>
        </p:spPr>
        <p:txBody>
          <a:bodyPr wrap="square" lIns="0" tIns="0" rIns="0" bIns="0" rtlCol="0" anchor="ctr"/>
          <a:lstStyle/>
          <a:p>
            <a:pPr indent="0" marL="0">
              <a:buNone/>
            </a:pPr>
            <a:r>
              <a:rPr lang="en-US" sz="1300" dirty="0">
                <a:solidFill>
                  <a:srgbClr val="6C6C75"/>
                </a:solidFill>
                <a:latin typeface="Arial" pitchFamily="34" charset="0"/>
                <a:ea typeface="Arial" pitchFamily="34" charset="-122"/>
                <a:cs typeface="Arial" pitchFamily="34" charset="-120"/>
              </a:rPr>
              <a:t>Cada uno derivado de algo observado en el terreno o de un formato institucional</a:t>
            </a:r>
            <a:endParaRPr lang="en-US" sz="1300" dirty="0"/>
          </a:p>
        </p:txBody>
      </p:sp>
      <p:sp>
        <p:nvSpPr>
          <p:cNvPr id="5" name="Text 3"/>
          <p:cNvSpPr/>
          <p:nvPr/>
        </p:nvSpPr>
        <p:spPr>
          <a:xfrm>
            <a:off x="11064240" y="6510528"/>
            <a:ext cx="548640" cy="256032"/>
          </a:xfrm>
          <a:prstGeom prst="rect">
            <a:avLst/>
          </a:prstGeom>
          <a:noFill/>
          <a:ln/>
        </p:spPr>
        <p:txBody>
          <a:bodyPr wrap="square" lIns="0" tIns="0" rIns="0" bIns="0" rtlCol="0" anchor="ctr"/>
          <a:lstStyle/>
          <a:p>
            <a:pPr algn="r" indent="0" marL="0">
              <a:buNone/>
            </a:pPr>
            <a:r>
              <a:rPr lang="en-US" sz="1000" dirty="0">
                <a:solidFill>
                  <a:srgbClr val="6C6C75"/>
                </a:solidFill>
                <a:latin typeface="Arial" pitchFamily="34" charset="0"/>
                <a:ea typeface="Arial" pitchFamily="34" charset="-122"/>
                <a:cs typeface="Arial" pitchFamily="34" charset="-120"/>
              </a:rPr>
              <a:t>10</a:t>
            </a:r>
            <a:endParaRPr lang="en-US" sz="1000" dirty="0"/>
          </a:p>
        </p:txBody>
      </p:sp>
      <p:sp>
        <p:nvSpPr>
          <p:cNvPr id="6" name="Shape 4"/>
          <p:cNvSpPr/>
          <p:nvPr/>
        </p:nvSpPr>
        <p:spPr>
          <a:xfrm>
            <a:off x="548640" y="1783080"/>
            <a:ext cx="2066544" cy="676656"/>
          </a:xfrm>
          <a:prstGeom prst="roundRect">
            <a:avLst>
              <a:gd name="adj" fmla="val 8108"/>
            </a:avLst>
          </a:prstGeom>
          <a:solidFill>
            <a:srgbClr val="F7F7F8"/>
          </a:solidFill>
          <a:ln w="12700">
            <a:solidFill>
              <a:srgbClr val="E4E4E7"/>
            </a:solidFill>
            <a:prstDash val="solid"/>
          </a:ln>
        </p:spPr>
      </p:sp>
      <p:sp>
        <p:nvSpPr>
          <p:cNvPr id="7" name="Text 5"/>
          <p:cNvSpPr/>
          <p:nvPr/>
        </p:nvSpPr>
        <p:spPr>
          <a:xfrm>
            <a:off x="694944" y="1856232"/>
            <a:ext cx="1828800" cy="182880"/>
          </a:xfrm>
          <a:prstGeom prst="rect">
            <a:avLst/>
          </a:prstGeom>
          <a:noFill/>
          <a:ln/>
        </p:spPr>
        <p:txBody>
          <a:bodyPr wrap="square" lIns="0" tIns="0" rIns="0" bIns="0" rtlCol="0" anchor="ctr"/>
          <a:lstStyle/>
          <a:p>
            <a:pPr indent="0" marL="0">
              <a:buNone/>
            </a:pPr>
            <a:r>
              <a:rPr lang="en-US" sz="900" b="1" spc="80" kern="0" dirty="0">
                <a:solidFill>
                  <a:srgbClr val="2563EB"/>
                </a:solidFill>
                <a:latin typeface="Arial" pitchFamily="34" charset="0"/>
                <a:ea typeface="Arial" pitchFamily="34" charset="-122"/>
                <a:cs typeface="Arial" pitchFamily="34" charset="-120"/>
              </a:rPr>
              <a:t>RF-01</a:t>
            </a:r>
            <a:endParaRPr lang="en-US" sz="900" dirty="0"/>
          </a:p>
        </p:txBody>
      </p:sp>
      <p:sp>
        <p:nvSpPr>
          <p:cNvPr id="8" name="Text 6"/>
          <p:cNvSpPr/>
          <p:nvPr/>
        </p:nvSpPr>
        <p:spPr>
          <a:xfrm>
            <a:off x="694944" y="2066544"/>
            <a:ext cx="1828800" cy="329184"/>
          </a:xfrm>
          <a:prstGeom prst="rect">
            <a:avLst/>
          </a:prstGeom>
          <a:noFill/>
          <a:ln/>
        </p:spPr>
        <p:txBody>
          <a:bodyPr wrap="square" lIns="0" tIns="0" rIns="0" bIns="0" rtlCol="0" anchor="ctr"/>
          <a:lstStyle/>
          <a:p>
            <a:pPr indent="0" marL="0">
              <a:lnSpc>
                <a:spcPct val="100000"/>
              </a:lnSpc>
              <a:buNone/>
            </a:pPr>
            <a:r>
              <a:rPr lang="en-US" sz="1050" dirty="0">
                <a:solidFill>
                  <a:srgbClr val="09090B"/>
                </a:solidFill>
                <a:latin typeface="Arial" pitchFamily="34" charset="0"/>
                <a:ea typeface="Arial" pitchFamily="34" charset="-122"/>
                <a:cs typeface="Arial" pitchFamily="34" charset="-120"/>
              </a:rPr>
              <a:t>Autenticación y roles</a:t>
            </a:r>
            <a:endParaRPr lang="en-US" sz="1050" dirty="0"/>
          </a:p>
        </p:txBody>
      </p:sp>
      <p:sp>
        <p:nvSpPr>
          <p:cNvPr id="9" name="Shape 7"/>
          <p:cNvSpPr/>
          <p:nvPr/>
        </p:nvSpPr>
        <p:spPr>
          <a:xfrm>
            <a:off x="2798064" y="1783080"/>
            <a:ext cx="2066544" cy="676656"/>
          </a:xfrm>
          <a:prstGeom prst="roundRect">
            <a:avLst>
              <a:gd name="adj" fmla="val 8108"/>
            </a:avLst>
          </a:prstGeom>
          <a:solidFill>
            <a:srgbClr val="F7F7F8"/>
          </a:solidFill>
          <a:ln w="12700">
            <a:solidFill>
              <a:srgbClr val="E4E4E7"/>
            </a:solidFill>
            <a:prstDash val="solid"/>
          </a:ln>
        </p:spPr>
      </p:sp>
      <p:sp>
        <p:nvSpPr>
          <p:cNvPr id="10" name="Text 8"/>
          <p:cNvSpPr/>
          <p:nvPr/>
        </p:nvSpPr>
        <p:spPr>
          <a:xfrm>
            <a:off x="2944368" y="1856232"/>
            <a:ext cx="1828800" cy="182880"/>
          </a:xfrm>
          <a:prstGeom prst="rect">
            <a:avLst/>
          </a:prstGeom>
          <a:noFill/>
          <a:ln/>
        </p:spPr>
        <p:txBody>
          <a:bodyPr wrap="square" lIns="0" tIns="0" rIns="0" bIns="0" rtlCol="0" anchor="ctr"/>
          <a:lstStyle/>
          <a:p>
            <a:pPr indent="0" marL="0">
              <a:buNone/>
            </a:pPr>
            <a:r>
              <a:rPr lang="en-US" sz="900" b="1" spc="80" kern="0" dirty="0">
                <a:solidFill>
                  <a:srgbClr val="2563EB"/>
                </a:solidFill>
                <a:latin typeface="Arial" pitchFamily="34" charset="0"/>
                <a:ea typeface="Arial" pitchFamily="34" charset="-122"/>
                <a:cs typeface="Arial" pitchFamily="34" charset="-120"/>
              </a:rPr>
              <a:t>RF-02</a:t>
            </a:r>
            <a:endParaRPr lang="en-US" sz="900" dirty="0"/>
          </a:p>
        </p:txBody>
      </p:sp>
      <p:sp>
        <p:nvSpPr>
          <p:cNvPr id="11" name="Text 9"/>
          <p:cNvSpPr/>
          <p:nvPr/>
        </p:nvSpPr>
        <p:spPr>
          <a:xfrm>
            <a:off x="2944368" y="2066544"/>
            <a:ext cx="1828800" cy="329184"/>
          </a:xfrm>
          <a:prstGeom prst="rect">
            <a:avLst/>
          </a:prstGeom>
          <a:noFill/>
          <a:ln/>
        </p:spPr>
        <p:txBody>
          <a:bodyPr wrap="square" lIns="0" tIns="0" rIns="0" bIns="0" rtlCol="0" anchor="ctr"/>
          <a:lstStyle/>
          <a:p>
            <a:pPr indent="0" marL="0">
              <a:lnSpc>
                <a:spcPct val="100000"/>
              </a:lnSpc>
              <a:buNone/>
            </a:pPr>
            <a:r>
              <a:rPr lang="en-US" sz="1050" dirty="0">
                <a:solidFill>
                  <a:srgbClr val="09090B"/>
                </a:solidFill>
                <a:latin typeface="Arial" pitchFamily="34" charset="0"/>
                <a:ea typeface="Arial" pitchFamily="34" charset="-122"/>
                <a:cs typeface="Arial" pitchFamily="34" charset="-120"/>
              </a:rPr>
              <a:t>Estructura académica</a:t>
            </a:r>
            <a:endParaRPr lang="en-US" sz="1050" dirty="0"/>
          </a:p>
        </p:txBody>
      </p:sp>
      <p:sp>
        <p:nvSpPr>
          <p:cNvPr id="12" name="Shape 10"/>
          <p:cNvSpPr/>
          <p:nvPr/>
        </p:nvSpPr>
        <p:spPr>
          <a:xfrm>
            <a:off x="5047488" y="1783080"/>
            <a:ext cx="2066544" cy="676656"/>
          </a:xfrm>
          <a:prstGeom prst="roundRect">
            <a:avLst>
              <a:gd name="adj" fmla="val 8108"/>
            </a:avLst>
          </a:prstGeom>
          <a:solidFill>
            <a:srgbClr val="F7F7F8"/>
          </a:solidFill>
          <a:ln w="12700">
            <a:solidFill>
              <a:srgbClr val="E4E4E7"/>
            </a:solidFill>
            <a:prstDash val="solid"/>
          </a:ln>
        </p:spPr>
      </p:sp>
      <p:sp>
        <p:nvSpPr>
          <p:cNvPr id="13" name="Text 11"/>
          <p:cNvSpPr/>
          <p:nvPr/>
        </p:nvSpPr>
        <p:spPr>
          <a:xfrm>
            <a:off x="5193792" y="1856232"/>
            <a:ext cx="1828800" cy="182880"/>
          </a:xfrm>
          <a:prstGeom prst="rect">
            <a:avLst/>
          </a:prstGeom>
          <a:noFill/>
          <a:ln/>
        </p:spPr>
        <p:txBody>
          <a:bodyPr wrap="square" lIns="0" tIns="0" rIns="0" bIns="0" rtlCol="0" anchor="ctr"/>
          <a:lstStyle/>
          <a:p>
            <a:pPr indent="0" marL="0">
              <a:buNone/>
            </a:pPr>
            <a:r>
              <a:rPr lang="en-US" sz="900" b="1" spc="80" kern="0" dirty="0">
                <a:solidFill>
                  <a:srgbClr val="2563EB"/>
                </a:solidFill>
                <a:latin typeface="Arial" pitchFamily="34" charset="0"/>
                <a:ea typeface="Arial" pitchFamily="34" charset="-122"/>
                <a:cs typeface="Arial" pitchFamily="34" charset="-120"/>
              </a:rPr>
              <a:t>RF-03</a:t>
            </a:r>
            <a:endParaRPr lang="en-US" sz="900" dirty="0"/>
          </a:p>
        </p:txBody>
      </p:sp>
      <p:sp>
        <p:nvSpPr>
          <p:cNvPr id="14" name="Text 12"/>
          <p:cNvSpPr/>
          <p:nvPr/>
        </p:nvSpPr>
        <p:spPr>
          <a:xfrm>
            <a:off x="5193792" y="2066544"/>
            <a:ext cx="1828800" cy="329184"/>
          </a:xfrm>
          <a:prstGeom prst="rect">
            <a:avLst/>
          </a:prstGeom>
          <a:noFill/>
          <a:ln/>
        </p:spPr>
        <p:txBody>
          <a:bodyPr wrap="square" lIns="0" tIns="0" rIns="0" bIns="0" rtlCol="0" anchor="ctr"/>
          <a:lstStyle/>
          <a:p>
            <a:pPr indent="0" marL="0">
              <a:lnSpc>
                <a:spcPct val="100000"/>
              </a:lnSpc>
              <a:buNone/>
            </a:pPr>
            <a:r>
              <a:rPr lang="en-US" sz="1050" dirty="0">
                <a:solidFill>
                  <a:srgbClr val="09090B"/>
                </a:solidFill>
                <a:latin typeface="Arial" pitchFamily="34" charset="0"/>
                <a:ea typeface="Arial" pitchFamily="34" charset="-122"/>
                <a:cs typeface="Arial" pitchFamily="34" charset="-120"/>
              </a:rPr>
              <a:t>Cuentas de usuario</a:t>
            </a:r>
            <a:endParaRPr lang="en-US" sz="1050" dirty="0"/>
          </a:p>
        </p:txBody>
      </p:sp>
      <p:sp>
        <p:nvSpPr>
          <p:cNvPr id="15" name="Shape 13"/>
          <p:cNvSpPr/>
          <p:nvPr/>
        </p:nvSpPr>
        <p:spPr>
          <a:xfrm>
            <a:off x="7296912" y="1783080"/>
            <a:ext cx="2066544" cy="676656"/>
          </a:xfrm>
          <a:prstGeom prst="roundRect">
            <a:avLst>
              <a:gd name="adj" fmla="val 8108"/>
            </a:avLst>
          </a:prstGeom>
          <a:solidFill>
            <a:srgbClr val="F7F7F8"/>
          </a:solidFill>
          <a:ln w="12700">
            <a:solidFill>
              <a:srgbClr val="E4E4E7"/>
            </a:solidFill>
            <a:prstDash val="solid"/>
          </a:ln>
        </p:spPr>
      </p:sp>
      <p:sp>
        <p:nvSpPr>
          <p:cNvPr id="16" name="Text 14"/>
          <p:cNvSpPr/>
          <p:nvPr/>
        </p:nvSpPr>
        <p:spPr>
          <a:xfrm>
            <a:off x="7443216" y="1856232"/>
            <a:ext cx="1828800" cy="182880"/>
          </a:xfrm>
          <a:prstGeom prst="rect">
            <a:avLst/>
          </a:prstGeom>
          <a:noFill/>
          <a:ln/>
        </p:spPr>
        <p:txBody>
          <a:bodyPr wrap="square" lIns="0" tIns="0" rIns="0" bIns="0" rtlCol="0" anchor="ctr"/>
          <a:lstStyle/>
          <a:p>
            <a:pPr indent="0" marL="0">
              <a:buNone/>
            </a:pPr>
            <a:r>
              <a:rPr lang="en-US" sz="900" b="1" spc="80" kern="0" dirty="0">
                <a:solidFill>
                  <a:srgbClr val="2563EB"/>
                </a:solidFill>
                <a:latin typeface="Arial" pitchFamily="34" charset="0"/>
                <a:ea typeface="Arial" pitchFamily="34" charset="-122"/>
                <a:cs typeface="Arial" pitchFamily="34" charset="-120"/>
              </a:rPr>
              <a:t>RF-04</a:t>
            </a:r>
            <a:endParaRPr lang="en-US" sz="900" dirty="0"/>
          </a:p>
        </p:txBody>
      </p:sp>
      <p:sp>
        <p:nvSpPr>
          <p:cNvPr id="17" name="Text 15"/>
          <p:cNvSpPr/>
          <p:nvPr/>
        </p:nvSpPr>
        <p:spPr>
          <a:xfrm>
            <a:off x="7443216" y="2066544"/>
            <a:ext cx="1828800" cy="329184"/>
          </a:xfrm>
          <a:prstGeom prst="rect">
            <a:avLst/>
          </a:prstGeom>
          <a:noFill/>
          <a:ln/>
        </p:spPr>
        <p:txBody>
          <a:bodyPr wrap="square" lIns="0" tIns="0" rIns="0" bIns="0" rtlCol="0" anchor="ctr"/>
          <a:lstStyle/>
          <a:p>
            <a:pPr indent="0" marL="0">
              <a:lnSpc>
                <a:spcPct val="100000"/>
              </a:lnSpc>
              <a:buNone/>
            </a:pPr>
            <a:r>
              <a:rPr lang="en-US" sz="1050" dirty="0">
                <a:solidFill>
                  <a:srgbClr val="09090B"/>
                </a:solidFill>
                <a:latin typeface="Arial" pitchFamily="34" charset="0"/>
                <a:ea typeface="Arial" pitchFamily="34" charset="-122"/>
                <a:cs typeface="Arial" pitchFamily="34" charset="-120"/>
              </a:rPr>
              <a:t>Estudiantes y empresas</a:t>
            </a:r>
            <a:endParaRPr lang="en-US" sz="1050" dirty="0"/>
          </a:p>
        </p:txBody>
      </p:sp>
      <p:sp>
        <p:nvSpPr>
          <p:cNvPr id="18" name="Shape 16"/>
          <p:cNvSpPr/>
          <p:nvPr/>
        </p:nvSpPr>
        <p:spPr>
          <a:xfrm>
            <a:off x="9546336" y="1783080"/>
            <a:ext cx="2066544" cy="676656"/>
          </a:xfrm>
          <a:prstGeom prst="roundRect">
            <a:avLst>
              <a:gd name="adj" fmla="val 8108"/>
            </a:avLst>
          </a:prstGeom>
          <a:solidFill>
            <a:srgbClr val="F7F7F8"/>
          </a:solidFill>
          <a:ln w="12700">
            <a:solidFill>
              <a:srgbClr val="E4E4E7"/>
            </a:solidFill>
            <a:prstDash val="solid"/>
          </a:ln>
        </p:spPr>
      </p:sp>
      <p:sp>
        <p:nvSpPr>
          <p:cNvPr id="19" name="Text 17"/>
          <p:cNvSpPr/>
          <p:nvPr/>
        </p:nvSpPr>
        <p:spPr>
          <a:xfrm>
            <a:off x="9692640" y="1856232"/>
            <a:ext cx="1828800" cy="182880"/>
          </a:xfrm>
          <a:prstGeom prst="rect">
            <a:avLst/>
          </a:prstGeom>
          <a:noFill/>
          <a:ln/>
        </p:spPr>
        <p:txBody>
          <a:bodyPr wrap="square" lIns="0" tIns="0" rIns="0" bIns="0" rtlCol="0" anchor="ctr"/>
          <a:lstStyle/>
          <a:p>
            <a:pPr indent="0" marL="0">
              <a:buNone/>
            </a:pPr>
            <a:r>
              <a:rPr lang="en-US" sz="900" b="1" spc="80" kern="0" dirty="0">
                <a:solidFill>
                  <a:srgbClr val="2563EB"/>
                </a:solidFill>
                <a:latin typeface="Arial" pitchFamily="34" charset="0"/>
                <a:ea typeface="Arial" pitchFamily="34" charset="-122"/>
                <a:cs typeface="Arial" pitchFamily="34" charset="-120"/>
              </a:rPr>
              <a:t>RF-05</a:t>
            </a:r>
            <a:endParaRPr lang="en-US" sz="900" dirty="0"/>
          </a:p>
        </p:txBody>
      </p:sp>
      <p:sp>
        <p:nvSpPr>
          <p:cNvPr id="20" name="Text 18"/>
          <p:cNvSpPr/>
          <p:nvPr/>
        </p:nvSpPr>
        <p:spPr>
          <a:xfrm>
            <a:off x="9692640" y="2066544"/>
            <a:ext cx="1828800" cy="329184"/>
          </a:xfrm>
          <a:prstGeom prst="rect">
            <a:avLst/>
          </a:prstGeom>
          <a:noFill/>
          <a:ln/>
        </p:spPr>
        <p:txBody>
          <a:bodyPr wrap="square" lIns="0" tIns="0" rIns="0" bIns="0" rtlCol="0" anchor="ctr"/>
          <a:lstStyle/>
          <a:p>
            <a:pPr indent="0" marL="0">
              <a:lnSpc>
                <a:spcPct val="100000"/>
              </a:lnSpc>
              <a:buNone/>
            </a:pPr>
            <a:r>
              <a:rPr lang="en-US" sz="1050" dirty="0">
                <a:solidFill>
                  <a:srgbClr val="09090B"/>
                </a:solidFill>
                <a:latin typeface="Arial" pitchFamily="34" charset="0"/>
                <a:ea typeface="Arial" pitchFamily="34" charset="-122"/>
                <a:cs typeface="Arial" pitchFamily="34" charset="-120"/>
              </a:rPr>
              <a:t>Importación masiva Excel</a:t>
            </a:r>
            <a:endParaRPr lang="en-US" sz="1050" dirty="0"/>
          </a:p>
        </p:txBody>
      </p:sp>
      <p:sp>
        <p:nvSpPr>
          <p:cNvPr id="21" name="Shape 19"/>
          <p:cNvSpPr/>
          <p:nvPr/>
        </p:nvSpPr>
        <p:spPr>
          <a:xfrm>
            <a:off x="548640" y="2569464"/>
            <a:ext cx="2066544" cy="676656"/>
          </a:xfrm>
          <a:prstGeom prst="roundRect">
            <a:avLst>
              <a:gd name="adj" fmla="val 8108"/>
            </a:avLst>
          </a:prstGeom>
          <a:solidFill>
            <a:srgbClr val="F7F7F8"/>
          </a:solidFill>
          <a:ln w="12700">
            <a:solidFill>
              <a:srgbClr val="E4E4E7"/>
            </a:solidFill>
            <a:prstDash val="solid"/>
          </a:ln>
        </p:spPr>
      </p:sp>
      <p:sp>
        <p:nvSpPr>
          <p:cNvPr id="22" name="Text 20"/>
          <p:cNvSpPr/>
          <p:nvPr/>
        </p:nvSpPr>
        <p:spPr>
          <a:xfrm>
            <a:off x="694944" y="2642616"/>
            <a:ext cx="1828800" cy="182880"/>
          </a:xfrm>
          <a:prstGeom prst="rect">
            <a:avLst/>
          </a:prstGeom>
          <a:noFill/>
          <a:ln/>
        </p:spPr>
        <p:txBody>
          <a:bodyPr wrap="square" lIns="0" tIns="0" rIns="0" bIns="0" rtlCol="0" anchor="ctr"/>
          <a:lstStyle/>
          <a:p>
            <a:pPr indent="0" marL="0">
              <a:buNone/>
            </a:pPr>
            <a:r>
              <a:rPr lang="en-US" sz="900" b="1" spc="80" kern="0" dirty="0">
                <a:solidFill>
                  <a:srgbClr val="2563EB"/>
                </a:solidFill>
                <a:latin typeface="Arial" pitchFamily="34" charset="0"/>
                <a:ea typeface="Arial" pitchFamily="34" charset="-122"/>
                <a:cs typeface="Arial" pitchFamily="34" charset="-120"/>
              </a:rPr>
              <a:t>RF-06</a:t>
            </a:r>
            <a:endParaRPr lang="en-US" sz="900" dirty="0"/>
          </a:p>
        </p:txBody>
      </p:sp>
      <p:sp>
        <p:nvSpPr>
          <p:cNvPr id="23" name="Text 21"/>
          <p:cNvSpPr/>
          <p:nvPr/>
        </p:nvSpPr>
        <p:spPr>
          <a:xfrm>
            <a:off x="694944" y="2852928"/>
            <a:ext cx="1828800" cy="329184"/>
          </a:xfrm>
          <a:prstGeom prst="rect">
            <a:avLst/>
          </a:prstGeom>
          <a:noFill/>
          <a:ln/>
        </p:spPr>
        <p:txBody>
          <a:bodyPr wrap="square" lIns="0" tIns="0" rIns="0" bIns="0" rtlCol="0" anchor="ctr"/>
          <a:lstStyle/>
          <a:p>
            <a:pPr indent="0" marL="0">
              <a:lnSpc>
                <a:spcPct val="100000"/>
              </a:lnSpc>
              <a:buNone/>
            </a:pPr>
            <a:r>
              <a:rPr lang="en-US" sz="1050" dirty="0">
                <a:solidFill>
                  <a:srgbClr val="09090B"/>
                </a:solidFill>
                <a:latin typeface="Arial" pitchFamily="34" charset="0"/>
                <a:ea typeface="Arial" pitchFamily="34" charset="-122"/>
                <a:cs typeface="Arial" pitchFamily="34" charset="-120"/>
              </a:rPr>
              <a:t>Seguimiento de prácticas</a:t>
            </a:r>
            <a:endParaRPr lang="en-US" sz="1050" dirty="0"/>
          </a:p>
        </p:txBody>
      </p:sp>
      <p:sp>
        <p:nvSpPr>
          <p:cNvPr id="24" name="Shape 22"/>
          <p:cNvSpPr/>
          <p:nvPr/>
        </p:nvSpPr>
        <p:spPr>
          <a:xfrm>
            <a:off x="2798064" y="2569464"/>
            <a:ext cx="2066544" cy="676656"/>
          </a:xfrm>
          <a:prstGeom prst="roundRect">
            <a:avLst>
              <a:gd name="adj" fmla="val 8108"/>
            </a:avLst>
          </a:prstGeom>
          <a:solidFill>
            <a:srgbClr val="F7F7F8"/>
          </a:solidFill>
          <a:ln w="12700">
            <a:solidFill>
              <a:srgbClr val="E4E4E7"/>
            </a:solidFill>
            <a:prstDash val="solid"/>
          </a:ln>
        </p:spPr>
      </p:sp>
      <p:sp>
        <p:nvSpPr>
          <p:cNvPr id="25" name="Text 23"/>
          <p:cNvSpPr/>
          <p:nvPr/>
        </p:nvSpPr>
        <p:spPr>
          <a:xfrm>
            <a:off x="2944368" y="2642616"/>
            <a:ext cx="1828800" cy="182880"/>
          </a:xfrm>
          <a:prstGeom prst="rect">
            <a:avLst/>
          </a:prstGeom>
          <a:noFill/>
          <a:ln/>
        </p:spPr>
        <p:txBody>
          <a:bodyPr wrap="square" lIns="0" tIns="0" rIns="0" bIns="0" rtlCol="0" anchor="ctr"/>
          <a:lstStyle/>
          <a:p>
            <a:pPr indent="0" marL="0">
              <a:buNone/>
            </a:pPr>
            <a:r>
              <a:rPr lang="en-US" sz="900" b="1" spc="80" kern="0" dirty="0">
                <a:solidFill>
                  <a:srgbClr val="2563EB"/>
                </a:solidFill>
                <a:latin typeface="Arial" pitchFamily="34" charset="0"/>
                <a:ea typeface="Arial" pitchFamily="34" charset="-122"/>
                <a:cs typeface="Arial" pitchFamily="34" charset="-120"/>
              </a:rPr>
              <a:t>RF-07</a:t>
            </a:r>
            <a:endParaRPr lang="en-US" sz="900" dirty="0"/>
          </a:p>
        </p:txBody>
      </p:sp>
      <p:sp>
        <p:nvSpPr>
          <p:cNvPr id="26" name="Text 24"/>
          <p:cNvSpPr/>
          <p:nvPr/>
        </p:nvSpPr>
        <p:spPr>
          <a:xfrm>
            <a:off x="2944368" y="2852928"/>
            <a:ext cx="1828800" cy="329184"/>
          </a:xfrm>
          <a:prstGeom prst="rect">
            <a:avLst/>
          </a:prstGeom>
          <a:noFill/>
          <a:ln/>
        </p:spPr>
        <p:txBody>
          <a:bodyPr wrap="square" lIns="0" tIns="0" rIns="0" bIns="0" rtlCol="0" anchor="ctr"/>
          <a:lstStyle/>
          <a:p>
            <a:pPr indent="0" marL="0">
              <a:lnSpc>
                <a:spcPct val="100000"/>
              </a:lnSpc>
              <a:buNone/>
            </a:pPr>
            <a:r>
              <a:rPr lang="en-US" sz="1050" dirty="0">
                <a:solidFill>
                  <a:srgbClr val="09090B"/>
                </a:solidFill>
                <a:latin typeface="Arial" pitchFamily="34" charset="0"/>
                <a:ea typeface="Arial" pitchFamily="34" charset="-122"/>
                <a:cs typeface="Arial" pitchFamily="34" charset="-120"/>
              </a:rPr>
              <a:t>Plantillas documentales</a:t>
            </a:r>
            <a:endParaRPr lang="en-US" sz="1050" dirty="0"/>
          </a:p>
        </p:txBody>
      </p:sp>
      <p:sp>
        <p:nvSpPr>
          <p:cNvPr id="27" name="Shape 25"/>
          <p:cNvSpPr/>
          <p:nvPr/>
        </p:nvSpPr>
        <p:spPr>
          <a:xfrm>
            <a:off x="5047488" y="2569464"/>
            <a:ext cx="2066544" cy="676656"/>
          </a:xfrm>
          <a:prstGeom prst="roundRect">
            <a:avLst>
              <a:gd name="adj" fmla="val 8108"/>
            </a:avLst>
          </a:prstGeom>
          <a:solidFill>
            <a:srgbClr val="F7F7F8"/>
          </a:solidFill>
          <a:ln w="12700">
            <a:solidFill>
              <a:srgbClr val="E4E4E7"/>
            </a:solidFill>
            <a:prstDash val="solid"/>
          </a:ln>
        </p:spPr>
      </p:sp>
      <p:sp>
        <p:nvSpPr>
          <p:cNvPr id="28" name="Text 26"/>
          <p:cNvSpPr/>
          <p:nvPr/>
        </p:nvSpPr>
        <p:spPr>
          <a:xfrm>
            <a:off x="5193792" y="2642616"/>
            <a:ext cx="1828800" cy="182880"/>
          </a:xfrm>
          <a:prstGeom prst="rect">
            <a:avLst/>
          </a:prstGeom>
          <a:noFill/>
          <a:ln/>
        </p:spPr>
        <p:txBody>
          <a:bodyPr wrap="square" lIns="0" tIns="0" rIns="0" bIns="0" rtlCol="0" anchor="ctr"/>
          <a:lstStyle/>
          <a:p>
            <a:pPr indent="0" marL="0">
              <a:buNone/>
            </a:pPr>
            <a:r>
              <a:rPr lang="en-US" sz="900" b="1" spc="80" kern="0" dirty="0">
                <a:solidFill>
                  <a:srgbClr val="2563EB"/>
                </a:solidFill>
                <a:latin typeface="Arial" pitchFamily="34" charset="0"/>
                <a:ea typeface="Arial" pitchFamily="34" charset="-122"/>
                <a:cs typeface="Arial" pitchFamily="34" charset="-120"/>
              </a:rPr>
              <a:t>RF-08</a:t>
            </a:r>
            <a:endParaRPr lang="en-US" sz="900" dirty="0"/>
          </a:p>
        </p:txBody>
      </p:sp>
      <p:sp>
        <p:nvSpPr>
          <p:cNvPr id="29" name="Text 27"/>
          <p:cNvSpPr/>
          <p:nvPr/>
        </p:nvSpPr>
        <p:spPr>
          <a:xfrm>
            <a:off x="5193792" y="2852928"/>
            <a:ext cx="1828800" cy="329184"/>
          </a:xfrm>
          <a:prstGeom prst="rect">
            <a:avLst/>
          </a:prstGeom>
          <a:noFill/>
          <a:ln/>
        </p:spPr>
        <p:txBody>
          <a:bodyPr wrap="square" lIns="0" tIns="0" rIns="0" bIns="0" rtlCol="0" anchor="ctr"/>
          <a:lstStyle/>
          <a:p>
            <a:pPr indent="0" marL="0">
              <a:lnSpc>
                <a:spcPct val="100000"/>
              </a:lnSpc>
              <a:buNone/>
            </a:pPr>
            <a:r>
              <a:rPr lang="en-US" sz="1050" dirty="0">
                <a:solidFill>
                  <a:srgbClr val="09090B"/>
                </a:solidFill>
                <a:latin typeface="Arial" pitchFamily="34" charset="0"/>
                <a:ea typeface="Arial" pitchFamily="34" charset="-122"/>
                <a:cs typeface="Arial" pitchFamily="34" charset="-120"/>
              </a:rPr>
              <a:t>Generación automática</a:t>
            </a:r>
            <a:endParaRPr lang="en-US" sz="1050" dirty="0"/>
          </a:p>
        </p:txBody>
      </p:sp>
      <p:sp>
        <p:nvSpPr>
          <p:cNvPr id="30" name="Shape 28"/>
          <p:cNvSpPr/>
          <p:nvPr/>
        </p:nvSpPr>
        <p:spPr>
          <a:xfrm>
            <a:off x="7296912" y="2569464"/>
            <a:ext cx="2066544" cy="676656"/>
          </a:xfrm>
          <a:prstGeom prst="roundRect">
            <a:avLst>
              <a:gd name="adj" fmla="val 8108"/>
            </a:avLst>
          </a:prstGeom>
          <a:solidFill>
            <a:srgbClr val="F7F7F8"/>
          </a:solidFill>
          <a:ln w="12700">
            <a:solidFill>
              <a:srgbClr val="E4E4E7"/>
            </a:solidFill>
            <a:prstDash val="solid"/>
          </a:ln>
        </p:spPr>
      </p:sp>
      <p:sp>
        <p:nvSpPr>
          <p:cNvPr id="31" name="Text 29"/>
          <p:cNvSpPr/>
          <p:nvPr/>
        </p:nvSpPr>
        <p:spPr>
          <a:xfrm>
            <a:off x="7443216" y="2642616"/>
            <a:ext cx="1828800" cy="182880"/>
          </a:xfrm>
          <a:prstGeom prst="rect">
            <a:avLst/>
          </a:prstGeom>
          <a:noFill/>
          <a:ln/>
        </p:spPr>
        <p:txBody>
          <a:bodyPr wrap="square" lIns="0" tIns="0" rIns="0" bIns="0" rtlCol="0" anchor="ctr"/>
          <a:lstStyle/>
          <a:p>
            <a:pPr indent="0" marL="0">
              <a:buNone/>
            </a:pPr>
            <a:r>
              <a:rPr lang="en-US" sz="900" b="1" spc="80" kern="0" dirty="0">
                <a:solidFill>
                  <a:srgbClr val="2563EB"/>
                </a:solidFill>
                <a:latin typeface="Arial" pitchFamily="34" charset="0"/>
                <a:ea typeface="Arial" pitchFamily="34" charset="-122"/>
                <a:cs typeface="Arial" pitchFamily="34" charset="-120"/>
              </a:rPr>
              <a:t>RF-09</a:t>
            </a:r>
            <a:endParaRPr lang="en-US" sz="900" dirty="0"/>
          </a:p>
        </p:txBody>
      </p:sp>
      <p:sp>
        <p:nvSpPr>
          <p:cNvPr id="32" name="Text 30"/>
          <p:cNvSpPr/>
          <p:nvPr/>
        </p:nvSpPr>
        <p:spPr>
          <a:xfrm>
            <a:off x="7443216" y="2852928"/>
            <a:ext cx="1828800" cy="329184"/>
          </a:xfrm>
          <a:prstGeom prst="rect">
            <a:avLst/>
          </a:prstGeom>
          <a:noFill/>
          <a:ln/>
        </p:spPr>
        <p:txBody>
          <a:bodyPr wrap="square" lIns="0" tIns="0" rIns="0" bIns="0" rtlCol="0" anchor="ctr"/>
          <a:lstStyle/>
          <a:p>
            <a:pPr indent="0" marL="0">
              <a:lnSpc>
                <a:spcPct val="100000"/>
              </a:lnSpc>
              <a:buNone/>
            </a:pPr>
            <a:r>
              <a:rPr lang="en-US" sz="1050" dirty="0">
                <a:solidFill>
                  <a:srgbClr val="09090B"/>
                </a:solidFill>
                <a:latin typeface="Arial" pitchFamily="34" charset="0"/>
                <a:ea typeface="Arial" pitchFamily="34" charset="-122"/>
                <a:cs typeface="Arial" pitchFamily="34" charset="-120"/>
              </a:rPr>
              <a:t>Codificación secuencial</a:t>
            </a:r>
            <a:endParaRPr lang="en-US" sz="1050" dirty="0"/>
          </a:p>
        </p:txBody>
      </p:sp>
      <p:sp>
        <p:nvSpPr>
          <p:cNvPr id="33" name="Shape 31"/>
          <p:cNvSpPr/>
          <p:nvPr/>
        </p:nvSpPr>
        <p:spPr>
          <a:xfrm>
            <a:off x="9546336" y="2569464"/>
            <a:ext cx="2066544" cy="676656"/>
          </a:xfrm>
          <a:prstGeom prst="roundRect">
            <a:avLst>
              <a:gd name="adj" fmla="val 8108"/>
            </a:avLst>
          </a:prstGeom>
          <a:solidFill>
            <a:srgbClr val="F7F7F8"/>
          </a:solidFill>
          <a:ln w="12700">
            <a:solidFill>
              <a:srgbClr val="E4E4E7"/>
            </a:solidFill>
            <a:prstDash val="solid"/>
          </a:ln>
        </p:spPr>
      </p:sp>
      <p:sp>
        <p:nvSpPr>
          <p:cNvPr id="34" name="Text 32"/>
          <p:cNvSpPr/>
          <p:nvPr/>
        </p:nvSpPr>
        <p:spPr>
          <a:xfrm>
            <a:off x="9692640" y="2642616"/>
            <a:ext cx="1828800" cy="182880"/>
          </a:xfrm>
          <a:prstGeom prst="rect">
            <a:avLst/>
          </a:prstGeom>
          <a:noFill/>
          <a:ln/>
        </p:spPr>
        <p:txBody>
          <a:bodyPr wrap="square" lIns="0" tIns="0" rIns="0" bIns="0" rtlCol="0" anchor="ctr"/>
          <a:lstStyle/>
          <a:p>
            <a:pPr indent="0" marL="0">
              <a:buNone/>
            </a:pPr>
            <a:r>
              <a:rPr lang="en-US" sz="900" b="1" spc="80" kern="0" dirty="0">
                <a:solidFill>
                  <a:srgbClr val="2563EB"/>
                </a:solidFill>
                <a:latin typeface="Arial" pitchFamily="34" charset="0"/>
                <a:ea typeface="Arial" pitchFamily="34" charset="-122"/>
                <a:cs typeface="Arial" pitchFamily="34" charset="-120"/>
              </a:rPr>
              <a:t>RF-10</a:t>
            </a:r>
            <a:endParaRPr lang="en-US" sz="900" dirty="0"/>
          </a:p>
        </p:txBody>
      </p:sp>
      <p:sp>
        <p:nvSpPr>
          <p:cNvPr id="35" name="Text 33"/>
          <p:cNvSpPr/>
          <p:nvPr/>
        </p:nvSpPr>
        <p:spPr>
          <a:xfrm>
            <a:off x="9692640" y="2852928"/>
            <a:ext cx="1828800" cy="329184"/>
          </a:xfrm>
          <a:prstGeom prst="rect">
            <a:avLst/>
          </a:prstGeom>
          <a:noFill/>
          <a:ln/>
        </p:spPr>
        <p:txBody>
          <a:bodyPr wrap="square" lIns="0" tIns="0" rIns="0" bIns="0" rtlCol="0" anchor="ctr"/>
          <a:lstStyle/>
          <a:p>
            <a:pPr indent="0" marL="0">
              <a:lnSpc>
                <a:spcPct val="100000"/>
              </a:lnSpc>
              <a:buNone/>
            </a:pPr>
            <a:r>
              <a:rPr lang="en-US" sz="1050" dirty="0">
                <a:solidFill>
                  <a:srgbClr val="09090B"/>
                </a:solidFill>
                <a:latin typeface="Arial" pitchFamily="34" charset="0"/>
                <a:ea typeface="Arial" pitchFamily="34" charset="-122"/>
                <a:cs typeface="Arial" pitchFamily="34" charset="-120"/>
              </a:rPr>
              <a:t>Lotes de firma</a:t>
            </a:r>
            <a:endParaRPr lang="en-US" sz="1050" dirty="0"/>
          </a:p>
        </p:txBody>
      </p:sp>
      <p:sp>
        <p:nvSpPr>
          <p:cNvPr id="36" name="Shape 34"/>
          <p:cNvSpPr/>
          <p:nvPr/>
        </p:nvSpPr>
        <p:spPr>
          <a:xfrm>
            <a:off x="548640" y="3355848"/>
            <a:ext cx="2066544" cy="676656"/>
          </a:xfrm>
          <a:prstGeom prst="roundRect">
            <a:avLst>
              <a:gd name="adj" fmla="val 8108"/>
            </a:avLst>
          </a:prstGeom>
          <a:solidFill>
            <a:srgbClr val="F7F7F8"/>
          </a:solidFill>
          <a:ln w="12700">
            <a:solidFill>
              <a:srgbClr val="E4E4E7"/>
            </a:solidFill>
            <a:prstDash val="solid"/>
          </a:ln>
        </p:spPr>
      </p:sp>
      <p:sp>
        <p:nvSpPr>
          <p:cNvPr id="37" name="Text 35"/>
          <p:cNvSpPr/>
          <p:nvPr/>
        </p:nvSpPr>
        <p:spPr>
          <a:xfrm>
            <a:off x="694944" y="3429000"/>
            <a:ext cx="1828800" cy="182880"/>
          </a:xfrm>
          <a:prstGeom prst="rect">
            <a:avLst/>
          </a:prstGeom>
          <a:noFill/>
          <a:ln/>
        </p:spPr>
        <p:txBody>
          <a:bodyPr wrap="square" lIns="0" tIns="0" rIns="0" bIns="0" rtlCol="0" anchor="ctr"/>
          <a:lstStyle/>
          <a:p>
            <a:pPr indent="0" marL="0">
              <a:buNone/>
            </a:pPr>
            <a:r>
              <a:rPr lang="en-US" sz="900" b="1" spc="80" kern="0" dirty="0">
                <a:solidFill>
                  <a:srgbClr val="2563EB"/>
                </a:solidFill>
                <a:latin typeface="Arial" pitchFamily="34" charset="0"/>
                <a:ea typeface="Arial" pitchFamily="34" charset="-122"/>
                <a:cs typeface="Arial" pitchFamily="34" charset="-120"/>
              </a:rPr>
              <a:t>RF-11</a:t>
            </a:r>
            <a:endParaRPr lang="en-US" sz="900" dirty="0"/>
          </a:p>
        </p:txBody>
      </p:sp>
      <p:sp>
        <p:nvSpPr>
          <p:cNvPr id="38" name="Text 36"/>
          <p:cNvSpPr/>
          <p:nvPr/>
        </p:nvSpPr>
        <p:spPr>
          <a:xfrm>
            <a:off x="694944" y="3639312"/>
            <a:ext cx="1828800" cy="329184"/>
          </a:xfrm>
          <a:prstGeom prst="rect">
            <a:avLst/>
          </a:prstGeom>
          <a:noFill/>
          <a:ln/>
        </p:spPr>
        <p:txBody>
          <a:bodyPr wrap="square" lIns="0" tIns="0" rIns="0" bIns="0" rtlCol="0" anchor="ctr"/>
          <a:lstStyle/>
          <a:p>
            <a:pPr indent="0" marL="0">
              <a:lnSpc>
                <a:spcPct val="100000"/>
              </a:lnSpc>
              <a:buNone/>
            </a:pPr>
            <a:r>
              <a:rPr lang="en-US" sz="1050" dirty="0">
                <a:solidFill>
                  <a:srgbClr val="09090B"/>
                </a:solidFill>
                <a:latin typeface="Arial" pitchFamily="34" charset="0"/>
                <a:ea typeface="Arial" pitchFamily="34" charset="-122"/>
                <a:cs typeface="Arial" pitchFamily="34" charset="-120"/>
              </a:rPr>
              <a:t>Firmantes por invitación</a:t>
            </a:r>
            <a:endParaRPr lang="en-US" sz="1050" dirty="0"/>
          </a:p>
        </p:txBody>
      </p:sp>
      <p:sp>
        <p:nvSpPr>
          <p:cNvPr id="39" name="Shape 37"/>
          <p:cNvSpPr/>
          <p:nvPr/>
        </p:nvSpPr>
        <p:spPr>
          <a:xfrm>
            <a:off x="2798064" y="3355848"/>
            <a:ext cx="2066544" cy="676656"/>
          </a:xfrm>
          <a:prstGeom prst="roundRect">
            <a:avLst>
              <a:gd name="adj" fmla="val 8108"/>
            </a:avLst>
          </a:prstGeom>
          <a:solidFill>
            <a:srgbClr val="F7F7F8"/>
          </a:solidFill>
          <a:ln w="12700">
            <a:solidFill>
              <a:srgbClr val="E4E4E7"/>
            </a:solidFill>
            <a:prstDash val="solid"/>
          </a:ln>
        </p:spPr>
      </p:sp>
      <p:sp>
        <p:nvSpPr>
          <p:cNvPr id="40" name="Text 38"/>
          <p:cNvSpPr/>
          <p:nvPr/>
        </p:nvSpPr>
        <p:spPr>
          <a:xfrm>
            <a:off x="2944368" y="3429000"/>
            <a:ext cx="1828800" cy="182880"/>
          </a:xfrm>
          <a:prstGeom prst="rect">
            <a:avLst/>
          </a:prstGeom>
          <a:noFill/>
          <a:ln/>
        </p:spPr>
        <p:txBody>
          <a:bodyPr wrap="square" lIns="0" tIns="0" rIns="0" bIns="0" rtlCol="0" anchor="ctr"/>
          <a:lstStyle/>
          <a:p>
            <a:pPr indent="0" marL="0">
              <a:buNone/>
            </a:pPr>
            <a:r>
              <a:rPr lang="en-US" sz="900" b="1" spc="80" kern="0" dirty="0">
                <a:solidFill>
                  <a:srgbClr val="2563EB"/>
                </a:solidFill>
                <a:latin typeface="Arial" pitchFamily="34" charset="0"/>
                <a:ea typeface="Arial" pitchFamily="34" charset="-122"/>
                <a:cs typeface="Arial" pitchFamily="34" charset="-120"/>
              </a:rPr>
              <a:t>RF-12</a:t>
            </a:r>
            <a:endParaRPr lang="en-US" sz="900" dirty="0"/>
          </a:p>
        </p:txBody>
      </p:sp>
      <p:sp>
        <p:nvSpPr>
          <p:cNvPr id="41" name="Text 39"/>
          <p:cNvSpPr/>
          <p:nvPr/>
        </p:nvSpPr>
        <p:spPr>
          <a:xfrm>
            <a:off x="2944368" y="3639312"/>
            <a:ext cx="1828800" cy="329184"/>
          </a:xfrm>
          <a:prstGeom prst="rect">
            <a:avLst/>
          </a:prstGeom>
          <a:noFill/>
          <a:ln/>
        </p:spPr>
        <p:txBody>
          <a:bodyPr wrap="square" lIns="0" tIns="0" rIns="0" bIns="0" rtlCol="0" anchor="ctr"/>
          <a:lstStyle/>
          <a:p>
            <a:pPr indent="0" marL="0">
              <a:lnSpc>
                <a:spcPct val="100000"/>
              </a:lnSpc>
              <a:buNone/>
            </a:pPr>
            <a:r>
              <a:rPr lang="en-US" sz="1050" dirty="0">
                <a:solidFill>
                  <a:srgbClr val="09090B"/>
                </a:solidFill>
                <a:latin typeface="Arial" pitchFamily="34" charset="0"/>
                <a:ea typeface="Arial" pitchFamily="34" charset="-122"/>
                <a:cs typeface="Arial" pitchFamily="34" charset="-120"/>
              </a:rPr>
              <a:t>Flujo secuencial de firma</a:t>
            </a:r>
            <a:endParaRPr lang="en-US" sz="1050" dirty="0"/>
          </a:p>
        </p:txBody>
      </p:sp>
      <p:sp>
        <p:nvSpPr>
          <p:cNvPr id="42" name="Shape 40"/>
          <p:cNvSpPr/>
          <p:nvPr/>
        </p:nvSpPr>
        <p:spPr>
          <a:xfrm>
            <a:off x="5047488" y="3355848"/>
            <a:ext cx="2066544" cy="676656"/>
          </a:xfrm>
          <a:prstGeom prst="roundRect">
            <a:avLst>
              <a:gd name="adj" fmla="val 8108"/>
            </a:avLst>
          </a:prstGeom>
          <a:solidFill>
            <a:srgbClr val="F7F7F8"/>
          </a:solidFill>
          <a:ln w="12700">
            <a:solidFill>
              <a:srgbClr val="E4E4E7"/>
            </a:solidFill>
            <a:prstDash val="solid"/>
          </a:ln>
        </p:spPr>
      </p:sp>
      <p:sp>
        <p:nvSpPr>
          <p:cNvPr id="43" name="Text 41"/>
          <p:cNvSpPr/>
          <p:nvPr/>
        </p:nvSpPr>
        <p:spPr>
          <a:xfrm>
            <a:off x="5193792" y="3429000"/>
            <a:ext cx="1828800" cy="182880"/>
          </a:xfrm>
          <a:prstGeom prst="rect">
            <a:avLst/>
          </a:prstGeom>
          <a:noFill/>
          <a:ln/>
        </p:spPr>
        <p:txBody>
          <a:bodyPr wrap="square" lIns="0" tIns="0" rIns="0" bIns="0" rtlCol="0" anchor="ctr"/>
          <a:lstStyle/>
          <a:p>
            <a:pPr indent="0" marL="0">
              <a:buNone/>
            </a:pPr>
            <a:r>
              <a:rPr lang="en-US" sz="900" b="1" spc="80" kern="0" dirty="0">
                <a:solidFill>
                  <a:srgbClr val="2563EB"/>
                </a:solidFill>
                <a:latin typeface="Arial" pitchFamily="34" charset="0"/>
                <a:ea typeface="Arial" pitchFamily="34" charset="-122"/>
                <a:cs typeface="Arial" pitchFamily="34" charset="-120"/>
              </a:rPr>
              <a:t>RF-13</a:t>
            </a:r>
            <a:endParaRPr lang="en-US" sz="900" dirty="0"/>
          </a:p>
        </p:txBody>
      </p:sp>
      <p:sp>
        <p:nvSpPr>
          <p:cNvPr id="44" name="Text 42"/>
          <p:cNvSpPr/>
          <p:nvPr/>
        </p:nvSpPr>
        <p:spPr>
          <a:xfrm>
            <a:off x="5193792" y="3639312"/>
            <a:ext cx="1828800" cy="329184"/>
          </a:xfrm>
          <a:prstGeom prst="rect">
            <a:avLst/>
          </a:prstGeom>
          <a:noFill/>
          <a:ln/>
        </p:spPr>
        <p:txBody>
          <a:bodyPr wrap="square" lIns="0" tIns="0" rIns="0" bIns="0" rtlCol="0" anchor="ctr"/>
          <a:lstStyle/>
          <a:p>
            <a:pPr indent="0" marL="0">
              <a:lnSpc>
                <a:spcPct val="100000"/>
              </a:lnSpc>
              <a:buNone/>
            </a:pPr>
            <a:r>
              <a:rPr lang="en-US" sz="1050" dirty="0">
                <a:solidFill>
                  <a:srgbClr val="09090B"/>
                </a:solidFill>
                <a:latin typeface="Arial" pitchFamily="34" charset="0"/>
                <a:ea typeface="Arial" pitchFamily="34" charset="-122"/>
                <a:cs typeface="Arial" pitchFamily="34" charset="-120"/>
              </a:rPr>
              <a:t>Invalidación y versiones</a:t>
            </a:r>
            <a:endParaRPr lang="en-US" sz="1050" dirty="0"/>
          </a:p>
        </p:txBody>
      </p:sp>
      <p:sp>
        <p:nvSpPr>
          <p:cNvPr id="45" name="Shape 43"/>
          <p:cNvSpPr/>
          <p:nvPr/>
        </p:nvSpPr>
        <p:spPr>
          <a:xfrm>
            <a:off x="7296912" y="3355848"/>
            <a:ext cx="2066544" cy="676656"/>
          </a:xfrm>
          <a:prstGeom prst="roundRect">
            <a:avLst>
              <a:gd name="adj" fmla="val 8108"/>
            </a:avLst>
          </a:prstGeom>
          <a:solidFill>
            <a:srgbClr val="F7F7F8"/>
          </a:solidFill>
          <a:ln w="12700">
            <a:solidFill>
              <a:srgbClr val="E4E4E7"/>
            </a:solidFill>
            <a:prstDash val="solid"/>
          </a:ln>
        </p:spPr>
      </p:sp>
      <p:sp>
        <p:nvSpPr>
          <p:cNvPr id="46" name="Text 44"/>
          <p:cNvSpPr/>
          <p:nvPr/>
        </p:nvSpPr>
        <p:spPr>
          <a:xfrm>
            <a:off x="7443216" y="3429000"/>
            <a:ext cx="1828800" cy="182880"/>
          </a:xfrm>
          <a:prstGeom prst="rect">
            <a:avLst/>
          </a:prstGeom>
          <a:noFill/>
          <a:ln/>
        </p:spPr>
        <p:txBody>
          <a:bodyPr wrap="square" lIns="0" tIns="0" rIns="0" bIns="0" rtlCol="0" anchor="ctr"/>
          <a:lstStyle/>
          <a:p>
            <a:pPr indent="0" marL="0">
              <a:buNone/>
            </a:pPr>
            <a:r>
              <a:rPr lang="en-US" sz="900" b="1" spc="80" kern="0" dirty="0">
                <a:solidFill>
                  <a:srgbClr val="2563EB"/>
                </a:solidFill>
                <a:latin typeface="Arial" pitchFamily="34" charset="0"/>
                <a:ea typeface="Arial" pitchFamily="34" charset="-122"/>
                <a:cs typeface="Arial" pitchFamily="34" charset="-120"/>
              </a:rPr>
              <a:t>RF-14</a:t>
            </a:r>
            <a:endParaRPr lang="en-US" sz="900" dirty="0"/>
          </a:p>
        </p:txBody>
      </p:sp>
      <p:sp>
        <p:nvSpPr>
          <p:cNvPr id="47" name="Text 45"/>
          <p:cNvSpPr/>
          <p:nvPr/>
        </p:nvSpPr>
        <p:spPr>
          <a:xfrm>
            <a:off x="7443216" y="3639312"/>
            <a:ext cx="1828800" cy="329184"/>
          </a:xfrm>
          <a:prstGeom prst="rect">
            <a:avLst/>
          </a:prstGeom>
          <a:noFill/>
          <a:ln/>
        </p:spPr>
        <p:txBody>
          <a:bodyPr wrap="square" lIns="0" tIns="0" rIns="0" bIns="0" rtlCol="0" anchor="ctr"/>
          <a:lstStyle/>
          <a:p>
            <a:pPr indent="0" marL="0">
              <a:lnSpc>
                <a:spcPct val="100000"/>
              </a:lnSpc>
              <a:buNone/>
            </a:pPr>
            <a:r>
              <a:rPr lang="en-US" sz="1050" dirty="0">
                <a:solidFill>
                  <a:srgbClr val="09090B"/>
                </a:solidFill>
                <a:latin typeface="Arial" pitchFamily="34" charset="0"/>
                <a:ea typeface="Arial" pitchFamily="34" charset="-122"/>
                <a:cs typeface="Arial" pitchFamily="34" charset="-120"/>
              </a:rPr>
              <a:t>Trazabilidad y auditoría</a:t>
            </a:r>
            <a:endParaRPr lang="en-US" sz="1050" dirty="0"/>
          </a:p>
        </p:txBody>
      </p:sp>
      <p:sp>
        <p:nvSpPr>
          <p:cNvPr id="48" name="Shape 46"/>
          <p:cNvSpPr/>
          <p:nvPr/>
        </p:nvSpPr>
        <p:spPr>
          <a:xfrm>
            <a:off x="9546336" y="3355848"/>
            <a:ext cx="2066544" cy="676656"/>
          </a:xfrm>
          <a:prstGeom prst="roundRect">
            <a:avLst>
              <a:gd name="adj" fmla="val 8108"/>
            </a:avLst>
          </a:prstGeom>
          <a:solidFill>
            <a:srgbClr val="F7F7F8"/>
          </a:solidFill>
          <a:ln w="12700">
            <a:solidFill>
              <a:srgbClr val="E4E4E7"/>
            </a:solidFill>
            <a:prstDash val="solid"/>
          </a:ln>
        </p:spPr>
      </p:sp>
      <p:sp>
        <p:nvSpPr>
          <p:cNvPr id="49" name="Text 47"/>
          <p:cNvSpPr/>
          <p:nvPr/>
        </p:nvSpPr>
        <p:spPr>
          <a:xfrm>
            <a:off x="9692640" y="3429000"/>
            <a:ext cx="1828800" cy="182880"/>
          </a:xfrm>
          <a:prstGeom prst="rect">
            <a:avLst/>
          </a:prstGeom>
          <a:noFill/>
          <a:ln/>
        </p:spPr>
        <p:txBody>
          <a:bodyPr wrap="square" lIns="0" tIns="0" rIns="0" bIns="0" rtlCol="0" anchor="ctr"/>
          <a:lstStyle/>
          <a:p>
            <a:pPr indent="0" marL="0">
              <a:buNone/>
            </a:pPr>
            <a:r>
              <a:rPr lang="en-US" sz="900" b="1" spc="80" kern="0" dirty="0">
                <a:solidFill>
                  <a:srgbClr val="2563EB"/>
                </a:solidFill>
                <a:latin typeface="Arial" pitchFamily="34" charset="0"/>
                <a:ea typeface="Arial" pitchFamily="34" charset="-122"/>
                <a:cs typeface="Arial" pitchFamily="34" charset="-120"/>
              </a:rPr>
              <a:t>RF-15</a:t>
            </a:r>
            <a:endParaRPr lang="en-US" sz="900" dirty="0"/>
          </a:p>
        </p:txBody>
      </p:sp>
      <p:sp>
        <p:nvSpPr>
          <p:cNvPr id="50" name="Text 48"/>
          <p:cNvSpPr/>
          <p:nvPr/>
        </p:nvSpPr>
        <p:spPr>
          <a:xfrm>
            <a:off x="9692640" y="3639312"/>
            <a:ext cx="1828800" cy="329184"/>
          </a:xfrm>
          <a:prstGeom prst="rect">
            <a:avLst/>
          </a:prstGeom>
          <a:noFill/>
          <a:ln/>
        </p:spPr>
        <p:txBody>
          <a:bodyPr wrap="square" lIns="0" tIns="0" rIns="0" bIns="0" rtlCol="0" anchor="ctr"/>
          <a:lstStyle/>
          <a:p>
            <a:pPr indent="0" marL="0">
              <a:lnSpc>
                <a:spcPct val="100000"/>
              </a:lnSpc>
              <a:buNone/>
            </a:pPr>
            <a:r>
              <a:rPr lang="en-US" sz="1050" dirty="0">
                <a:solidFill>
                  <a:srgbClr val="09090B"/>
                </a:solidFill>
                <a:latin typeface="Arial" pitchFamily="34" charset="0"/>
                <a:ea typeface="Arial" pitchFamily="34" charset="-122"/>
                <a:cs typeface="Arial" pitchFamily="34" charset="-120"/>
              </a:rPr>
              <a:t>Reportes y panel</a:t>
            </a:r>
            <a:endParaRPr lang="en-US" sz="1050" dirty="0"/>
          </a:p>
        </p:txBody>
      </p:sp>
      <p:sp>
        <p:nvSpPr>
          <p:cNvPr id="51" name="Shape 49"/>
          <p:cNvSpPr/>
          <p:nvPr/>
        </p:nvSpPr>
        <p:spPr>
          <a:xfrm>
            <a:off x="548640" y="4343400"/>
            <a:ext cx="11064240" cy="1417320"/>
          </a:xfrm>
          <a:prstGeom prst="roundRect">
            <a:avLst>
              <a:gd name="adj" fmla="val 4516"/>
            </a:avLst>
          </a:prstGeom>
          <a:solidFill>
            <a:srgbClr val="F7F7F8"/>
          </a:solidFill>
          <a:ln w="12700">
            <a:solidFill>
              <a:srgbClr val="E4E4E7"/>
            </a:solidFill>
            <a:prstDash val="solid"/>
          </a:ln>
        </p:spPr>
      </p:sp>
      <p:sp>
        <p:nvSpPr>
          <p:cNvPr id="52" name="Text 50"/>
          <p:cNvSpPr/>
          <p:nvPr/>
        </p:nvSpPr>
        <p:spPr>
          <a:xfrm>
            <a:off x="749808" y="4489704"/>
            <a:ext cx="10661904" cy="201168"/>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REQUISITOS NO FUNCIONALES</a:t>
            </a:r>
            <a:endParaRPr lang="en-US" sz="900" dirty="0"/>
          </a:p>
        </p:txBody>
      </p:sp>
      <p:sp>
        <p:nvSpPr>
          <p:cNvPr id="53" name="Text 51"/>
          <p:cNvSpPr/>
          <p:nvPr/>
        </p:nvSpPr>
        <p:spPr>
          <a:xfrm>
            <a:off x="749808" y="4736592"/>
            <a:ext cx="10661904" cy="896112"/>
          </a:xfrm>
          <a:prstGeom prst="rect">
            <a:avLst/>
          </a:prstGeom>
          <a:noFill/>
          <a:ln/>
        </p:spPr>
        <p:txBody>
          <a:bodyPr wrap="square" lIns="0" tIns="0" rIns="0" bIns="0" rtlCol="0" anchor="t"/>
          <a:lstStyle/>
          <a:p>
            <a:pPr indent="0" marL="0">
              <a:lnSpc>
                <a:spcPct val="112000"/>
              </a:lnSpc>
              <a:buNone/>
            </a:pPr>
            <a:r>
              <a:rPr lang="en-US" sz="1200" dirty="0">
                <a:solidFill>
                  <a:srgbClr val="09090B"/>
                </a:solidFill>
                <a:latin typeface="Arial" pitchFamily="34" charset="0"/>
                <a:ea typeface="Arial" pitchFamily="34" charset="-122"/>
                <a:cs typeface="Arial" pitchFamily="34" charset="-120"/>
              </a:rPr>
              <a:t>Arquitectura modular y escalable  ·  Procesamiento asíncrono de operaciones pesadas  ·  Credenciales con bcrypt, JWT de 15 minutos y refresh rotativo de 7 días</a:t>
            </a:r>
            <a:endParaRPr lang="en-US" sz="1200" dirty="0"/>
          </a:p>
          <a:p>
            <a:pPr indent="0" marL="0">
              <a:lnSpc>
                <a:spcPct val="112000"/>
              </a:lnSpc>
              <a:buNone/>
            </a:pPr>
            <a:r>
              <a:rPr lang="en-US" sz="1200" dirty="0">
                <a:solidFill>
                  <a:srgbClr val="09090B"/>
                </a:solidFill>
                <a:latin typeface="Arial" pitchFamily="34" charset="0"/>
                <a:ea typeface="Arial" pitchFamily="34" charset="-122"/>
                <a:cs typeface="Arial" pitchFamily="34" charset="-120"/>
              </a:rPr>
              <a:t>Aislamiento de datos por facultad  ·  Contenerización integral con Docker Compose  ·  Rendimiento de la interfaz  ·  Almacenamiento de objetos compatible con S3</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19456"/>
          </a:xfrm>
          <a:prstGeom prst="rect">
            <a:avLst/>
          </a:prstGeom>
          <a:noFill/>
          <a:ln/>
        </p:spPr>
        <p:txBody>
          <a:bodyPr wrap="square" lIns="0" tIns="0" rIns="0" bIns="0" rtlCol="0" anchor="ctr"/>
          <a:lstStyle/>
          <a:p>
            <a:pPr indent="0" marL="0">
              <a:buNone/>
            </a:pPr>
            <a:r>
              <a:rPr lang="en-US" sz="1000" b="1" spc="140" kern="0" dirty="0">
                <a:solidFill>
                  <a:srgbClr val="2563EB"/>
                </a:solidFill>
                <a:latin typeface="Arial" pitchFamily="34" charset="0"/>
                <a:ea typeface="Arial" pitchFamily="34" charset="-122"/>
                <a:cs typeface="Arial" pitchFamily="34" charset="-120"/>
              </a:rPr>
              <a:t>CAPÍTULO IV · DETERMINACIÓN DE RECURSOS</a:t>
            </a:r>
            <a:endParaRPr lang="en-US" sz="1000" dirty="0"/>
          </a:p>
        </p:txBody>
      </p:sp>
      <p:sp>
        <p:nvSpPr>
          <p:cNvPr id="3" name="Text 1"/>
          <p:cNvSpPr/>
          <p:nvPr/>
        </p:nvSpPr>
        <p:spPr>
          <a:xfrm>
            <a:off x="548640" y="640080"/>
            <a:ext cx="11064240" cy="566928"/>
          </a:xfrm>
          <a:prstGeom prst="rect">
            <a:avLst/>
          </a:prstGeom>
          <a:noFill/>
          <a:ln/>
        </p:spPr>
        <p:txBody>
          <a:bodyPr wrap="square" lIns="0" tIns="0" rIns="0" bIns="0" rtlCol="0" anchor="t"/>
          <a:lstStyle/>
          <a:p>
            <a:pPr indent="0" marL="0">
              <a:buNone/>
            </a:pPr>
            <a:r>
              <a:rPr lang="en-US" sz="3000" b="1" dirty="0">
                <a:solidFill>
                  <a:srgbClr val="09090B"/>
                </a:solidFill>
                <a:latin typeface="Arial" pitchFamily="34" charset="0"/>
                <a:ea typeface="Arial" pitchFamily="34" charset="-122"/>
                <a:cs typeface="Arial" pitchFamily="34" charset="-120"/>
              </a:rPr>
              <a:t>Software libre y equipo propio, por sostenibilidad</a:t>
            </a:r>
            <a:endParaRPr lang="en-US" sz="3000" dirty="0"/>
          </a:p>
        </p:txBody>
      </p:sp>
      <p:sp>
        <p:nvSpPr>
          <p:cNvPr id="4" name="Text 2"/>
          <p:cNvSpPr/>
          <p:nvPr/>
        </p:nvSpPr>
        <p:spPr>
          <a:xfrm>
            <a:off x="11064240" y="6510528"/>
            <a:ext cx="548640" cy="256032"/>
          </a:xfrm>
          <a:prstGeom prst="rect">
            <a:avLst/>
          </a:prstGeom>
          <a:noFill/>
          <a:ln/>
        </p:spPr>
        <p:txBody>
          <a:bodyPr wrap="square" lIns="0" tIns="0" rIns="0" bIns="0" rtlCol="0" anchor="ctr"/>
          <a:lstStyle/>
          <a:p>
            <a:pPr algn="r" indent="0" marL="0">
              <a:buNone/>
            </a:pPr>
            <a:r>
              <a:rPr lang="en-US" sz="1000" dirty="0">
                <a:solidFill>
                  <a:srgbClr val="6C6C75"/>
                </a:solidFill>
                <a:latin typeface="Arial" pitchFamily="34" charset="0"/>
                <a:ea typeface="Arial" pitchFamily="34" charset="-122"/>
                <a:cs typeface="Arial" pitchFamily="34" charset="-120"/>
              </a:rPr>
              <a:t>11</a:t>
            </a:r>
            <a:endParaRPr lang="en-US" sz="1000" dirty="0"/>
          </a:p>
        </p:txBody>
      </p:sp>
      <p:sp>
        <p:nvSpPr>
          <p:cNvPr id="5" name="Shape 3"/>
          <p:cNvSpPr/>
          <p:nvPr/>
        </p:nvSpPr>
        <p:spPr>
          <a:xfrm>
            <a:off x="548640" y="1600200"/>
            <a:ext cx="3504895" cy="4480560"/>
          </a:xfrm>
          <a:prstGeom prst="roundRect">
            <a:avLst>
              <a:gd name="adj" fmla="val 1826"/>
            </a:avLst>
          </a:prstGeom>
          <a:solidFill>
            <a:srgbClr val="F7F7F8"/>
          </a:solidFill>
          <a:ln w="12700">
            <a:solidFill>
              <a:srgbClr val="E4E4E7"/>
            </a:solidFill>
            <a:prstDash val="solid"/>
          </a:ln>
        </p:spPr>
      </p:sp>
      <p:sp>
        <p:nvSpPr>
          <p:cNvPr id="6" name="Text 4"/>
          <p:cNvSpPr/>
          <p:nvPr/>
        </p:nvSpPr>
        <p:spPr>
          <a:xfrm>
            <a:off x="749808" y="1746504"/>
            <a:ext cx="3102559" cy="201168"/>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HUMANOS</a:t>
            </a:r>
            <a:endParaRPr lang="en-US" sz="900" dirty="0"/>
          </a:p>
        </p:txBody>
      </p:sp>
      <p:sp>
        <p:nvSpPr>
          <p:cNvPr id="7" name="Text 5"/>
          <p:cNvSpPr/>
          <p:nvPr/>
        </p:nvSpPr>
        <p:spPr>
          <a:xfrm>
            <a:off x="749808" y="1993392"/>
            <a:ext cx="3102559" cy="3959352"/>
          </a:xfrm>
          <a:prstGeom prst="rect">
            <a:avLst/>
          </a:prstGeom>
          <a:noFill/>
          <a:ln/>
        </p:spPr>
        <p:txBody>
          <a:bodyPr wrap="square" lIns="0" tIns="0" rIns="0" bIns="0" rtlCol="0" anchor="t"/>
          <a:lstStyle/>
          <a:p>
            <a:pPr indent="0" marL="0">
              <a:lnSpc>
                <a:spcPct val="112000"/>
              </a:lnSpc>
              <a:buNone/>
            </a:pPr>
            <a:r>
              <a:rPr lang="en-US" sz="900" b="1" spc="100" kern="0" dirty="0">
                <a:solidFill>
                  <a:srgbClr val="6C6C75"/>
                </a:solidFill>
                <a:latin typeface="Arial" pitchFamily="34" charset="0"/>
                <a:ea typeface="Arial" pitchFamily="34" charset="-122"/>
                <a:cs typeface="Arial" pitchFamily="34" charset="-120"/>
              </a:rPr>
              <a:t>DESARROLLADOR E INVESTIGADOR</a:t>
            </a:r>
            <a:endParaRPr lang="en-US" sz="1250" dirty="0"/>
          </a:p>
          <a:p>
            <a:pPr indent="0" marL="0">
              <a:lnSpc>
                <a:spcPct val="112000"/>
              </a:lnSpc>
              <a:buNone/>
            </a:pPr>
            <a:r>
              <a:rPr lang="en-US" sz="1200" dirty="0">
                <a:solidFill>
                  <a:srgbClr val="09090B"/>
                </a:solidFill>
                <a:latin typeface="Arial" pitchFamily="34" charset="0"/>
                <a:ea typeface="Arial" pitchFamily="34" charset="-122"/>
                <a:cs typeface="Arial" pitchFamily="34" charset="-120"/>
              </a:rPr>
              <a:t>Levantamiento, modelo de datos, desarrollo, entorno Docker, firma electrónica y pruebas</a:t>
            </a:r>
            <a:endParaRPr lang="en-US" sz="1250" dirty="0"/>
          </a:p>
          <a:p>
            <a:pPr indent="0" marL="0">
              <a:lnSpc>
                <a:spcPct val="112000"/>
              </a:lnSpc>
              <a:buNone/>
            </a:pPr>
            <a:r>
              <a:rPr lang="en-US" sz="500" dirty="0">
                <a:solidFill>
                  <a:srgbClr val="09090B"/>
                </a:solidFill>
                <a:latin typeface="Arial" pitchFamily="34" charset="0"/>
                <a:ea typeface="Arial" pitchFamily="34" charset="-122"/>
                <a:cs typeface="Arial" pitchFamily="34" charset="-120"/>
              </a:rPr>
              <a:t> </a:t>
            </a:r>
            <a:endParaRPr lang="en-US" sz="1250" dirty="0"/>
          </a:p>
          <a:p>
            <a:pPr indent="0" marL="0">
              <a:lnSpc>
                <a:spcPct val="112000"/>
              </a:lnSpc>
              <a:buNone/>
            </a:pPr>
            <a:r>
              <a:rPr lang="en-US" sz="900" b="1" spc="100" kern="0" dirty="0">
                <a:solidFill>
                  <a:srgbClr val="6C6C75"/>
                </a:solidFill>
                <a:latin typeface="Arial" pitchFamily="34" charset="0"/>
                <a:ea typeface="Arial" pitchFamily="34" charset="-122"/>
                <a:cs typeface="Arial" pitchFamily="34" charset="-120"/>
              </a:rPr>
              <a:t>TUTOR ACADÉMICO</a:t>
            </a:r>
            <a:endParaRPr lang="en-US" sz="1250" dirty="0"/>
          </a:p>
          <a:p>
            <a:pPr indent="0" marL="0">
              <a:lnSpc>
                <a:spcPct val="112000"/>
              </a:lnSpc>
              <a:buNone/>
            </a:pPr>
            <a:r>
              <a:rPr lang="en-US" sz="1200" dirty="0">
                <a:solidFill>
                  <a:srgbClr val="09090B"/>
                </a:solidFill>
                <a:latin typeface="Arial" pitchFamily="34" charset="0"/>
                <a:ea typeface="Arial" pitchFamily="34" charset="-122"/>
                <a:cs typeface="Arial" pitchFamily="34" charset="-120"/>
              </a:rPr>
              <a:t>Supervisión metodológica y validación de la arquitectura</a:t>
            </a:r>
            <a:endParaRPr lang="en-US" sz="1250" dirty="0"/>
          </a:p>
          <a:p>
            <a:pPr indent="0" marL="0">
              <a:lnSpc>
                <a:spcPct val="112000"/>
              </a:lnSpc>
              <a:buNone/>
            </a:pPr>
            <a:r>
              <a:rPr lang="en-US" sz="500" dirty="0">
                <a:solidFill>
                  <a:srgbClr val="09090B"/>
                </a:solidFill>
                <a:latin typeface="Arial" pitchFamily="34" charset="0"/>
                <a:ea typeface="Arial" pitchFamily="34" charset="-122"/>
                <a:cs typeface="Arial" pitchFamily="34" charset="-120"/>
              </a:rPr>
              <a:t> </a:t>
            </a:r>
            <a:endParaRPr lang="en-US" sz="1250" dirty="0"/>
          </a:p>
          <a:p>
            <a:pPr indent="0" marL="0">
              <a:lnSpc>
                <a:spcPct val="112000"/>
              </a:lnSpc>
              <a:buNone/>
            </a:pPr>
            <a:r>
              <a:rPr lang="en-US" sz="900" b="1" spc="100" kern="0" dirty="0">
                <a:solidFill>
                  <a:srgbClr val="6C6C75"/>
                </a:solidFill>
                <a:latin typeface="Arial" pitchFamily="34" charset="0"/>
                <a:ea typeface="Arial" pitchFamily="34" charset="-122"/>
                <a:cs typeface="Arial" pitchFamily="34" charset="-120"/>
              </a:rPr>
              <a:t>EXPERTOS Y USUARIOS</a:t>
            </a:r>
            <a:endParaRPr lang="en-US" sz="1250" dirty="0"/>
          </a:p>
          <a:p>
            <a:pPr indent="0" marL="0">
              <a:lnSpc>
                <a:spcPct val="112000"/>
              </a:lnSpc>
              <a:buNone/>
            </a:pPr>
            <a:r>
              <a:rPr lang="en-US" sz="1200" dirty="0">
                <a:solidFill>
                  <a:srgbClr val="09090B"/>
                </a:solidFill>
                <a:latin typeface="Arial" pitchFamily="34" charset="0"/>
                <a:ea typeface="Arial" pitchFamily="34" charset="-122"/>
                <a:cs typeface="Arial" pitchFamily="34" charset="-120"/>
              </a:rPr>
              <a:t>Comisión de Prácticas y autoridades: formatos reales y pruebas de aceptación</a:t>
            </a:r>
            <a:endParaRPr lang="en-US" sz="1250" dirty="0"/>
          </a:p>
        </p:txBody>
      </p:sp>
      <p:sp>
        <p:nvSpPr>
          <p:cNvPr id="8" name="Shape 6"/>
          <p:cNvSpPr/>
          <p:nvPr/>
        </p:nvSpPr>
        <p:spPr>
          <a:xfrm>
            <a:off x="4327855" y="1600200"/>
            <a:ext cx="3504895" cy="4480560"/>
          </a:xfrm>
          <a:prstGeom prst="roundRect">
            <a:avLst>
              <a:gd name="adj" fmla="val 1826"/>
            </a:avLst>
          </a:prstGeom>
          <a:solidFill>
            <a:srgbClr val="F7F7F8"/>
          </a:solidFill>
          <a:ln w="12700">
            <a:solidFill>
              <a:srgbClr val="E4E4E7"/>
            </a:solidFill>
            <a:prstDash val="solid"/>
          </a:ln>
        </p:spPr>
      </p:sp>
      <p:sp>
        <p:nvSpPr>
          <p:cNvPr id="9" name="Text 7"/>
          <p:cNvSpPr/>
          <p:nvPr/>
        </p:nvSpPr>
        <p:spPr>
          <a:xfrm>
            <a:off x="4529023" y="1746504"/>
            <a:ext cx="3102559" cy="201168"/>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TECNOLÓGICOS</a:t>
            </a:r>
            <a:endParaRPr lang="en-US" sz="900" dirty="0"/>
          </a:p>
        </p:txBody>
      </p:sp>
      <p:sp>
        <p:nvSpPr>
          <p:cNvPr id="10" name="Text 8"/>
          <p:cNvSpPr/>
          <p:nvPr/>
        </p:nvSpPr>
        <p:spPr>
          <a:xfrm>
            <a:off x="4529023" y="1993392"/>
            <a:ext cx="3102559" cy="3959352"/>
          </a:xfrm>
          <a:prstGeom prst="rect">
            <a:avLst/>
          </a:prstGeom>
          <a:noFill/>
          <a:ln/>
        </p:spPr>
        <p:txBody>
          <a:bodyPr wrap="square" lIns="0" tIns="0" rIns="0" bIns="0" rtlCol="0" anchor="t"/>
          <a:lstStyle/>
          <a:p>
            <a:pPr indent="0" marL="0">
              <a:lnSpc>
                <a:spcPct val="112000"/>
              </a:lnSpc>
              <a:buNone/>
            </a:pPr>
            <a:r>
              <a:rPr lang="en-US" sz="1150" dirty="0">
                <a:solidFill>
                  <a:srgbClr val="09090B"/>
                </a:solidFill>
                <a:latin typeface="Arial" pitchFamily="34" charset="0"/>
                <a:ea typeface="Arial" pitchFamily="34" charset="-122"/>
                <a:cs typeface="Arial" pitchFamily="34" charset="-120"/>
              </a:rPr>
              <a:t>Equipo propio: portátil Ryzen 3, 16 GB RAM, SSD 512 GB</a:t>
            </a:r>
            <a:endParaRPr lang="en-US" sz="1150" dirty="0"/>
          </a:p>
          <a:p>
            <a:pPr indent="0" marL="0">
              <a:lnSpc>
                <a:spcPct val="112000"/>
              </a:lnSpc>
              <a:buNone/>
            </a:pPr>
            <a:endParaRPr lang="en-US" sz="1150" dirty="0"/>
          </a:p>
          <a:p>
            <a:pPr indent="0" marL="0">
              <a:lnSpc>
                <a:spcPct val="112000"/>
              </a:lnSpc>
              <a:buNone/>
            </a:pPr>
            <a:r>
              <a:rPr lang="en-US" sz="1150" dirty="0">
                <a:solidFill>
                  <a:srgbClr val="09090B"/>
                </a:solidFill>
                <a:latin typeface="Arial" pitchFamily="34" charset="0"/>
                <a:ea typeface="Arial" pitchFamily="34" charset="-122"/>
                <a:cs typeface="Arial" pitchFamily="34" charset="-120"/>
              </a:rPr>
              <a:t>Node.js 20 · NestJS 10 · Prisma 5 · BullMQ · ExcelJS</a:t>
            </a:r>
            <a:endParaRPr lang="en-US" sz="1150" dirty="0"/>
          </a:p>
          <a:p>
            <a:pPr indent="0" marL="0">
              <a:lnSpc>
                <a:spcPct val="112000"/>
              </a:lnSpc>
              <a:buNone/>
            </a:pPr>
            <a:r>
              <a:rPr lang="en-US" sz="1150" dirty="0">
                <a:solidFill>
                  <a:srgbClr val="09090B"/>
                </a:solidFill>
                <a:latin typeface="Arial" pitchFamily="34" charset="0"/>
                <a:ea typeface="Arial" pitchFamily="34" charset="-122"/>
                <a:cs typeface="Arial" pitchFamily="34" charset="-120"/>
              </a:rPr>
              <a:t>Next.js 14 · React 18 · Tailwind · React Konva</a:t>
            </a:r>
            <a:endParaRPr lang="en-US" sz="1150" dirty="0"/>
          </a:p>
          <a:p>
            <a:pPr indent="0" marL="0">
              <a:lnSpc>
                <a:spcPct val="112000"/>
              </a:lnSpc>
              <a:buNone/>
            </a:pPr>
            <a:r>
              <a:rPr lang="en-US" sz="1150" dirty="0">
                <a:solidFill>
                  <a:srgbClr val="09090B"/>
                </a:solidFill>
                <a:latin typeface="Arial" pitchFamily="34" charset="0"/>
                <a:ea typeface="Arial" pitchFamily="34" charset="-122"/>
                <a:cs typeface="Arial" pitchFamily="34" charset="-120"/>
              </a:rPr>
              <a:t>PostgreSQL 15 · Redis 7 · MinIO</a:t>
            </a:r>
            <a:endParaRPr lang="en-US" sz="1150" dirty="0"/>
          </a:p>
          <a:p>
            <a:pPr indent="0" marL="0">
              <a:lnSpc>
                <a:spcPct val="112000"/>
              </a:lnSpc>
              <a:buNone/>
            </a:pPr>
            <a:r>
              <a:rPr lang="en-US" sz="1150" dirty="0">
                <a:solidFill>
                  <a:srgbClr val="09090B"/>
                </a:solidFill>
                <a:latin typeface="Arial" pitchFamily="34" charset="0"/>
                <a:ea typeface="Arial" pitchFamily="34" charset="-122"/>
                <a:cs typeface="Arial" pitchFamily="34" charset="-120"/>
              </a:rPr>
              <a:t>docxtemplater · pdf-lib · LibreOffice headless</a:t>
            </a:r>
            <a:endParaRPr lang="en-US" sz="1150" dirty="0"/>
          </a:p>
          <a:p>
            <a:pPr indent="0" marL="0">
              <a:lnSpc>
                <a:spcPct val="112000"/>
              </a:lnSpc>
              <a:buNone/>
            </a:pPr>
            <a:r>
              <a:rPr lang="en-US" sz="1150" dirty="0">
                <a:solidFill>
                  <a:srgbClr val="09090B"/>
                </a:solidFill>
                <a:latin typeface="Arial" pitchFamily="34" charset="0"/>
                <a:ea typeface="Arial" pitchFamily="34" charset="-122"/>
                <a:cs typeface="Arial" pitchFamily="34" charset="-120"/>
              </a:rPr>
              <a:t>Docker · Turborepo · Git</a:t>
            </a:r>
            <a:endParaRPr lang="en-US" sz="1150" dirty="0"/>
          </a:p>
        </p:txBody>
      </p:sp>
      <p:sp>
        <p:nvSpPr>
          <p:cNvPr id="11" name="Shape 9"/>
          <p:cNvSpPr/>
          <p:nvPr/>
        </p:nvSpPr>
        <p:spPr>
          <a:xfrm>
            <a:off x="8107070" y="1600200"/>
            <a:ext cx="3504895" cy="4480560"/>
          </a:xfrm>
          <a:prstGeom prst="roundRect">
            <a:avLst>
              <a:gd name="adj" fmla="val 1826"/>
            </a:avLst>
          </a:prstGeom>
          <a:solidFill>
            <a:srgbClr val="F7F7F8"/>
          </a:solidFill>
          <a:ln w="12700">
            <a:solidFill>
              <a:srgbClr val="E4E4E7"/>
            </a:solidFill>
            <a:prstDash val="solid"/>
          </a:ln>
        </p:spPr>
      </p:sp>
      <p:sp>
        <p:nvSpPr>
          <p:cNvPr id="12" name="Text 10"/>
          <p:cNvSpPr/>
          <p:nvPr/>
        </p:nvSpPr>
        <p:spPr>
          <a:xfrm>
            <a:off x="8308238" y="1746504"/>
            <a:ext cx="3102559" cy="201168"/>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ECONÓMICOS</a:t>
            </a:r>
            <a:endParaRPr lang="en-US" sz="900" dirty="0"/>
          </a:p>
        </p:txBody>
      </p:sp>
      <p:sp>
        <p:nvSpPr>
          <p:cNvPr id="13" name="Text 11"/>
          <p:cNvSpPr/>
          <p:nvPr/>
        </p:nvSpPr>
        <p:spPr>
          <a:xfrm>
            <a:off x="8308238" y="1993392"/>
            <a:ext cx="3102559" cy="3959352"/>
          </a:xfrm>
          <a:prstGeom prst="rect">
            <a:avLst/>
          </a:prstGeom>
          <a:noFill/>
          <a:ln/>
        </p:spPr>
        <p:txBody>
          <a:bodyPr wrap="square" lIns="0" tIns="0" rIns="0" bIns="0" rtlCol="0" anchor="t"/>
          <a:lstStyle/>
          <a:p>
            <a:pPr indent="0" marL="0">
              <a:lnSpc>
                <a:spcPct val="112000"/>
              </a:lnSpc>
              <a:buNone/>
            </a:pPr>
            <a:r>
              <a:rPr lang="en-US" sz="1150" dirty="0">
                <a:solidFill>
                  <a:srgbClr val="09090B"/>
                </a:solidFill>
                <a:latin typeface="Arial" pitchFamily="34" charset="0"/>
                <a:ea typeface="Arial" pitchFamily="34" charset="-122"/>
                <a:cs typeface="Arial" pitchFamily="34" charset="-120"/>
              </a:rPr>
              <a:t>Ningún componente del sistema exige el pago de licencias. Todo el stack es software libre; el control de versiones opera en plan gratuito de uso académico.</a:t>
            </a:r>
            <a:endParaRPr lang="en-US" sz="1150" dirty="0"/>
          </a:p>
        </p:txBody>
      </p:sp>
      <p:sp>
        <p:nvSpPr>
          <p:cNvPr id="14" name="Text 12"/>
          <p:cNvSpPr/>
          <p:nvPr/>
        </p:nvSpPr>
        <p:spPr>
          <a:xfrm>
            <a:off x="8311896" y="3749040"/>
            <a:ext cx="3108960" cy="731520"/>
          </a:xfrm>
          <a:prstGeom prst="rect">
            <a:avLst/>
          </a:prstGeom>
          <a:noFill/>
          <a:ln/>
        </p:spPr>
        <p:txBody>
          <a:bodyPr wrap="square" lIns="0" tIns="0" rIns="0" bIns="0" rtlCol="0" anchor="ctr"/>
          <a:lstStyle/>
          <a:p>
            <a:pPr indent="0" marL="0">
              <a:buNone/>
            </a:pPr>
            <a:r>
              <a:rPr lang="en-US" sz="4200" b="1" dirty="0">
                <a:solidFill>
                  <a:srgbClr val="2563EB"/>
                </a:solidFill>
                <a:latin typeface="Arial" pitchFamily="34" charset="0"/>
                <a:ea typeface="Arial" pitchFamily="34" charset="-122"/>
                <a:cs typeface="Arial" pitchFamily="34" charset="-120"/>
              </a:rPr>
              <a:t>USD 0,00</a:t>
            </a:r>
            <a:endParaRPr lang="en-US" sz="4200" dirty="0"/>
          </a:p>
        </p:txBody>
      </p:sp>
      <p:sp>
        <p:nvSpPr>
          <p:cNvPr id="15" name="Text 13"/>
          <p:cNvSpPr/>
          <p:nvPr/>
        </p:nvSpPr>
        <p:spPr>
          <a:xfrm>
            <a:off x="8311896" y="4526280"/>
            <a:ext cx="3108960" cy="1280160"/>
          </a:xfrm>
          <a:prstGeom prst="rect">
            <a:avLst/>
          </a:prstGeom>
          <a:noFill/>
          <a:ln/>
        </p:spPr>
        <p:txBody>
          <a:bodyPr wrap="square" lIns="0" tIns="0" rIns="0" bIns="0" rtlCol="0" anchor="ctr"/>
          <a:lstStyle/>
          <a:p>
            <a:pPr indent="0" marL="0">
              <a:lnSpc>
                <a:spcPct val="112000"/>
              </a:lnSpc>
              <a:buNone/>
            </a:pPr>
            <a:r>
              <a:rPr lang="en-US" sz="1100" dirty="0">
                <a:solidFill>
                  <a:srgbClr val="6C6C75"/>
                </a:solidFill>
                <a:latin typeface="Arial" pitchFamily="34" charset="0"/>
                <a:ea typeface="Arial" pitchFamily="34" charset="-122"/>
                <a:cs typeface="Arial" pitchFamily="34" charset="-120"/>
              </a:rPr>
              <a:t>en licenciamiento e infraestructura de desarrollo. El único desembolso previsible aparece en la puesta en línea.</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19456"/>
          </a:xfrm>
          <a:prstGeom prst="rect">
            <a:avLst/>
          </a:prstGeom>
          <a:noFill/>
          <a:ln/>
        </p:spPr>
        <p:txBody>
          <a:bodyPr wrap="square" lIns="0" tIns="0" rIns="0" bIns="0" rtlCol="0" anchor="ctr"/>
          <a:lstStyle/>
          <a:p>
            <a:pPr indent="0" marL="0">
              <a:buNone/>
            </a:pPr>
            <a:r>
              <a:rPr lang="en-US" sz="1000" b="1" spc="140" kern="0" dirty="0">
                <a:solidFill>
                  <a:srgbClr val="2563EB"/>
                </a:solidFill>
                <a:latin typeface="Arial" pitchFamily="34" charset="0"/>
                <a:ea typeface="Arial" pitchFamily="34" charset="-122"/>
                <a:cs typeface="Arial" pitchFamily="34" charset="-120"/>
              </a:rPr>
              <a:t>CAPÍTULO IV · ETAPAS DE ACCIÓN</a:t>
            </a:r>
            <a:endParaRPr lang="en-US" sz="1000" dirty="0"/>
          </a:p>
        </p:txBody>
      </p:sp>
      <p:sp>
        <p:nvSpPr>
          <p:cNvPr id="3" name="Text 1"/>
          <p:cNvSpPr/>
          <p:nvPr/>
        </p:nvSpPr>
        <p:spPr>
          <a:xfrm>
            <a:off x="548640" y="640080"/>
            <a:ext cx="11064240" cy="566928"/>
          </a:xfrm>
          <a:prstGeom prst="rect">
            <a:avLst/>
          </a:prstGeom>
          <a:noFill/>
          <a:ln/>
        </p:spPr>
        <p:txBody>
          <a:bodyPr wrap="square" lIns="0" tIns="0" rIns="0" bIns="0" rtlCol="0" anchor="t"/>
          <a:lstStyle/>
          <a:p>
            <a:pPr indent="0" marL="0">
              <a:buNone/>
            </a:pPr>
            <a:r>
              <a:rPr lang="en-US" sz="3000" b="1" dirty="0">
                <a:solidFill>
                  <a:srgbClr val="09090B"/>
                </a:solidFill>
                <a:latin typeface="Arial" pitchFamily="34" charset="0"/>
                <a:ea typeface="Arial" pitchFamily="34" charset="-122"/>
                <a:cs typeface="Arial" pitchFamily="34" charset="-120"/>
              </a:rPr>
              <a:t>Seis iteraciones quincenales</a:t>
            </a:r>
            <a:endParaRPr lang="en-US" sz="3000" dirty="0"/>
          </a:p>
        </p:txBody>
      </p:sp>
      <p:sp>
        <p:nvSpPr>
          <p:cNvPr id="4" name="Text 2"/>
          <p:cNvSpPr/>
          <p:nvPr/>
        </p:nvSpPr>
        <p:spPr>
          <a:xfrm>
            <a:off x="548640" y="1207008"/>
            <a:ext cx="9692640" cy="274320"/>
          </a:xfrm>
          <a:prstGeom prst="rect">
            <a:avLst/>
          </a:prstGeom>
          <a:noFill/>
          <a:ln/>
        </p:spPr>
        <p:txBody>
          <a:bodyPr wrap="square" lIns="0" tIns="0" rIns="0" bIns="0" rtlCol="0" anchor="ctr"/>
          <a:lstStyle/>
          <a:p>
            <a:pPr indent="0" marL="0">
              <a:buNone/>
            </a:pPr>
            <a:r>
              <a:rPr lang="en-US" sz="1300" dirty="0">
                <a:solidFill>
                  <a:srgbClr val="6C6C75"/>
                </a:solidFill>
                <a:latin typeface="Arial" pitchFamily="34" charset="0"/>
                <a:ea typeface="Arial" pitchFamily="34" charset="-122"/>
                <a:cs typeface="Arial" pitchFamily="34" charset="-120"/>
              </a:rPr>
              <a:t>Cada una cerrada con un módulo utilizable, no con un avance parcial</a:t>
            </a:r>
            <a:endParaRPr lang="en-US" sz="1300" dirty="0"/>
          </a:p>
        </p:txBody>
      </p:sp>
      <p:sp>
        <p:nvSpPr>
          <p:cNvPr id="5" name="Text 3"/>
          <p:cNvSpPr/>
          <p:nvPr/>
        </p:nvSpPr>
        <p:spPr>
          <a:xfrm>
            <a:off x="11064240" y="6510528"/>
            <a:ext cx="548640" cy="256032"/>
          </a:xfrm>
          <a:prstGeom prst="rect">
            <a:avLst/>
          </a:prstGeom>
          <a:noFill/>
          <a:ln/>
        </p:spPr>
        <p:txBody>
          <a:bodyPr wrap="square" lIns="0" tIns="0" rIns="0" bIns="0" rtlCol="0" anchor="ctr"/>
          <a:lstStyle/>
          <a:p>
            <a:pPr algn="r" indent="0" marL="0">
              <a:buNone/>
            </a:pPr>
            <a:r>
              <a:rPr lang="en-US" sz="1000" dirty="0">
                <a:solidFill>
                  <a:srgbClr val="6C6C75"/>
                </a:solidFill>
                <a:latin typeface="Arial" pitchFamily="34" charset="0"/>
                <a:ea typeface="Arial" pitchFamily="34" charset="-122"/>
                <a:cs typeface="Arial" pitchFamily="34" charset="-120"/>
              </a:rPr>
              <a:t>12</a:t>
            </a:r>
            <a:endParaRPr lang="en-US" sz="1000" dirty="0"/>
          </a:p>
        </p:txBody>
      </p:sp>
      <p:sp>
        <p:nvSpPr>
          <p:cNvPr id="6" name="Shape 4"/>
          <p:cNvSpPr/>
          <p:nvPr/>
        </p:nvSpPr>
        <p:spPr>
          <a:xfrm>
            <a:off x="548640" y="1874520"/>
            <a:ext cx="3504895" cy="1783080"/>
          </a:xfrm>
          <a:prstGeom prst="roundRect">
            <a:avLst>
              <a:gd name="adj" fmla="val 3590"/>
            </a:avLst>
          </a:prstGeom>
          <a:solidFill>
            <a:srgbClr val="F7F7F8"/>
          </a:solidFill>
          <a:ln w="12700">
            <a:solidFill>
              <a:srgbClr val="E4E4E7"/>
            </a:solidFill>
            <a:prstDash val="solid"/>
          </a:ln>
        </p:spPr>
      </p:sp>
      <p:sp>
        <p:nvSpPr>
          <p:cNvPr id="7" name="Text 5"/>
          <p:cNvSpPr/>
          <p:nvPr/>
        </p:nvSpPr>
        <p:spPr>
          <a:xfrm>
            <a:off x="749808" y="2020824"/>
            <a:ext cx="3102559" cy="201168"/>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ITERACIÓN 1</a:t>
            </a:r>
            <a:endParaRPr lang="en-US" sz="900" dirty="0"/>
          </a:p>
        </p:txBody>
      </p:sp>
      <p:sp>
        <p:nvSpPr>
          <p:cNvPr id="8" name="Text 6"/>
          <p:cNvSpPr/>
          <p:nvPr/>
        </p:nvSpPr>
        <p:spPr>
          <a:xfrm>
            <a:off x="749808" y="2267712"/>
            <a:ext cx="3102559" cy="420624"/>
          </a:xfrm>
          <a:prstGeom prst="rect">
            <a:avLst/>
          </a:prstGeom>
          <a:noFill/>
          <a:ln/>
        </p:spPr>
        <p:txBody>
          <a:bodyPr wrap="square" lIns="0" tIns="0" rIns="0" bIns="0" rtlCol="0" anchor="ctr"/>
          <a:lstStyle/>
          <a:p>
            <a:pPr indent="0" marL="0">
              <a:buNone/>
            </a:pPr>
            <a:r>
              <a:rPr lang="en-US" sz="1250" b="1" dirty="0">
                <a:solidFill>
                  <a:srgbClr val="09090B"/>
                </a:solidFill>
                <a:latin typeface="Arial" pitchFamily="34" charset="0"/>
                <a:ea typeface="Arial" pitchFamily="34" charset="-122"/>
                <a:cs typeface="Arial" pitchFamily="34" charset="-120"/>
              </a:rPr>
              <a:t>Configuración inicial y núcleo de datos</a:t>
            </a:r>
            <a:endParaRPr lang="en-US" sz="1250" dirty="0"/>
          </a:p>
        </p:txBody>
      </p:sp>
      <p:sp>
        <p:nvSpPr>
          <p:cNvPr id="9" name="Text 7"/>
          <p:cNvSpPr/>
          <p:nvPr/>
        </p:nvSpPr>
        <p:spPr>
          <a:xfrm>
            <a:off x="749808" y="2743200"/>
            <a:ext cx="3102559" cy="786384"/>
          </a:xfrm>
          <a:prstGeom prst="rect">
            <a:avLst/>
          </a:prstGeom>
          <a:noFill/>
          <a:ln/>
        </p:spPr>
        <p:txBody>
          <a:bodyPr wrap="square" lIns="0" tIns="0" rIns="0" bIns="0" rtlCol="0" anchor="t"/>
          <a:lstStyle/>
          <a:p>
            <a:pPr indent="0" marL="0">
              <a:lnSpc>
                <a:spcPct val="112000"/>
              </a:lnSpc>
              <a:buNone/>
            </a:pPr>
            <a:r>
              <a:rPr lang="en-US" sz="1100" dirty="0">
                <a:solidFill>
                  <a:srgbClr val="09090B"/>
                </a:solidFill>
                <a:latin typeface="Arial" pitchFamily="34" charset="0"/>
                <a:ea typeface="Arial" pitchFamily="34" charset="-122"/>
                <a:cs typeface="Arial" pitchFamily="34" charset="-120"/>
              </a:rPr>
              <a:t>Modelo relacional: facultades, carreras, períodos, estudiantes, prácticas y documentos</a:t>
            </a:r>
            <a:endParaRPr lang="en-US" sz="1100" dirty="0"/>
          </a:p>
        </p:txBody>
      </p:sp>
      <p:sp>
        <p:nvSpPr>
          <p:cNvPr id="10" name="Shape 8"/>
          <p:cNvSpPr/>
          <p:nvPr/>
        </p:nvSpPr>
        <p:spPr>
          <a:xfrm>
            <a:off x="4327855" y="1874520"/>
            <a:ext cx="3504895" cy="1783080"/>
          </a:xfrm>
          <a:prstGeom prst="roundRect">
            <a:avLst>
              <a:gd name="adj" fmla="val 3590"/>
            </a:avLst>
          </a:prstGeom>
          <a:solidFill>
            <a:srgbClr val="F7F7F8"/>
          </a:solidFill>
          <a:ln w="12700">
            <a:solidFill>
              <a:srgbClr val="E4E4E7"/>
            </a:solidFill>
            <a:prstDash val="solid"/>
          </a:ln>
        </p:spPr>
      </p:sp>
      <p:sp>
        <p:nvSpPr>
          <p:cNvPr id="11" name="Text 9"/>
          <p:cNvSpPr/>
          <p:nvPr/>
        </p:nvSpPr>
        <p:spPr>
          <a:xfrm>
            <a:off x="4529023" y="2020824"/>
            <a:ext cx="3102559" cy="201168"/>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ITERACIÓN 2</a:t>
            </a:r>
            <a:endParaRPr lang="en-US" sz="900" dirty="0"/>
          </a:p>
        </p:txBody>
      </p:sp>
      <p:sp>
        <p:nvSpPr>
          <p:cNvPr id="12" name="Text 10"/>
          <p:cNvSpPr/>
          <p:nvPr/>
        </p:nvSpPr>
        <p:spPr>
          <a:xfrm>
            <a:off x="4529023" y="2267712"/>
            <a:ext cx="3102559" cy="420624"/>
          </a:xfrm>
          <a:prstGeom prst="rect">
            <a:avLst/>
          </a:prstGeom>
          <a:noFill/>
          <a:ln/>
        </p:spPr>
        <p:txBody>
          <a:bodyPr wrap="square" lIns="0" tIns="0" rIns="0" bIns="0" rtlCol="0" anchor="ctr"/>
          <a:lstStyle/>
          <a:p>
            <a:pPr indent="0" marL="0">
              <a:buNone/>
            </a:pPr>
            <a:r>
              <a:rPr lang="en-US" sz="1250" b="1" dirty="0">
                <a:solidFill>
                  <a:srgbClr val="09090B"/>
                </a:solidFill>
                <a:latin typeface="Arial" pitchFamily="34" charset="0"/>
                <a:ea typeface="Arial" pitchFamily="34" charset="-122"/>
                <a:cs typeface="Arial" pitchFamily="34" charset="-120"/>
              </a:rPr>
              <a:t>Autenticación y control de acceso</a:t>
            </a:r>
            <a:endParaRPr lang="en-US" sz="1250" dirty="0"/>
          </a:p>
        </p:txBody>
      </p:sp>
      <p:sp>
        <p:nvSpPr>
          <p:cNvPr id="13" name="Text 11"/>
          <p:cNvSpPr/>
          <p:nvPr/>
        </p:nvSpPr>
        <p:spPr>
          <a:xfrm>
            <a:off x="4529023" y="2743200"/>
            <a:ext cx="3102559" cy="786384"/>
          </a:xfrm>
          <a:prstGeom prst="rect">
            <a:avLst/>
          </a:prstGeom>
          <a:noFill/>
          <a:ln/>
        </p:spPr>
        <p:txBody>
          <a:bodyPr wrap="square" lIns="0" tIns="0" rIns="0" bIns="0" rtlCol="0" anchor="t"/>
          <a:lstStyle/>
          <a:p>
            <a:pPr indent="0" marL="0">
              <a:lnSpc>
                <a:spcPct val="112000"/>
              </a:lnSpc>
              <a:buNone/>
            </a:pPr>
            <a:r>
              <a:rPr lang="en-US" sz="1100" dirty="0">
                <a:solidFill>
                  <a:srgbClr val="09090B"/>
                </a:solidFill>
                <a:latin typeface="Arial" pitchFamily="34" charset="0"/>
                <a:ea typeface="Arial" pitchFamily="34" charset="-122"/>
                <a:cs typeface="Arial" pitchFamily="34" charset="-120"/>
              </a:rPr>
              <a:t>Acceso diferenciado por los tres roles, con JWT y refresh rotativo</a:t>
            </a:r>
            <a:endParaRPr lang="en-US" sz="1100" dirty="0"/>
          </a:p>
        </p:txBody>
      </p:sp>
      <p:sp>
        <p:nvSpPr>
          <p:cNvPr id="14" name="Shape 12"/>
          <p:cNvSpPr/>
          <p:nvPr/>
        </p:nvSpPr>
        <p:spPr>
          <a:xfrm>
            <a:off x="8107070" y="1874520"/>
            <a:ext cx="3504895" cy="1783080"/>
          </a:xfrm>
          <a:prstGeom prst="roundRect">
            <a:avLst>
              <a:gd name="adj" fmla="val 3590"/>
            </a:avLst>
          </a:prstGeom>
          <a:solidFill>
            <a:srgbClr val="F7F7F8"/>
          </a:solidFill>
          <a:ln w="12700">
            <a:solidFill>
              <a:srgbClr val="E4E4E7"/>
            </a:solidFill>
            <a:prstDash val="solid"/>
          </a:ln>
        </p:spPr>
      </p:sp>
      <p:sp>
        <p:nvSpPr>
          <p:cNvPr id="15" name="Text 13"/>
          <p:cNvSpPr/>
          <p:nvPr/>
        </p:nvSpPr>
        <p:spPr>
          <a:xfrm>
            <a:off x="8308238" y="2020824"/>
            <a:ext cx="3102559" cy="201168"/>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ITERACIÓN 3</a:t>
            </a:r>
            <a:endParaRPr lang="en-US" sz="900" dirty="0"/>
          </a:p>
        </p:txBody>
      </p:sp>
      <p:sp>
        <p:nvSpPr>
          <p:cNvPr id="16" name="Text 14"/>
          <p:cNvSpPr/>
          <p:nvPr/>
        </p:nvSpPr>
        <p:spPr>
          <a:xfrm>
            <a:off x="8308238" y="2267712"/>
            <a:ext cx="3102559" cy="420624"/>
          </a:xfrm>
          <a:prstGeom prst="rect">
            <a:avLst/>
          </a:prstGeom>
          <a:noFill/>
          <a:ln/>
        </p:spPr>
        <p:txBody>
          <a:bodyPr wrap="square" lIns="0" tIns="0" rIns="0" bIns="0" rtlCol="0" anchor="ctr"/>
          <a:lstStyle/>
          <a:p>
            <a:pPr indent="0" marL="0">
              <a:buNone/>
            </a:pPr>
            <a:r>
              <a:rPr lang="en-US" sz="1250" b="1" dirty="0">
                <a:solidFill>
                  <a:srgbClr val="09090B"/>
                </a:solidFill>
                <a:latin typeface="Arial" pitchFamily="34" charset="0"/>
                <a:ea typeface="Arial" pitchFamily="34" charset="-122"/>
                <a:cs typeface="Arial" pitchFamily="34" charset="-120"/>
              </a:rPr>
              <a:t>Gestión académica y paneles</a:t>
            </a:r>
            <a:endParaRPr lang="en-US" sz="1250" dirty="0"/>
          </a:p>
        </p:txBody>
      </p:sp>
      <p:sp>
        <p:nvSpPr>
          <p:cNvPr id="17" name="Text 15"/>
          <p:cNvSpPr/>
          <p:nvPr/>
        </p:nvSpPr>
        <p:spPr>
          <a:xfrm>
            <a:off x="8308238" y="2743200"/>
            <a:ext cx="3102559" cy="786384"/>
          </a:xfrm>
          <a:prstGeom prst="rect">
            <a:avLst/>
          </a:prstGeom>
          <a:noFill/>
          <a:ln/>
        </p:spPr>
        <p:txBody>
          <a:bodyPr wrap="square" lIns="0" tIns="0" rIns="0" bIns="0" rtlCol="0" anchor="t"/>
          <a:lstStyle/>
          <a:p>
            <a:pPr indent="0" marL="0">
              <a:lnSpc>
                <a:spcPct val="112000"/>
              </a:lnSpc>
              <a:buNone/>
            </a:pPr>
            <a:r>
              <a:rPr lang="en-US" sz="1100" dirty="0">
                <a:solidFill>
                  <a:srgbClr val="09090B"/>
                </a:solidFill>
                <a:latin typeface="Arial" pitchFamily="34" charset="0"/>
                <a:ea typeface="Arial" pitchFamily="34" charset="-122"/>
                <a:cs typeface="Arial" pitchFamily="34" charset="-120"/>
              </a:rPr>
              <a:t>Administración académica con importación masiva desde hojas de cálculo</a:t>
            </a:r>
            <a:endParaRPr lang="en-US" sz="1100" dirty="0"/>
          </a:p>
        </p:txBody>
      </p:sp>
      <p:sp>
        <p:nvSpPr>
          <p:cNvPr id="18" name="Shape 16"/>
          <p:cNvSpPr/>
          <p:nvPr/>
        </p:nvSpPr>
        <p:spPr>
          <a:xfrm>
            <a:off x="548640" y="3977640"/>
            <a:ext cx="3504895" cy="1783080"/>
          </a:xfrm>
          <a:prstGeom prst="roundRect">
            <a:avLst>
              <a:gd name="adj" fmla="val 3590"/>
            </a:avLst>
          </a:prstGeom>
          <a:solidFill>
            <a:srgbClr val="F7F7F8"/>
          </a:solidFill>
          <a:ln w="12700">
            <a:solidFill>
              <a:srgbClr val="E4E4E7"/>
            </a:solidFill>
            <a:prstDash val="solid"/>
          </a:ln>
        </p:spPr>
      </p:sp>
      <p:sp>
        <p:nvSpPr>
          <p:cNvPr id="19" name="Text 17"/>
          <p:cNvSpPr/>
          <p:nvPr/>
        </p:nvSpPr>
        <p:spPr>
          <a:xfrm>
            <a:off x="749808" y="4123944"/>
            <a:ext cx="3102559" cy="201168"/>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ITERACIÓN 4</a:t>
            </a:r>
            <a:endParaRPr lang="en-US" sz="900" dirty="0"/>
          </a:p>
        </p:txBody>
      </p:sp>
      <p:sp>
        <p:nvSpPr>
          <p:cNvPr id="20" name="Text 18"/>
          <p:cNvSpPr/>
          <p:nvPr/>
        </p:nvSpPr>
        <p:spPr>
          <a:xfrm>
            <a:off x="749808" y="4370832"/>
            <a:ext cx="3102559" cy="420624"/>
          </a:xfrm>
          <a:prstGeom prst="rect">
            <a:avLst/>
          </a:prstGeom>
          <a:noFill/>
          <a:ln/>
        </p:spPr>
        <p:txBody>
          <a:bodyPr wrap="square" lIns="0" tIns="0" rIns="0" bIns="0" rtlCol="0" anchor="ctr"/>
          <a:lstStyle/>
          <a:p>
            <a:pPr indent="0" marL="0">
              <a:buNone/>
            </a:pPr>
            <a:r>
              <a:rPr lang="en-US" sz="1250" b="1" dirty="0">
                <a:solidFill>
                  <a:srgbClr val="09090B"/>
                </a:solidFill>
                <a:latin typeface="Arial" pitchFamily="34" charset="0"/>
                <a:ea typeface="Arial" pitchFamily="34" charset="-122"/>
                <a:cs typeface="Arial" pitchFamily="34" charset="-120"/>
              </a:rPr>
              <a:t>Motor documental</a:t>
            </a:r>
            <a:endParaRPr lang="en-US" sz="1250" dirty="0"/>
          </a:p>
        </p:txBody>
      </p:sp>
      <p:sp>
        <p:nvSpPr>
          <p:cNvPr id="21" name="Text 19"/>
          <p:cNvSpPr/>
          <p:nvPr/>
        </p:nvSpPr>
        <p:spPr>
          <a:xfrm>
            <a:off x="749808" y="4846320"/>
            <a:ext cx="3102559" cy="786384"/>
          </a:xfrm>
          <a:prstGeom prst="rect">
            <a:avLst/>
          </a:prstGeom>
          <a:noFill/>
          <a:ln/>
        </p:spPr>
        <p:txBody>
          <a:bodyPr wrap="square" lIns="0" tIns="0" rIns="0" bIns="0" rtlCol="0" anchor="t"/>
          <a:lstStyle/>
          <a:p>
            <a:pPr indent="0" marL="0">
              <a:lnSpc>
                <a:spcPct val="112000"/>
              </a:lnSpc>
              <a:buNone/>
            </a:pPr>
            <a:r>
              <a:rPr lang="en-US" sz="1100" dirty="0">
                <a:solidFill>
                  <a:srgbClr val="09090B"/>
                </a:solidFill>
                <a:latin typeface="Arial" pitchFamily="34" charset="0"/>
                <a:ea typeface="Arial" pitchFamily="34" charset="-122"/>
                <a:cs typeface="Arial" pitchFamily="34" charset="-120"/>
              </a:rPr>
              <a:t>Solicitudes y certificados, con editor visual de plantillas</a:t>
            </a:r>
            <a:endParaRPr lang="en-US" sz="1100" dirty="0"/>
          </a:p>
        </p:txBody>
      </p:sp>
      <p:sp>
        <p:nvSpPr>
          <p:cNvPr id="22" name="Shape 20"/>
          <p:cNvSpPr/>
          <p:nvPr/>
        </p:nvSpPr>
        <p:spPr>
          <a:xfrm>
            <a:off x="4327855" y="3977640"/>
            <a:ext cx="3504895" cy="1783080"/>
          </a:xfrm>
          <a:prstGeom prst="roundRect">
            <a:avLst>
              <a:gd name="adj" fmla="val 3590"/>
            </a:avLst>
          </a:prstGeom>
          <a:solidFill>
            <a:srgbClr val="F7F7F8"/>
          </a:solidFill>
          <a:ln w="12700">
            <a:solidFill>
              <a:srgbClr val="E4E4E7"/>
            </a:solidFill>
            <a:prstDash val="solid"/>
          </a:ln>
        </p:spPr>
      </p:sp>
      <p:sp>
        <p:nvSpPr>
          <p:cNvPr id="23" name="Text 21"/>
          <p:cNvSpPr/>
          <p:nvPr/>
        </p:nvSpPr>
        <p:spPr>
          <a:xfrm>
            <a:off x="4529023" y="4123944"/>
            <a:ext cx="3102559" cy="201168"/>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ITERACIÓN 5</a:t>
            </a:r>
            <a:endParaRPr lang="en-US" sz="900" dirty="0"/>
          </a:p>
        </p:txBody>
      </p:sp>
      <p:sp>
        <p:nvSpPr>
          <p:cNvPr id="24" name="Text 22"/>
          <p:cNvSpPr/>
          <p:nvPr/>
        </p:nvSpPr>
        <p:spPr>
          <a:xfrm>
            <a:off x="4529023" y="4370832"/>
            <a:ext cx="3102559" cy="420624"/>
          </a:xfrm>
          <a:prstGeom prst="rect">
            <a:avLst/>
          </a:prstGeom>
          <a:noFill/>
          <a:ln/>
        </p:spPr>
        <p:txBody>
          <a:bodyPr wrap="square" lIns="0" tIns="0" rIns="0" bIns="0" rtlCol="0" anchor="ctr"/>
          <a:lstStyle/>
          <a:p>
            <a:pPr indent="0" marL="0">
              <a:buNone/>
            </a:pPr>
            <a:r>
              <a:rPr lang="en-US" sz="1250" b="1" dirty="0">
                <a:solidFill>
                  <a:srgbClr val="09090B"/>
                </a:solidFill>
                <a:latin typeface="Arial" pitchFamily="34" charset="0"/>
                <a:ea typeface="Arial" pitchFamily="34" charset="-122"/>
                <a:cs typeface="Arial" pitchFamily="34" charset="-120"/>
              </a:rPr>
              <a:t>Circuito de firma electrónica</a:t>
            </a:r>
            <a:endParaRPr lang="en-US" sz="1250" dirty="0"/>
          </a:p>
        </p:txBody>
      </p:sp>
      <p:sp>
        <p:nvSpPr>
          <p:cNvPr id="25" name="Text 23"/>
          <p:cNvSpPr/>
          <p:nvPr/>
        </p:nvSpPr>
        <p:spPr>
          <a:xfrm>
            <a:off x="4529023" y="4846320"/>
            <a:ext cx="3102559" cy="786384"/>
          </a:xfrm>
          <a:prstGeom prst="rect">
            <a:avLst/>
          </a:prstGeom>
          <a:noFill/>
          <a:ln/>
        </p:spPr>
        <p:txBody>
          <a:bodyPr wrap="square" lIns="0" tIns="0" rIns="0" bIns="0" rtlCol="0" anchor="t"/>
          <a:lstStyle/>
          <a:p>
            <a:pPr indent="0" marL="0">
              <a:lnSpc>
                <a:spcPct val="112000"/>
              </a:lnSpc>
              <a:buNone/>
            </a:pPr>
            <a:r>
              <a:rPr lang="en-US" sz="1100" dirty="0">
                <a:solidFill>
                  <a:srgbClr val="09090B"/>
                </a:solidFill>
                <a:latin typeface="Arial" pitchFamily="34" charset="0"/>
                <a:ea typeface="Arial" pitchFamily="34" charset="-122"/>
                <a:cs typeface="Arial" pitchFamily="34" charset="-120"/>
              </a:rPr>
              <a:t>Lotes, orden entre autoridades y verificación al recibir</a:t>
            </a:r>
            <a:endParaRPr lang="en-US" sz="1100" dirty="0"/>
          </a:p>
        </p:txBody>
      </p:sp>
      <p:sp>
        <p:nvSpPr>
          <p:cNvPr id="26" name="Shape 24"/>
          <p:cNvSpPr/>
          <p:nvPr/>
        </p:nvSpPr>
        <p:spPr>
          <a:xfrm>
            <a:off x="8107070" y="3977640"/>
            <a:ext cx="3504895" cy="1783080"/>
          </a:xfrm>
          <a:prstGeom prst="roundRect">
            <a:avLst>
              <a:gd name="adj" fmla="val 3590"/>
            </a:avLst>
          </a:prstGeom>
          <a:solidFill>
            <a:srgbClr val="F7F7F8"/>
          </a:solidFill>
          <a:ln w="12700">
            <a:solidFill>
              <a:srgbClr val="E4E4E7"/>
            </a:solidFill>
            <a:prstDash val="solid"/>
          </a:ln>
        </p:spPr>
      </p:sp>
      <p:sp>
        <p:nvSpPr>
          <p:cNvPr id="27" name="Text 25"/>
          <p:cNvSpPr/>
          <p:nvPr/>
        </p:nvSpPr>
        <p:spPr>
          <a:xfrm>
            <a:off x="8308238" y="4123944"/>
            <a:ext cx="3102559" cy="201168"/>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ITERACIÓN 6</a:t>
            </a:r>
            <a:endParaRPr lang="en-US" sz="900" dirty="0"/>
          </a:p>
        </p:txBody>
      </p:sp>
      <p:sp>
        <p:nvSpPr>
          <p:cNvPr id="28" name="Text 26"/>
          <p:cNvSpPr/>
          <p:nvPr/>
        </p:nvSpPr>
        <p:spPr>
          <a:xfrm>
            <a:off x="8308238" y="4370832"/>
            <a:ext cx="3102559" cy="420624"/>
          </a:xfrm>
          <a:prstGeom prst="rect">
            <a:avLst/>
          </a:prstGeom>
          <a:noFill/>
          <a:ln/>
        </p:spPr>
        <p:txBody>
          <a:bodyPr wrap="square" lIns="0" tIns="0" rIns="0" bIns="0" rtlCol="0" anchor="ctr"/>
          <a:lstStyle/>
          <a:p>
            <a:pPr indent="0" marL="0">
              <a:buNone/>
            </a:pPr>
            <a:r>
              <a:rPr lang="en-US" sz="1250" b="1" dirty="0">
                <a:solidFill>
                  <a:srgbClr val="09090B"/>
                </a:solidFill>
                <a:latin typeface="Arial" pitchFamily="34" charset="0"/>
                <a:ea typeface="Arial" pitchFamily="34" charset="-122"/>
                <a:cs typeface="Arial" pitchFamily="34" charset="-120"/>
              </a:rPr>
              <a:t>Empaquetado y entrega</a:t>
            </a:r>
            <a:endParaRPr lang="en-US" sz="1250" dirty="0"/>
          </a:p>
        </p:txBody>
      </p:sp>
      <p:sp>
        <p:nvSpPr>
          <p:cNvPr id="29" name="Text 27"/>
          <p:cNvSpPr/>
          <p:nvPr/>
        </p:nvSpPr>
        <p:spPr>
          <a:xfrm>
            <a:off x="8308238" y="4846320"/>
            <a:ext cx="3102559" cy="786384"/>
          </a:xfrm>
          <a:prstGeom prst="rect">
            <a:avLst/>
          </a:prstGeom>
          <a:noFill/>
          <a:ln/>
        </p:spPr>
        <p:txBody>
          <a:bodyPr wrap="square" lIns="0" tIns="0" rIns="0" bIns="0" rtlCol="0" anchor="t"/>
          <a:lstStyle/>
          <a:p>
            <a:pPr indent="0" marL="0">
              <a:lnSpc>
                <a:spcPct val="112000"/>
              </a:lnSpc>
              <a:buNone/>
            </a:pPr>
            <a:r>
              <a:rPr lang="en-US" sz="1100" dirty="0">
                <a:solidFill>
                  <a:srgbClr val="09090B"/>
                </a:solidFill>
                <a:latin typeface="Arial" pitchFamily="34" charset="0"/>
                <a:ea typeface="Arial" pitchFamily="34" charset="-122"/>
                <a:cs typeface="Arial" pitchFamily="34" charset="-120"/>
              </a:rPr>
              <a:t>Contenerización completa y procesamiento por colas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19456"/>
          </a:xfrm>
          <a:prstGeom prst="rect">
            <a:avLst/>
          </a:prstGeom>
          <a:noFill/>
          <a:ln/>
        </p:spPr>
        <p:txBody>
          <a:bodyPr wrap="square" lIns="0" tIns="0" rIns="0" bIns="0" rtlCol="0" anchor="ctr"/>
          <a:lstStyle/>
          <a:p>
            <a:pPr indent="0" marL="0">
              <a:buNone/>
            </a:pPr>
            <a:r>
              <a:rPr lang="en-US" sz="1000" b="1" spc="140" kern="0" dirty="0">
                <a:solidFill>
                  <a:srgbClr val="2563EB"/>
                </a:solidFill>
                <a:latin typeface="Arial" pitchFamily="34" charset="0"/>
                <a:ea typeface="Arial" pitchFamily="34" charset="-122"/>
                <a:cs typeface="Arial" pitchFamily="34" charset="-120"/>
              </a:rPr>
              <a:t>CAPÍTULO IV · ARQUITECTURA DEL SISTEMA</a:t>
            </a:r>
            <a:endParaRPr lang="en-US" sz="1000" dirty="0"/>
          </a:p>
        </p:txBody>
      </p:sp>
      <p:sp>
        <p:nvSpPr>
          <p:cNvPr id="3" name="Text 1"/>
          <p:cNvSpPr/>
          <p:nvPr/>
        </p:nvSpPr>
        <p:spPr>
          <a:xfrm>
            <a:off x="548640" y="640080"/>
            <a:ext cx="11064240" cy="566928"/>
          </a:xfrm>
          <a:prstGeom prst="rect">
            <a:avLst/>
          </a:prstGeom>
          <a:noFill/>
          <a:ln/>
        </p:spPr>
        <p:txBody>
          <a:bodyPr wrap="square" lIns="0" tIns="0" rIns="0" bIns="0" rtlCol="0" anchor="t"/>
          <a:lstStyle/>
          <a:p>
            <a:pPr indent="0" marL="0">
              <a:buNone/>
            </a:pPr>
            <a:r>
              <a:rPr lang="en-US" sz="3000" b="1" dirty="0">
                <a:solidFill>
                  <a:srgbClr val="09090B"/>
                </a:solidFill>
                <a:latin typeface="Arial" pitchFamily="34" charset="0"/>
                <a:ea typeface="Arial" pitchFamily="34" charset="-122"/>
                <a:cs typeface="Arial" pitchFamily="34" charset="-120"/>
              </a:rPr>
              <a:t>Cinco niveles, cada uno elegido por comparación</a:t>
            </a:r>
            <a:endParaRPr lang="en-US" sz="3000" dirty="0"/>
          </a:p>
        </p:txBody>
      </p:sp>
      <p:sp>
        <p:nvSpPr>
          <p:cNvPr id="4" name="Text 2"/>
          <p:cNvSpPr/>
          <p:nvPr/>
        </p:nvSpPr>
        <p:spPr>
          <a:xfrm>
            <a:off x="11064240" y="6510528"/>
            <a:ext cx="548640" cy="256032"/>
          </a:xfrm>
          <a:prstGeom prst="rect">
            <a:avLst/>
          </a:prstGeom>
          <a:noFill/>
          <a:ln/>
        </p:spPr>
        <p:txBody>
          <a:bodyPr wrap="square" lIns="0" tIns="0" rIns="0" bIns="0" rtlCol="0" anchor="ctr"/>
          <a:lstStyle/>
          <a:p>
            <a:pPr algn="r" indent="0" marL="0">
              <a:buNone/>
            </a:pPr>
            <a:r>
              <a:rPr lang="en-US" sz="1000" dirty="0">
                <a:solidFill>
                  <a:srgbClr val="6C6C75"/>
                </a:solidFill>
                <a:latin typeface="Arial" pitchFamily="34" charset="0"/>
                <a:ea typeface="Arial" pitchFamily="34" charset="-122"/>
                <a:cs typeface="Arial" pitchFamily="34" charset="-120"/>
              </a:rPr>
              <a:t>13</a:t>
            </a:r>
            <a:endParaRPr lang="en-US" sz="1000" dirty="0"/>
          </a:p>
        </p:txBody>
      </p:sp>
      <p:sp>
        <p:nvSpPr>
          <p:cNvPr id="5" name="Shape 3"/>
          <p:cNvSpPr/>
          <p:nvPr/>
        </p:nvSpPr>
        <p:spPr>
          <a:xfrm>
            <a:off x="548640" y="1463040"/>
            <a:ext cx="11064240" cy="877824"/>
          </a:xfrm>
          <a:prstGeom prst="roundRect">
            <a:avLst>
              <a:gd name="adj" fmla="val 6250"/>
            </a:avLst>
          </a:prstGeom>
          <a:solidFill>
            <a:srgbClr val="F7F7F8"/>
          </a:solidFill>
          <a:ln w="12700">
            <a:solidFill>
              <a:srgbClr val="E4E4E7"/>
            </a:solidFill>
            <a:prstDash val="solid"/>
          </a:ln>
        </p:spPr>
      </p:sp>
      <p:sp>
        <p:nvSpPr>
          <p:cNvPr id="6" name="Shape 4"/>
          <p:cNvSpPr/>
          <p:nvPr/>
        </p:nvSpPr>
        <p:spPr>
          <a:xfrm>
            <a:off x="731520" y="1700784"/>
            <a:ext cx="402336" cy="402336"/>
          </a:xfrm>
          <a:prstGeom prst="ellipse">
            <a:avLst/>
          </a:prstGeom>
          <a:solidFill>
            <a:srgbClr val="2563EB"/>
          </a:solidFill>
          <a:ln w="12700">
            <a:solidFill>
              <a:srgbClr val="2563EB"/>
            </a:solidFill>
            <a:prstDash val="solid"/>
          </a:ln>
        </p:spPr>
      </p:sp>
      <p:sp>
        <p:nvSpPr>
          <p:cNvPr id="7" name="Text 5"/>
          <p:cNvSpPr/>
          <p:nvPr/>
        </p:nvSpPr>
        <p:spPr>
          <a:xfrm>
            <a:off x="731520" y="17007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1280160" y="1618488"/>
            <a:ext cx="1920240" cy="256032"/>
          </a:xfrm>
          <a:prstGeom prst="rect">
            <a:avLst/>
          </a:prstGeom>
          <a:noFill/>
          <a:ln/>
        </p:spPr>
        <p:txBody>
          <a:bodyPr wrap="square" lIns="0" tIns="0" rIns="0" bIns="0" rtlCol="0" anchor="ctr"/>
          <a:lstStyle/>
          <a:p>
            <a:pPr indent="0" marL="0">
              <a:buNone/>
            </a:pPr>
            <a:r>
              <a:rPr lang="en-US" sz="1250" b="1" dirty="0">
                <a:solidFill>
                  <a:srgbClr val="09090B"/>
                </a:solidFill>
                <a:latin typeface="Arial" pitchFamily="34" charset="0"/>
                <a:ea typeface="Arial" pitchFamily="34" charset="-122"/>
                <a:cs typeface="Arial" pitchFamily="34" charset="-120"/>
              </a:rPr>
              <a:t>Cliente</a:t>
            </a:r>
            <a:endParaRPr lang="en-US" sz="1250" dirty="0"/>
          </a:p>
        </p:txBody>
      </p:sp>
      <p:sp>
        <p:nvSpPr>
          <p:cNvPr id="9" name="Text 7"/>
          <p:cNvSpPr/>
          <p:nvPr/>
        </p:nvSpPr>
        <p:spPr>
          <a:xfrm>
            <a:off x="1280160" y="1920240"/>
            <a:ext cx="4206240" cy="310896"/>
          </a:xfrm>
          <a:prstGeom prst="rect">
            <a:avLst/>
          </a:prstGeom>
          <a:noFill/>
          <a:ln/>
        </p:spPr>
        <p:txBody>
          <a:bodyPr wrap="square" lIns="0" tIns="0" rIns="0" bIns="0" rtlCol="0" anchor="ctr"/>
          <a:lstStyle/>
          <a:p>
            <a:pPr indent="0" marL="0">
              <a:buNone/>
            </a:pPr>
            <a:r>
              <a:rPr lang="en-US" sz="1050" dirty="0">
                <a:solidFill>
                  <a:srgbClr val="2563EB"/>
                </a:solidFill>
                <a:latin typeface="Arial" pitchFamily="34" charset="0"/>
                <a:ea typeface="Arial" pitchFamily="34" charset="-122"/>
                <a:cs typeface="Arial" pitchFamily="34" charset="-120"/>
              </a:rPr>
              <a:t>Next.js 14 · React 18 · Tailwind · React Query · React Konva</a:t>
            </a:r>
            <a:endParaRPr lang="en-US" sz="1050" dirty="0"/>
          </a:p>
        </p:txBody>
      </p:sp>
      <p:sp>
        <p:nvSpPr>
          <p:cNvPr id="10" name="Text 8"/>
          <p:cNvSpPr/>
          <p:nvPr/>
        </p:nvSpPr>
        <p:spPr>
          <a:xfrm>
            <a:off x="5715000" y="1655064"/>
            <a:ext cx="5669280" cy="530352"/>
          </a:xfrm>
          <a:prstGeom prst="rect">
            <a:avLst/>
          </a:prstGeom>
          <a:noFill/>
          <a:ln/>
        </p:spPr>
        <p:txBody>
          <a:bodyPr wrap="square" lIns="0" tIns="0" rIns="0" bIns="0" rtlCol="0" anchor="ctr"/>
          <a:lstStyle/>
          <a:p>
            <a:pPr indent="0" marL="0">
              <a:lnSpc>
                <a:spcPct val="110000"/>
              </a:lnSpc>
              <a:buNone/>
            </a:pPr>
            <a:r>
              <a:rPr lang="en-US" sz="1100" dirty="0">
                <a:solidFill>
                  <a:srgbClr val="6C6C75"/>
                </a:solidFill>
                <a:latin typeface="Arial" pitchFamily="34" charset="0"/>
                <a:ea typeface="Arial" pitchFamily="34" charset="-122"/>
                <a:cs typeface="Arial" pitchFamily="34" charset="-120"/>
              </a:rPr>
              <a:t>Renderizado en servidor y caché en cliente; Konva sostiene el editor visual de certificados</a:t>
            </a:r>
            <a:endParaRPr lang="en-US" sz="1100" dirty="0"/>
          </a:p>
        </p:txBody>
      </p:sp>
      <p:sp>
        <p:nvSpPr>
          <p:cNvPr id="11" name="Shape 9"/>
          <p:cNvSpPr/>
          <p:nvPr/>
        </p:nvSpPr>
        <p:spPr>
          <a:xfrm>
            <a:off x="548640" y="2427732"/>
            <a:ext cx="11064240" cy="877824"/>
          </a:xfrm>
          <a:prstGeom prst="roundRect">
            <a:avLst>
              <a:gd name="adj" fmla="val 6250"/>
            </a:avLst>
          </a:prstGeom>
          <a:solidFill>
            <a:srgbClr val="FFFFFF"/>
          </a:solidFill>
          <a:ln w="12700">
            <a:solidFill>
              <a:srgbClr val="E4E4E7"/>
            </a:solidFill>
            <a:prstDash val="solid"/>
          </a:ln>
        </p:spPr>
      </p:sp>
      <p:sp>
        <p:nvSpPr>
          <p:cNvPr id="12" name="Shape 10"/>
          <p:cNvSpPr/>
          <p:nvPr/>
        </p:nvSpPr>
        <p:spPr>
          <a:xfrm>
            <a:off x="731520" y="2665476"/>
            <a:ext cx="402336" cy="402336"/>
          </a:xfrm>
          <a:prstGeom prst="ellipse">
            <a:avLst/>
          </a:prstGeom>
          <a:solidFill>
            <a:srgbClr val="2563EB"/>
          </a:solidFill>
          <a:ln w="12700">
            <a:solidFill>
              <a:srgbClr val="2563EB"/>
            </a:solidFill>
            <a:prstDash val="solid"/>
          </a:ln>
        </p:spPr>
      </p:sp>
      <p:sp>
        <p:nvSpPr>
          <p:cNvPr id="13" name="Text 11"/>
          <p:cNvSpPr/>
          <p:nvPr/>
        </p:nvSpPr>
        <p:spPr>
          <a:xfrm>
            <a:off x="731520" y="26654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2"/>
          <p:cNvSpPr/>
          <p:nvPr/>
        </p:nvSpPr>
        <p:spPr>
          <a:xfrm>
            <a:off x="1280160" y="2583180"/>
            <a:ext cx="1920240" cy="256032"/>
          </a:xfrm>
          <a:prstGeom prst="rect">
            <a:avLst/>
          </a:prstGeom>
          <a:noFill/>
          <a:ln/>
        </p:spPr>
        <p:txBody>
          <a:bodyPr wrap="square" lIns="0" tIns="0" rIns="0" bIns="0" rtlCol="0" anchor="ctr"/>
          <a:lstStyle/>
          <a:p>
            <a:pPr indent="0" marL="0">
              <a:buNone/>
            </a:pPr>
            <a:r>
              <a:rPr lang="en-US" sz="1250" b="1" dirty="0">
                <a:solidFill>
                  <a:srgbClr val="09090B"/>
                </a:solidFill>
                <a:latin typeface="Arial" pitchFamily="34" charset="0"/>
                <a:ea typeface="Arial" pitchFamily="34" charset="-122"/>
                <a:cs typeface="Arial" pitchFamily="34" charset="-120"/>
              </a:rPr>
              <a:t>Lógica de negocio</a:t>
            </a:r>
            <a:endParaRPr lang="en-US" sz="1250" dirty="0"/>
          </a:p>
        </p:txBody>
      </p:sp>
      <p:sp>
        <p:nvSpPr>
          <p:cNvPr id="15" name="Text 13"/>
          <p:cNvSpPr/>
          <p:nvPr/>
        </p:nvSpPr>
        <p:spPr>
          <a:xfrm>
            <a:off x="1280160" y="2884932"/>
            <a:ext cx="4206240" cy="310896"/>
          </a:xfrm>
          <a:prstGeom prst="rect">
            <a:avLst/>
          </a:prstGeom>
          <a:noFill/>
          <a:ln/>
        </p:spPr>
        <p:txBody>
          <a:bodyPr wrap="square" lIns="0" tIns="0" rIns="0" bIns="0" rtlCol="0" anchor="ctr"/>
          <a:lstStyle/>
          <a:p>
            <a:pPr indent="0" marL="0">
              <a:buNone/>
            </a:pPr>
            <a:r>
              <a:rPr lang="en-US" sz="1050" dirty="0">
                <a:solidFill>
                  <a:srgbClr val="2563EB"/>
                </a:solidFill>
                <a:latin typeface="Arial" pitchFamily="34" charset="0"/>
                <a:ea typeface="Arial" pitchFamily="34" charset="-122"/>
                <a:cs typeface="Arial" pitchFamily="34" charset="-120"/>
              </a:rPr>
              <a:t>NestJS 10 · JWT · Prisma ORM 5</a:t>
            </a:r>
            <a:endParaRPr lang="en-US" sz="1050" dirty="0"/>
          </a:p>
        </p:txBody>
      </p:sp>
      <p:sp>
        <p:nvSpPr>
          <p:cNvPr id="16" name="Text 14"/>
          <p:cNvSpPr/>
          <p:nvPr/>
        </p:nvSpPr>
        <p:spPr>
          <a:xfrm>
            <a:off x="5715000" y="2619756"/>
            <a:ext cx="5669280" cy="530352"/>
          </a:xfrm>
          <a:prstGeom prst="rect">
            <a:avLst/>
          </a:prstGeom>
          <a:noFill/>
          <a:ln/>
        </p:spPr>
        <p:txBody>
          <a:bodyPr wrap="square" lIns="0" tIns="0" rIns="0" bIns="0" rtlCol="0" anchor="ctr"/>
          <a:lstStyle/>
          <a:p>
            <a:pPr indent="0" marL="0">
              <a:lnSpc>
                <a:spcPct val="110000"/>
              </a:lnSpc>
              <a:buNone/>
            </a:pPr>
            <a:r>
              <a:rPr lang="en-US" sz="1100" dirty="0">
                <a:solidFill>
                  <a:srgbClr val="6C6C75"/>
                </a:solidFill>
                <a:latin typeface="Arial" pitchFamily="34" charset="0"/>
                <a:ea typeface="Arial" pitchFamily="34" charset="-122"/>
                <a:cs typeface="Arial" pitchFamily="34" charset="-120"/>
              </a:rPr>
              <a:t>Impone una estructura por dominios que mantiene ordenada la lógica conforme el sistema crece</a:t>
            </a:r>
            <a:endParaRPr lang="en-US" sz="1100" dirty="0"/>
          </a:p>
        </p:txBody>
      </p:sp>
      <p:sp>
        <p:nvSpPr>
          <p:cNvPr id="17" name="Shape 15"/>
          <p:cNvSpPr/>
          <p:nvPr/>
        </p:nvSpPr>
        <p:spPr>
          <a:xfrm>
            <a:off x="548640" y="3392424"/>
            <a:ext cx="11064240" cy="877824"/>
          </a:xfrm>
          <a:prstGeom prst="roundRect">
            <a:avLst>
              <a:gd name="adj" fmla="val 6250"/>
            </a:avLst>
          </a:prstGeom>
          <a:solidFill>
            <a:srgbClr val="F7F7F8"/>
          </a:solidFill>
          <a:ln w="12700">
            <a:solidFill>
              <a:srgbClr val="E4E4E7"/>
            </a:solidFill>
            <a:prstDash val="solid"/>
          </a:ln>
        </p:spPr>
      </p:sp>
      <p:sp>
        <p:nvSpPr>
          <p:cNvPr id="18" name="Shape 16"/>
          <p:cNvSpPr/>
          <p:nvPr/>
        </p:nvSpPr>
        <p:spPr>
          <a:xfrm>
            <a:off x="731520" y="3630168"/>
            <a:ext cx="402336" cy="402336"/>
          </a:xfrm>
          <a:prstGeom prst="ellipse">
            <a:avLst/>
          </a:prstGeom>
          <a:solidFill>
            <a:srgbClr val="2563EB"/>
          </a:solidFill>
          <a:ln w="12700">
            <a:solidFill>
              <a:srgbClr val="2563EB"/>
            </a:solidFill>
            <a:prstDash val="solid"/>
          </a:ln>
        </p:spPr>
      </p:sp>
      <p:sp>
        <p:nvSpPr>
          <p:cNvPr id="19" name="Text 17"/>
          <p:cNvSpPr/>
          <p:nvPr/>
        </p:nvSpPr>
        <p:spPr>
          <a:xfrm>
            <a:off x="731520" y="36301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8"/>
          <p:cNvSpPr/>
          <p:nvPr/>
        </p:nvSpPr>
        <p:spPr>
          <a:xfrm>
            <a:off x="1280160" y="3547872"/>
            <a:ext cx="1920240" cy="256032"/>
          </a:xfrm>
          <a:prstGeom prst="rect">
            <a:avLst/>
          </a:prstGeom>
          <a:noFill/>
          <a:ln/>
        </p:spPr>
        <p:txBody>
          <a:bodyPr wrap="square" lIns="0" tIns="0" rIns="0" bIns="0" rtlCol="0" anchor="ctr"/>
          <a:lstStyle/>
          <a:p>
            <a:pPr indent="0" marL="0">
              <a:buNone/>
            </a:pPr>
            <a:r>
              <a:rPr lang="en-US" sz="1250" b="1" dirty="0">
                <a:solidFill>
                  <a:srgbClr val="09090B"/>
                </a:solidFill>
                <a:latin typeface="Arial" pitchFamily="34" charset="0"/>
                <a:ea typeface="Arial" pitchFamily="34" charset="-122"/>
                <a:cs typeface="Arial" pitchFamily="34" charset="-120"/>
              </a:rPr>
              <a:t>Persistencia</a:t>
            </a:r>
            <a:endParaRPr lang="en-US" sz="1250" dirty="0"/>
          </a:p>
        </p:txBody>
      </p:sp>
      <p:sp>
        <p:nvSpPr>
          <p:cNvPr id="21" name="Text 19"/>
          <p:cNvSpPr/>
          <p:nvPr/>
        </p:nvSpPr>
        <p:spPr>
          <a:xfrm>
            <a:off x="1280160" y="3849624"/>
            <a:ext cx="4206240" cy="310896"/>
          </a:xfrm>
          <a:prstGeom prst="rect">
            <a:avLst/>
          </a:prstGeom>
          <a:noFill/>
          <a:ln/>
        </p:spPr>
        <p:txBody>
          <a:bodyPr wrap="square" lIns="0" tIns="0" rIns="0" bIns="0" rtlCol="0" anchor="ctr"/>
          <a:lstStyle/>
          <a:p>
            <a:pPr indent="0" marL="0">
              <a:buNone/>
            </a:pPr>
            <a:r>
              <a:rPr lang="en-US" sz="1050" dirty="0">
                <a:solidFill>
                  <a:srgbClr val="2563EB"/>
                </a:solidFill>
                <a:latin typeface="Arial" pitchFamily="34" charset="0"/>
                <a:ea typeface="Arial" pitchFamily="34" charset="-122"/>
                <a:cs typeface="Arial" pitchFamily="34" charset="-120"/>
              </a:rPr>
              <a:t>PostgreSQL 15</a:t>
            </a:r>
            <a:endParaRPr lang="en-US" sz="1050" dirty="0"/>
          </a:p>
        </p:txBody>
      </p:sp>
      <p:sp>
        <p:nvSpPr>
          <p:cNvPr id="22" name="Text 20"/>
          <p:cNvSpPr/>
          <p:nvPr/>
        </p:nvSpPr>
        <p:spPr>
          <a:xfrm>
            <a:off x="5715000" y="3584448"/>
            <a:ext cx="5669280" cy="530352"/>
          </a:xfrm>
          <a:prstGeom prst="rect">
            <a:avLst/>
          </a:prstGeom>
          <a:noFill/>
          <a:ln/>
        </p:spPr>
        <p:txBody>
          <a:bodyPr wrap="square" lIns="0" tIns="0" rIns="0" bIns="0" rtlCol="0" anchor="ctr"/>
          <a:lstStyle/>
          <a:p>
            <a:pPr indent="0" marL="0">
              <a:lnSpc>
                <a:spcPct val="110000"/>
              </a:lnSpc>
              <a:buNone/>
            </a:pPr>
            <a:r>
              <a:rPr lang="en-US" sz="1100" dirty="0">
                <a:solidFill>
                  <a:srgbClr val="6C6C75"/>
                </a:solidFill>
                <a:latin typeface="Arial" pitchFamily="34" charset="0"/>
                <a:ea typeface="Arial" pitchFamily="34" charset="-122"/>
                <a:cs typeface="Arial" pitchFamily="34" charset="-120"/>
              </a:rPr>
              <a:t>Integridad transaccional garantizada por el motor y JSON nativo para los diseños de plantilla</a:t>
            </a:r>
            <a:endParaRPr lang="en-US" sz="1100" dirty="0"/>
          </a:p>
        </p:txBody>
      </p:sp>
      <p:sp>
        <p:nvSpPr>
          <p:cNvPr id="23" name="Shape 21"/>
          <p:cNvSpPr/>
          <p:nvPr/>
        </p:nvSpPr>
        <p:spPr>
          <a:xfrm>
            <a:off x="548640" y="4357116"/>
            <a:ext cx="11064240" cy="877824"/>
          </a:xfrm>
          <a:prstGeom prst="roundRect">
            <a:avLst>
              <a:gd name="adj" fmla="val 6250"/>
            </a:avLst>
          </a:prstGeom>
          <a:solidFill>
            <a:srgbClr val="FFFFFF"/>
          </a:solidFill>
          <a:ln w="12700">
            <a:solidFill>
              <a:srgbClr val="E4E4E7"/>
            </a:solidFill>
            <a:prstDash val="solid"/>
          </a:ln>
        </p:spPr>
      </p:sp>
      <p:sp>
        <p:nvSpPr>
          <p:cNvPr id="24" name="Shape 22"/>
          <p:cNvSpPr/>
          <p:nvPr/>
        </p:nvSpPr>
        <p:spPr>
          <a:xfrm>
            <a:off x="731520" y="4594860"/>
            <a:ext cx="402336" cy="402336"/>
          </a:xfrm>
          <a:prstGeom prst="ellipse">
            <a:avLst/>
          </a:prstGeom>
          <a:solidFill>
            <a:srgbClr val="2563EB"/>
          </a:solidFill>
          <a:ln w="12700">
            <a:solidFill>
              <a:srgbClr val="2563EB"/>
            </a:solidFill>
            <a:prstDash val="solid"/>
          </a:ln>
        </p:spPr>
      </p:sp>
      <p:sp>
        <p:nvSpPr>
          <p:cNvPr id="25" name="Text 23"/>
          <p:cNvSpPr/>
          <p:nvPr/>
        </p:nvSpPr>
        <p:spPr>
          <a:xfrm>
            <a:off x="731520" y="45948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6" name="Text 24"/>
          <p:cNvSpPr/>
          <p:nvPr/>
        </p:nvSpPr>
        <p:spPr>
          <a:xfrm>
            <a:off x="1280160" y="4512564"/>
            <a:ext cx="1920240" cy="256032"/>
          </a:xfrm>
          <a:prstGeom prst="rect">
            <a:avLst/>
          </a:prstGeom>
          <a:noFill/>
          <a:ln/>
        </p:spPr>
        <p:txBody>
          <a:bodyPr wrap="square" lIns="0" tIns="0" rIns="0" bIns="0" rtlCol="0" anchor="ctr"/>
          <a:lstStyle/>
          <a:p>
            <a:pPr indent="0" marL="0">
              <a:buNone/>
            </a:pPr>
            <a:r>
              <a:rPr lang="en-US" sz="1250" b="1" dirty="0">
                <a:solidFill>
                  <a:srgbClr val="09090B"/>
                </a:solidFill>
                <a:latin typeface="Arial" pitchFamily="34" charset="0"/>
                <a:ea typeface="Arial" pitchFamily="34" charset="-122"/>
                <a:cs typeface="Arial" pitchFamily="34" charset="-120"/>
              </a:rPr>
              <a:t>Archivos y colas</a:t>
            </a:r>
            <a:endParaRPr lang="en-US" sz="1250" dirty="0"/>
          </a:p>
        </p:txBody>
      </p:sp>
      <p:sp>
        <p:nvSpPr>
          <p:cNvPr id="27" name="Text 25"/>
          <p:cNvSpPr/>
          <p:nvPr/>
        </p:nvSpPr>
        <p:spPr>
          <a:xfrm>
            <a:off x="1280160" y="4814316"/>
            <a:ext cx="4206240" cy="310896"/>
          </a:xfrm>
          <a:prstGeom prst="rect">
            <a:avLst/>
          </a:prstGeom>
          <a:noFill/>
          <a:ln/>
        </p:spPr>
        <p:txBody>
          <a:bodyPr wrap="square" lIns="0" tIns="0" rIns="0" bIns="0" rtlCol="0" anchor="ctr"/>
          <a:lstStyle/>
          <a:p>
            <a:pPr indent="0" marL="0">
              <a:buNone/>
            </a:pPr>
            <a:r>
              <a:rPr lang="en-US" sz="1050" dirty="0">
                <a:solidFill>
                  <a:srgbClr val="2563EB"/>
                </a:solidFill>
                <a:latin typeface="Arial" pitchFamily="34" charset="0"/>
                <a:ea typeface="Arial" pitchFamily="34" charset="-122"/>
                <a:cs typeface="Arial" pitchFamily="34" charset="-120"/>
              </a:rPr>
              <a:t>MinIO (S3) · Redis 7 · BullMQ</a:t>
            </a:r>
            <a:endParaRPr lang="en-US" sz="1050" dirty="0"/>
          </a:p>
        </p:txBody>
      </p:sp>
      <p:sp>
        <p:nvSpPr>
          <p:cNvPr id="28" name="Text 26"/>
          <p:cNvSpPr/>
          <p:nvPr/>
        </p:nvSpPr>
        <p:spPr>
          <a:xfrm>
            <a:off x="5715000" y="4549140"/>
            <a:ext cx="5669280" cy="530352"/>
          </a:xfrm>
          <a:prstGeom prst="rect">
            <a:avLst/>
          </a:prstGeom>
          <a:noFill/>
          <a:ln/>
        </p:spPr>
        <p:txBody>
          <a:bodyPr wrap="square" lIns="0" tIns="0" rIns="0" bIns="0" rtlCol="0" anchor="ctr"/>
          <a:lstStyle/>
          <a:p>
            <a:pPr indent="0" marL="0">
              <a:lnSpc>
                <a:spcPct val="110000"/>
              </a:lnSpc>
              <a:buNone/>
            </a:pPr>
            <a:r>
              <a:rPr lang="en-US" sz="1100" dirty="0">
                <a:solidFill>
                  <a:srgbClr val="6C6C75"/>
                </a:solidFill>
                <a:latin typeface="Arial" pitchFamily="34" charset="0"/>
                <a:ea typeface="Arial" pitchFamily="34" charset="-122"/>
                <a:cs typeface="Arial" pitchFamily="34" charset="-120"/>
              </a:rPr>
              <a:t>Los binarios no residen en el disco de la base; la generación en lote no bloquea la interfaz</a:t>
            </a:r>
            <a:endParaRPr lang="en-US" sz="1100" dirty="0"/>
          </a:p>
        </p:txBody>
      </p:sp>
      <p:sp>
        <p:nvSpPr>
          <p:cNvPr id="29" name="Shape 27"/>
          <p:cNvSpPr/>
          <p:nvPr/>
        </p:nvSpPr>
        <p:spPr>
          <a:xfrm>
            <a:off x="548640" y="5321808"/>
            <a:ext cx="11064240" cy="877824"/>
          </a:xfrm>
          <a:prstGeom prst="roundRect">
            <a:avLst>
              <a:gd name="adj" fmla="val 6250"/>
            </a:avLst>
          </a:prstGeom>
          <a:solidFill>
            <a:srgbClr val="F7F7F8"/>
          </a:solidFill>
          <a:ln w="12700">
            <a:solidFill>
              <a:srgbClr val="E4E4E7"/>
            </a:solidFill>
            <a:prstDash val="solid"/>
          </a:ln>
        </p:spPr>
      </p:sp>
      <p:sp>
        <p:nvSpPr>
          <p:cNvPr id="30" name="Shape 28"/>
          <p:cNvSpPr/>
          <p:nvPr/>
        </p:nvSpPr>
        <p:spPr>
          <a:xfrm>
            <a:off x="731520" y="5559552"/>
            <a:ext cx="402336" cy="402336"/>
          </a:xfrm>
          <a:prstGeom prst="ellipse">
            <a:avLst/>
          </a:prstGeom>
          <a:solidFill>
            <a:srgbClr val="2563EB"/>
          </a:solidFill>
          <a:ln w="12700">
            <a:solidFill>
              <a:srgbClr val="2563EB"/>
            </a:solidFill>
            <a:prstDash val="solid"/>
          </a:ln>
        </p:spPr>
      </p:sp>
      <p:sp>
        <p:nvSpPr>
          <p:cNvPr id="31" name="Text 29"/>
          <p:cNvSpPr/>
          <p:nvPr/>
        </p:nvSpPr>
        <p:spPr>
          <a:xfrm>
            <a:off x="731520" y="5559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2" name="Text 30"/>
          <p:cNvSpPr/>
          <p:nvPr/>
        </p:nvSpPr>
        <p:spPr>
          <a:xfrm>
            <a:off x="1280160" y="5477256"/>
            <a:ext cx="1920240" cy="256032"/>
          </a:xfrm>
          <a:prstGeom prst="rect">
            <a:avLst/>
          </a:prstGeom>
          <a:noFill/>
          <a:ln/>
        </p:spPr>
        <p:txBody>
          <a:bodyPr wrap="square" lIns="0" tIns="0" rIns="0" bIns="0" rtlCol="0" anchor="ctr"/>
          <a:lstStyle/>
          <a:p>
            <a:pPr indent="0" marL="0">
              <a:buNone/>
            </a:pPr>
            <a:r>
              <a:rPr lang="en-US" sz="1250" b="1" dirty="0">
                <a:solidFill>
                  <a:srgbClr val="09090B"/>
                </a:solidFill>
                <a:latin typeface="Arial" pitchFamily="34" charset="0"/>
                <a:ea typeface="Arial" pitchFamily="34" charset="-122"/>
                <a:cs typeface="Arial" pitchFamily="34" charset="-120"/>
              </a:rPr>
              <a:t>Motor documental</a:t>
            </a:r>
            <a:endParaRPr lang="en-US" sz="1250" dirty="0"/>
          </a:p>
        </p:txBody>
      </p:sp>
      <p:sp>
        <p:nvSpPr>
          <p:cNvPr id="33" name="Text 31"/>
          <p:cNvSpPr/>
          <p:nvPr/>
        </p:nvSpPr>
        <p:spPr>
          <a:xfrm>
            <a:off x="1280160" y="5779008"/>
            <a:ext cx="4206240" cy="310896"/>
          </a:xfrm>
          <a:prstGeom prst="rect">
            <a:avLst/>
          </a:prstGeom>
          <a:noFill/>
          <a:ln/>
        </p:spPr>
        <p:txBody>
          <a:bodyPr wrap="square" lIns="0" tIns="0" rIns="0" bIns="0" rtlCol="0" anchor="ctr"/>
          <a:lstStyle/>
          <a:p>
            <a:pPr indent="0" marL="0">
              <a:buNone/>
            </a:pPr>
            <a:r>
              <a:rPr lang="en-US" sz="1050" dirty="0">
                <a:solidFill>
                  <a:srgbClr val="2563EB"/>
                </a:solidFill>
                <a:latin typeface="Arial" pitchFamily="34" charset="0"/>
                <a:ea typeface="Arial" pitchFamily="34" charset="-122"/>
                <a:cs typeface="Arial" pitchFamily="34" charset="-120"/>
              </a:rPr>
              <a:t>docxtemplater · LibreOffice headless · pdf-lib</a:t>
            </a:r>
            <a:endParaRPr lang="en-US" sz="1050" dirty="0"/>
          </a:p>
        </p:txBody>
      </p:sp>
      <p:sp>
        <p:nvSpPr>
          <p:cNvPr id="34" name="Text 32"/>
          <p:cNvSpPr/>
          <p:nvPr/>
        </p:nvSpPr>
        <p:spPr>
          <a:xfrm>
            <a:off x="5715000" y="5513832"/>
            <a:ext cx="5669280" cy="530352"/>
          </a:xfrm>
          <a:prstGeom prst="rect">
            <a:avLst/>
          </a:prstGeom>
          <a:noFill/>
          <a:ln/>
        </p:spPr>
        <p:txBody>
          <a:bodyPr wrap="square" lIns="0" tIns="0" rIns="0" bIns="0" rtlCol="0" anchor="ctr"/>
          <a:lstStyle/>
          <a:p>
            <a:pPr indent="0" marL="0">
              <a:lnSpc>
                <a:spcPct val="110000"/>
              </a:lnSpc>
              <a:buNone/>
            </a:pPr>
            <a:r>
              <a:rPr lang="en-US" sz="1100" dirty="0">
                <a:solidFill>
                  <a:srgbClr val="6C6C75"/>
                </a:solidFill>
                <a:latin typeface="Arial" pitchFamily="34" charset="0"/>
                <a:ea typeface="Arial" pitchFamily="34" charset="-122"/>
                <a:cs typeface="Arial" pitchFamily="34" charset="-120"/>
              </a:rPr>
              <a:t>Rellenar Word, convertir a PDF y dibujar por coordenadas son tres problemas distintos</a:t>
            </a:r>
            <a:endParaRPr lang="en-US" sz="1100" dirty="0"/>
          </a:p>
        </p:txBody>
      </p:sp>
      <p:sp>
        <p:nvSpPr>
          <p:cNvPr id="35" name="Text 33"/>
          <p:cNvSpPr/>
          <p:nvPr/>
        </p:nvSpPr>
        <p:spPr>
          <a:xfrm>
            <a:off x="548640" y="6291072"/>
            <a:ext cx="9875520" cy="274320"/>
          </a:xfrm>
          <a:prstGeom prst="rect">
            <a:avLst/>
          </a:prstGeom>
          <a:noFill/>
          <a:ln/>
        </p:spPr>
        <p:txBody>
          <a:bodyPr wrap="square" lIns="0" tIns="0" rIns="0" bIns="0" rtlCol="0" anchor="ctr"/>
          <a:lstStyle/>
          <a:p>
            <a:pPr indent="0" marL="0">
              <a:buNone/>
            </a:pPr>
            <a:r>
              <a:rPr lang="en-US" sz="1050" dirty="0">
                <a:solidFill>
                  <a:srgbClr val="6C6C75"/>
                </a:solidFill>
                <a:latin typeface="Arial" pitchFamily="34" charset="0"/>
                <a:ea typeface="Arial" pitchFamily="34" charset="-122"/>
                <a:cs typeface="Arial" pitchFamily="34" charset="-120"/>
              </a:rPr>
              <a:t>Todo el ecosistema se orquesta con Docker Compose y se levanta con un solo comando.</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19456"/>
          </a:xfrm>
          <a:prstGeom prst="rect">
            <a:avLst/>
          </a:prstGeom>
          <a:noFill/>
          <a:ln/>
        </p:spPr>
        <p:txBody>
          <a:bodyPr wrap="square" lIns="0" tIns="0" rIns="0" bIns="0" rtlCol="0" anchor="ctr"/>
          <a:lstStyle/>
          <a:p>
            <a:pPr indent="0" marL="0">
              <a:buNone/>
            </a:pPr>
            <a:r>
              <a:rPr lang="en-US" sz="1000" b="1" spc="140" kern="0" dirty="0">
                <a:solidFill>
                  <a:srgbClr val="2563EB"/>
                </a:solidFill>
                <a:latin typeface="Arial" pitchFamily="34" charset="0"/>
                <a:ea typeface="Arial" pitchFamily="34" charset="-122"/>
                <a:cs typeface="Arial" pitchFamily="34" charset="-120"/>
              </a:rPr>
              <a:t>CAPÍTULO IV · ITERACIONES 4 Y 5</a:t>
            </a:r>
            <a:endParaRPr lang="en-US" sz="1000" dirty="0"/>
          </a:p>
        </p:txBody>
      </p:sp>
      <p:sp>
        <p:nvSpPr>
          <p:cNvPr id="3" name="Text 1"/>
          <p:cNvSpPr/>
          <p:nvPr/>
        </p:nvSpPr>
        <p:spPr>
          <a:xfrm>
            <a:off x="548640" y="640080"/>
            <a:ext cx="11064240" cy="566928"/>
          </a:xfrm>
          <a:prstGeom prst="rect">
            <a:avLst/>
          </a:prstGeom>
          <a:noFill/>
          <a:ln/>
        </p:spPr>
        <p:txBody>
          <a:bodyPr wrap="square" lIns="0" tIns="0" rIns="0" bIns="0" rtlCol="0" anchor="t"/>
          <a:lstStyle/>
          <a:p>
            <a:pPr indent="0" marL="0">
              <a:buNone/>
            </a:pPr>
            <a:r>
              <a:rPr lang="en-US" sz="3000" b="1" dirty="0">
                <a:solidFill>
                  <a:srgbClr val="09090B"/>
                </a:solidFill>
                <a:latin typeface="Arial" pitchFamily="34" charset="0"/>
                <a:ea typeface="Arial" pitchFamily="34" charset="-122"/>
                <a:cs typeface="Arial" pitchFamily="34" charset="-120"/>
              </a:rPr>
              <a:t>El recorrido del expediente y su firma</a:t>
            </a:r>
            <a:endParaRPr lang="en-US" sz="3000" dirty="0"/>
          </a:p>
        </p:txBody>
      </p:sp>
      <p:sp>
        <p:nvSpPr>
          <p:cNvPr id="4" name="Text 2"/>
          <p:cNvSpPr/>
          <p:nvPr/>
        </p:nvSpPr>
        <p:spPr>
          <a:xfrm>
            <a:off x="11064240" y="6510528"/>
            <a:ext cx="548640" cy="256032"/>
          </a:xfrm>
          <a:prstGeom prst="rect">
            <a:avLst/>
          </a:prstGeom>
          <a:noFill/>
          <a:ln/>
        </p:spPr>
        <p:txBody>
          <a:bodyPr wrap="square" lIns="0" tIns="0" rIns="0" bIns="0" rtlCol="0" anchor="ctr"/>
          <a:lstStyle/>
          <a:p>
            <a:pPr algn="r" indent="0" marL="0">
              <a:buNone/>
            </a:pPr>
            <a:r>
              <a:rPr lang="en-US" sz="1000" dirty="0">
                <a:solidFill>
                  <a:srgbClr val="6C6C75"/>
                </a:solidFill>
                <a:latin typeface="Arial" pitchFamily="34" charset="0"/>
                <a:ea typeface="Arial" pitchFamily="34" charset="-122"/>
                <a:cs typeface="Arial" pitchFamily="34" charset="-120"/>
              </a:rPr>
              <a:t>14</a:t>
            </a:r>
            <a:endParaRPr lang="en-US" sz="1000" dirty="0"/>
          </a:p>
        </p:txBody>
      </p:sp>
      <p:pic>
        <p:nvPicPr>
          <p:cNvPr id="5" name="Image 0" descr="C:\Users\micro\AppData\Local\Temp\claude\C--dev-New-Tesis\dab8f396-e798-4632-b234-7d9b7ccd583c\scratchpad\assets\recorrido.png">    </p:cNvPr>
          <p:cNvPicPr>
            <a:picLocks noChangeAspect="1"/>
          </p:cNvPicPr>
          <p:nvPr/>
        </p:nvPicPr>
        <p:blipFill>
          <a:blip r:embed="rId1"/>
          <a:stretch>
            <a:fillRect/>
          </a:stretch>
        </p:blipFill>
        <p:spPr>
          <a:xfrm>
            <a:off x="548640" y="1371600"/>
            <a:ext cx="11064240" cy="3337560"/>
          </a:xfrm>
          <a:prstGeom prst="rect">
            <a:avLst/>
          </a:prstGeom>
        </p:spPr>
      </p:pic>
      <p:sp>
        <p:nvSpPr>
          <p:cNvPr id="6" name="Shape 3"/>
          <p:cNvSpPr/>
          <p:nvPr/>
        </p:nvSpPr>
        <p:spPr>
          <a:xfrm>
            <a:off x="548640" y="4846320"/>
            <a:ext cx="7132320" cy="1325880"/>
          </a:xfrm>
          <a:prstGeom prst="roundRect">
            <a:avLst>
              <a:gd name="adj" fmla="val 4828"/>
            </a:avLst>
          </a:prstGeom>
          <a:solidFill>
            <a:srgbClr val="F7F7F8"/>
          </a:solidFill>
          <a:ln w="12700">
            <a:solidFill>
              <a:srgbClr val="E4E4E7"/>
            </a:solidFill>
            <a:prstDash val="solid"/>
          </a:ln>
        </p:spPr>
      </p:sp>
      <p:sp>
        <p:nvSpPr>
          <p:cNvPr id="7" name="Text 4"/>
          <p:cNvSpPr/>
          <p:nvPr/>
        </p:nvSpPr>
        <p:spPr>
          <a:xfrm>
            <a:off x="749808" y="4992624"/>
            <a:ext cx="6729984" cy="201168"/>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CIRCUITO DE FIRMA</a:t>
            </a:r>
            <a:endParaRPr lang="en-US" sz="900" dirty="0"/>
          </a:p>
        </p:txBody>
      </p:sp>
      <p:sp>
        <p:nvSpPr>
          <p:cNvPr id="8" name="Text 5"/>
          <p:cNvSpPr/>
          <p:nvPr/>
        </p:nvSpPr>
        <p:spPr>
          <a:xfrm>
            <a:off x="749808" y="5239512"/>
            <a:ext cx="6729984" cy="804672"/>
          </a:xfrm>
          <a:prstGeom prst="rect">
            <a:avLst/>
          </a:prstGeom>
          <a:noFill/>
          <a:ln/>
        </p:spPr>
        <p:txBody>
          <a:bodyPr wrap="square" lIns="0" tIns="0" rIns="0" bIns="0" rtlCol="0" anchor="t"/>
          <a:lstStyle/>
          <a:p>
            <a:pPr indent="0" marL="0">
              <a:lnSpc>
                <a:spcPct val="112000"/>
              </a:lnSpc>
              <a:buNone/>
            </a:pPr>
            <a:r>
              <a:rPr lang="en-US" sz="1100" dirty="0">
                <a:solidFill>
                  <a:srgbClr val="09090B"/>
                </a:solidFill>
                <a:latin typeface="Arial" pitchFamily="34" charset="0"/>
                <a:ea typeface="Arial" pitchFamily="34" charset="-122"/>
                <a:cs typeface="Arial" pitchFamily="34" charset="-120"/>
              </a:rPr>
              <a:t>1.  El coordinador empaqueta los documentos en un lote</a:t>
            </a:r>
            <a:endParaRPr lang="en-US" sz="1100" dirty="0"/>
          </a:p>
          <a:p>
            <a:pPr indent="0" marL="0">
              <a:lnSpc>
                <a:spcPct val="112000"/>
              </a:lnSpc>
              <a:buNone/>
            </a:pPr>
            <a:r>
              <a:rPr lang="en-US" sz="1100" dirty="0">
                <a:solidFill>
                  <a:srgbClr val="09090B"/>
                </a:solidFill>
                <a:latin typeface="Arial" pitchFamily="34" charset="0"/>
                <a:ea typeface="Arial" pitchFamily="34" charset="-122"/>
                <a:cs typeface="Arial" pitchFamily="34" charset="-120"/>
              </a:rPr>
              <a:t>2.  Las autoridades descargan el lote</a:t>
            </a:r>
            <a:endParaRPr lang="en-US" sz="1100" dirty="0"/>
          </a:p>
          <a:p>
            <a:pPr indent="0" marL="0">
              <a:lnSpc>
                <a:spcPct val="112000"/>
              </a:lnSpc>
              <a:buNone/>
            </a:pPr>
            <a:r>
              <a:rPr lang="en-US" sz="1100" dirty="0">
                <a:solidFill>
                  <a:srgbClr val="09090B"/>
                </a:solidFill>
                <a:latin typeface="Arial" pitchFamily="34" charset="0"/>
                <a:ea typeface="Arial" pitchFamily="34" charset="-122"/>
                <a:cs typeface="Arial" pitchFamily="34" charset="-120"/>
              </a:rPr>
              <a:t>3.  Lo suscriben con FirmaEC, aplicativo oficial del MINTEL</a:t>
            </a:r>
            <a:endParaRPr lang="en-US" sz="1100" dirty="0"/>
          </a:p>
          <a:p>
            <a:pPr indent="0" marL="0">
              <a:lnSpc>
                <a:spcPct val="112000"/>
              </a:lnSpc>
              <a:buNone/>
            </a:pPr>
            <a:r>
              <a:rPr lang="en-US" sz="1100" dirty="0">
                <a:solidFill>
                  <a:srgbClr val="09090B"/>
                </a:solidFill>
                <a:latin typeface="Arial" pitchFamily="34" charset="0"/>
                <a:ea typeface="Arial" pitchFamily="34" charset="-122"/>
                <a:cs typeface="Arial" pitchFamily="34" charset="-120"/>
              </a:rPr>
              <a:t>4.  Lo devuelven al sistema, que verifica y libera</a:t>
            </a:r>
            <a:endParaRPr lang="en-US" sz="1100" dirty="0"/>
          </a:p>
        </p:txBody>
      </p:sp>
      <p:sp>
        <p:nvSpPr>
          <p:cNvPr id="9" name="Shape 6"/>
          <p:cNvSpPr/>
          <p:nvPr/>
        </p:nvSpPr>
        <p:spPr>
          <a:xfrm>
            <a:off x="7955280" y="4846320"/>
            <a:ext cx="3657600" cy="1325880"/>
          </a:xfrm>
          <a:prstGeom prst="roundRect">
            <a:avLst>
              <a:gd name="adj" fmla="val 4828"/>
            </a:avLst>
          </a:prstGeom>
          <a:solidFill>
            <a:srgbClr val="FBF2E6"/>
          </a:solidFill>
          <a:ln w="12700">
            <a:solidFill>
              <a:srgbClr val="A95C04"/>
            </a:solidFill>
            <a:prstDash val="solid"/>
          </a:ln>
        </p:spPr>
      </p:sp>
      <p:sp>
        <p:nvSpPr>
          <p:cNvPr id="10" name="Text 7"/>
          <p:cNvSpPr/>
          <p:nvPr/>
        </p:nvSpPr>
        <p:spPr>
          <a:xfrm>
            <a:off x="8156448" y="4992624"/>
            <a:ext cx="3255264" cy="201168"/>
          </a:xfrm>
          <a:prstGeom prst="rect">
            <a:avLst/>
          </a:prstGeom>
          <a:noFill/>
          <a:ln/>
        </p:spPr>
        <p:txBody>
          <a:bodyPr wrap="square" lIns="0" tIns="0" rIns="0" bIns="0" rtlCol="0" anchor="ctr"/>
          <a:lstStyle/>
          <a:p>
            <a:pPr indent="0" marL="0">
              <a:buNone/>
            </a:pPr>
            <a:r>
              <a:rPr lang="en-US" sz="900" b="1" spc="120" kern="0" dirty="0">
                <a:solidFill>
                  <a:srgbClr val="A95C04"/>
                </a:solidFill>
                <a:latin typeface="Arial" pitchFamily="34" charset="0"/>
                <a:ea typeface="Arial" pitchFamily="34" charset="-122"/>
                <a:cs typeface="Arial" pitchFamily="34" charset="-120"/>
              </a:rPr>
              <a:t>DECISIÓN DE DISEÑO</a:t>
            </a:r>
            <a:endParaRPr lang="en-US" sz="900" dirty="0"/>
          </a:p>
        </p:txBody>
      </p:sp>
      <p:sp>
        <p:nvSpPr>
          <p:cNvPr id="11" name="Text 8"/>
          <p:cNvSpPr/>
          <p:nvPr/>
        </p:nvSpPr>
        <p:spPr>
          <a:xfrm>
            <a:off x="8156448" y="5239512"/>
            <a:ext cx="3255264" cy="804672"/>
          </a:xfrm>
          <a:prstGeom prst="rect">
            <a:avLst/>
          </a:prstGeom>
          <a:noFill/>
          <a:ln/>
        </p:spPr>
        <p:txBody>
          <a:bodyPr wrap="square" lIns="0" tIns="0" rIns="0" bIns="0" rtlCol="0" anchor="t"/>
          <a:lstStyle/>
          <a:p>
            <a:pPr indent="0" marL="0">
              <a:lnSpc>
                <a:spcPct val="112000"/>
              </a:lnSpc>
              <a:buNone/>
            </a:pPr>
            <a:r>
              <a:rPr lang="en-US" sz="1100" b="1" dirty="0">
                <a:solidFill>
                  <a:srgbClr val="09090B"/>
                </a:solidFill>
                <a:latin typeface="Arial" pitchFamily="34" charset="0"/>
                <a:ea typeface="Arial" pitchFamily="34" charset="-122"/>
                <a:cs typeface="Arial" pitchFamily="34" charset="-120"/>
              </a:rPr>
              <a:t>El sistema nunca almacena</a:t>
            </a:r>
            <a:endParaRPr lang="en-US" sz="1100" dirty="0"/>
          </a:p>
          <a:p>
            <a:pPr indent="0" marL="0">
              <a:lnSpc>
                <a:spcPct val="112000"/>
              </a:lnSpc>
              <a:buNone/>
            </a:pPr>
            <a:r>
              <a:rPr lang="en-US" sz="1100" dirty="0">
                <a:solidFill>
                  <a:srgbClr val="09090B"/>
                </a:solidFill>
                <a:latin typeface="Arial" pitchFamily="34" charset="0"/>
                <a:ea typeface="Arial" pitchFamily="34" charset="-122"/>
                <a:cs typeface="Arial" pitchFamily="34" charset="-120"/>
              </a:rPr>
              <a:t>el certificado digital de las autoridades. La firma ocurre en el equipo del firmante; UniBridge solo entrega el lote y lo recibe firmado.</a:t>
            </a:r>
            <a:endParaRPr lang="en-US" sz="1100" dirty="0"/>
          </a:p>
        </p:txBody>
      </p:sp>
      <p:sp>
        <p:nvSpPr>
          <p:cNvPr id="12" name="Text 9"/>
          <p:cNvSpPr/>
          <p:nvPr/>
        </p:nvSpPr>
        <p:spPr>
          <a:xfrm>
            <a:off x="548640" y="6272784"/>
            <a:ext cx="9875520" cy="256032"/>
          </a:xfrm>
          <a:prstGeom prst="rect">
            <a:avLst/>
          </a:prstGeom>
          <a:noFill/>
          <a:ln/>
        </p:spPr>
        <p:txBody>
          <a:bodyPr wrap="square" lIns="0" tIns="0" rIns="0" bIns="0" rtlCol="0" anchor="ctr"/>
          <a:lstStyle/>
          <a:p>
            <a:pPr indent="0" marL="0">
              <a:buNone/>
            </a:pPr>
            <a:r>
              <a:rPr lang="en-US" sz="1000" dirty="0">
                <a:solidFill>
                  <a:srgbClr val="6C6C75"/>
                </a:solidFill>
                <a:latin typeface="Arial" pitchFamily="34" charset="0"/>
                <a:ea typeface="Arial" pitchFamily="34" charset="-122"/>
                <a:cs typeface="Arial" pitchFamily="34" charset="-120"/>
              </a:rPr>
              <a:t>Cada documento recibe un código único y correlativo por período. Ningún documento alcanza validez mientras le falte alguna de las dos rúbricas.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19456"/>
          </a:xfrm>
          <a:prstGeom prst="rect">
            <a:avLst/>
          </a:prstGeom>
          <a:noFill/>
          <a:ln/>
        </p:spPr>
        <p:txBody>
          <a:bodyPr wrap="square" lIns="0" tIns="0" rIns="0" bIns="0" rtlCol="0" anchor="ctr"/>
          <a:lstStyle/>
          <a:p>
            <a:pPr indent="0" marL="0">
              <a:buNone/>
            </a:pPr>
            <a:r>
              <a:rPr lang="en-US" sz="1000" b="1" spc="140" kern="0" dirty="0">
                <a:solidFill>
                  <a:srgbClr val="2563EB"/>
                </a:solidFill>
                <a:latin typeface="Arial" pitchFamily="34" charset="0"/>
                <a:ea typeface="Arial" pitchFamily="34" charset="-122"/>
                <a:cs typeface="Arial" pitchFamily="34" charset="-120"/>
              </a:rPr>
              <a:t>CAPÍTULO V · EVALUACIÓN DE RESULTADOS</a:t>
            </a:r>
            <a:endParaRPr lang="en-US" sz="1000" dirty="0"/>
          </a:p>
        </p:txBody>
      </p:sp>
      <p:sp>
        <p:nvSpPr>
          <p:cNvPr id="3" name="Text 1"/>
          <p:cNvSpPr/>
          <p:nvPr/>
        </p:nvSpPr>
        <p:spPr>
          <a:xfrm>
            <a:off x="548640" y="640080"/>
            <a:ext cx="11064240" cy="566928"/>
          </a:xfrm>
          <a:prstGeom prst="rect">
            <a:avLst/>
          </a:prstGeom>
          <a:noFill/>
          <a:ln/>
        </p:spPr>
        <p:txBody>
          <a:bodyPr wrap="square" lIns="0" tIns="0" rIns="0" bIns="0" rtlCol="0" anchor="t"/>
          <a:lstStyle/>
          <a:p>
            <a:pPr indent="0" marL="0">
              <a:buNone/>
            </a:pPr>
            <a:r>
              <a:rPr lang="en-US" sz="3000" b="1" dirty="0">
                <a:solidFill>
                  <a:srgbClr val="09090B"/>
                </a:solidFill>
                <a:latin typeface="Arial" pitchFamily="34" charset="0"/>
                <a:ea typeface="Arial" pitchFamily="34" charset="-122"/>
                <a:cs typeface="Arial" pitchFamily="34" charset="-120"/>
              </a:rPr>
              <a:t>Un caso de prueba por cada requisito</a:t>
            </a:r>
            <a:endParaRPr lang="en-US" sz="3000" dirty="0"/>
          </a:p>
        </p:txBody>
      </p:sp>
      <p:sp>
        <p:nvSpPr>
          <p:cNvPr id="4" name="Text 2"/>
          <p:cNvSpPr/>
          <p:nvPr/>
        </p:nvSpPr>
        <p:spPr>
          <a:xfrm>
            <a:off x="548640" y="1207008"/>
            <a:ext cx="9692640" cy="274320"/>
          </a:xfrm>
          <a:prstGeom prst="rect">
            <a:avLst/>
          </a:prstGeom>
          <a:noFill/>
          <a:ln/>
        </p:spPr>
        <p:txBody>
          <a:bodyPr wrap="square" lIns="0" tIns="0" rIns="0" bIns="0" rtlCol="0" anchor="ctr"/>
          <a:lstStyle/>
          <a:p>
            <a:pPr indent="0" marL="0">
              <a:buNone/>
            </a:pPr>
            <a:r>
              <a:rPr lang="en-US" sz="1300" dirty="0">
                <a:solidFill>
                  <a:srgbClr val="6C6C75"/>
                </a:solidFill>
                <a:latin typeface="Arial" pitchFamily="34" charset="0"/>
                <a:ea typeface="Arial" pitchFamily="34" charset="-122"/>
                <a:cs typeface="Arial" pitchFamily="34" charset="-120"/>
              </a:rPr>
              <a:t>Con precondición y resultado esperado definidos de antemano</a:t>
            </a:r>
            <a:endParaRPr lang="en-US" sz="1300" dirty="0"/>
          </a:p>
        </p:txBody>
      </p:sp>
      <p:sp>
        <p:nvSpPr>
          <p:cNvPr id="5" name="Text 3"/>
          <p:cNvSpPr/>
          <p:nvPr/>
        </p:nvSpPr>
        <p:spPr>
          <a:xfrm>
            <a:off x="11064240" y="6510528"/>
            <a:ext cx="548640" cy="256032"/>
          </a:xfrm>
          <a:prstGeom prst="rect">
            <a:avLst/>
          </a:prstGeom>
          <a:noFill/>
          <a:ln/>
        </p:spPr>
        <p:txBody>
          <a:bodyPr wrap="square" lIns="0" tIns="0" rIns="0" bIns="0" rtlCol="0" anchor="ctr"/>
          <a:lstStyle/>
          <a:p>
            <a:pPr algn="r" indent="0" marL="0">
              <a:buNone/>
            </a:pPr>
            <a:r>
              <a:rPr lang="en-US" sz="1000" dirty="0">
                <a:solidFill>
                  <a:srgbClr val="6C6C75"/>
                </a:solidFill>
                <a:latin typeface="Arial" pitchFamily="34" charset="0"/>
                <a:ea typeface="Arial" pitchFamily="34" charset="-122"/>
                <a:cs typeface="Arial" pitchFamily="34" charset="-120"/>
              </a:rPr>
              <a:t>15</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863840" cy="914400"/>
        </p:xfrm>
        <a:graphic>
          <a:graphicData uri="http://schemas.openxmlformats.org/drawingml/2006/table">
            <a:tbl>
              <a:tblPr/>
              <a:tblGrid>
                <a:gridCol w="777240"/>
                <a:gridCol w="685800"/>
                <a:gridCol w="5257800"/>
                <a:gridCol w="1143000"/>
              </a:tblGrid>
              <a:tr h="429768">
                <a:tc>
                  <a:txBody>
                    <a:bodyPr/>
                    <a:lstStyle/>
                    <a:p>
                      <a:pPr indent="0" marL="0">
                        <a:buNone/>
                      </a:pPr>
                      <a:r>
                        <a:rPr lang="en-US" sz="900" b="1" dirty="0">
                          <a:solidFill>
                            <a:srgbClr val="6C6C75"/>
                          </a:solidFill>
                          <a:latin typeface="Arial" pitchFamily="34" charset="0"/>
                          <a:ea typeface="Arial" pitchFamily="34" charset="-122"/>
                          <a:cs typeface="Arial" pitchFamily="34" charset="-120"/>
                        </a:rPr>
                        <a:t>ID</a:t>
                      </a:r>
                      <a:endParaRPr lang="en-US" sz="9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solidFill>
                      <a:srgbClr val="F7F7F8"/>
                    </a:solidFill>
                  </a:tcPr>
                </a:tc>
                <a:tc>
                  <a:txBody>
                    <a:bodyPr/>
                    <a:lstStyle/>
                    <a:p>
                      <a:pPr indent="0" marL="0">
                        <a:buNone/>
                      </a:pPr>
                      <a:r>
                        <a:rPr lang="en-US" sz="900" b="1" dirty="0">
                          <a:solidFill>
                            <a:srgbClr val="6C6C75"/>
                          </a:solidFill>
                          <a:latin typeface="Arial" pitchFamily="34" charset="0"/>
                          <a:ea typeface="Arial" pitchFamily="34" charset="-122"/>
                          <a:cs typeface="Arial" pitchFamily="34" charset="-120"/>
                        </a:rPr>
                        <a:t>RF</a:t>
                      </a:r>
                      <a:endParaRPr lang="en-US" sz="9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solidFill>
                      <a:srgbClr val="F7F7F8"/>
                    </a:solidFill>
                  </a:tcPr>
                </a:tc>
                <a:tc>
                  <a:txBody>
                    <a:bodyPr/>
                    <a:lstStyle/>
                    <a:p>
                      <a:pPr indent="0" marL="0">
                        <a:buNone/>
                      </a:pPr>
                      <a:r>
                        <a:rPr lang="en-US" sz="900" b="1" dirty="0">
                          <a:solidFill>
                            <a:srgbClr val="6C6C75"/>
                          </a:solidFill>
                          <a:latin typeface="Arial" pitchFamily="34" charset="0"/>
                          <a:ea typeface="Arial" pitchFamily="34" charset="-122"/>
                          <a:cs typeface="Arial" pitchFamily="34" charset="-120"/>
                        </a:rPr>
                        <a:t>RESULTADO ESPERADO</a:t>
                      </a:r>
                      <a:endParaRPr lang="en-US" sz="9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solidFill>
                      <a:srgbClr val="F7F7F8"/>
                    </a:solidFill>
                  </a:tcPr>
                </a:tc>
                <a:tc>
                  <a:txBody>
                    <a:bodyPr/>
                    <a:lstStyle/>
                    <a:p>
                      <a:pPr indent="0" marL="0">
                        <a:buNone/>
                      </a:pPr>
                      <a:r>
                        <a:rPr lang="en-US" sz="900" b="1" dirty="0">
                          <a:solidFill>
                            <a:srgbClr val="6C6C75"/>
                          </a:solidFill>
                          <a:latin typeface="Arial" pitchFamily="34" charset="0"/>
                          <a:ea typeface="Arial" pitchFamily="34" charset="-122"/>
                          <a:cs typeface="Arial" pitchFamily="34" charset="-120"/>
                        </a:rPr>
                        <a:t>ESTADO</a:t>
                      </a:r>
                      <a:endParaRPr lang="en-US" sz="9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solidFill>
                      <a:srgbClr val="F7F7F8"/>
                    </a:solidFill>
                  </a:tcPr>
                </a:tc>
              </a:tr>
              <a:tr h="429768">
                <a:tc>
                  <a:txBody>
                    <a:bodyPr/>
                    <a:lstStyle/>
                    <a:p>
                      <a:pPr indent="0" marL="0">
                        <a:buNone/>
                      </a:pPr>
                      <a:r>
                        <a:rPr lang="en-US" sz="1000" b="1" dirty="0">
                          <a:solidFill>
                            <a:srgbClr val="09090B"/>
                          </a:solidFill>
                          <a:latin typeface="Arial" pitchFamily="34" charset="0"/>
                          <a:ea typeface="Arial" pitchFamily="34" charset="-122"/>
                          <a:cs typeface="Arial" pitchFamily="34" charset="-120"/>
                        </a:rPr>
                        <a:t>CP-01</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c>
                  <a:txBody>
                    <a:bodyPr/>
                    <a:lstStyle/>
                    <a:p>
                      <a:pPr indent="0" marL="0">
                        <a:buNone/>
                      </a:pPr>
                      <a:r>
                        <a:rPr lang="en-US" sz="1000" dirty="0">
                          <a:solidFill>
                            <a:srgbClr val="6C6C75"/>
                          </a:solidFill>
                          <a:latin typeface="Arial" pitchFamily="34" charset="0"/>
                          <a:ea typeface="Arial" pitchFamily="34" charset="-122"/>
                          <a:cs typeface="Arial" pitchFamily="34" charset="-120"/>
                        </a:rPr>
                        <a:t>RF-01</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c>
                  <a:txBody>
                    <a:bodyPr/>
                    <a:lstStyle/>
                    <a:p>
                      <a:pPr indent="0" marL="0">
                        <a:buNone/>
                      </a:pPr>
                      <a:r>
                        <a:rPr lang="en-US" sz="1000" dirty="0">
                          <a:solidFill>
                            <a:srgbClr val="09090B"/>
                          </a:solidFill>
                          <a:latin typeface="Arial" pitchFamily="34" charset="0"/>
                          <a:ea typeface="Arial" pitchFamily="34" charset="-122"/>
                          <a:cs typeface="Arial" pitchFamily="34" charset="-120"/>
                        </a:rPr>
                        <a:t>Cada rol accede solo a sus módulos; credenciales inválidas son rechazadas</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c>
                  <a:txBody>
                    <a:bodyPr/>
                    <a:lstStyle/>
                    <a:p>
                      <a:pPr indent="0" marL="0">
                        <a:buNone/>
                      </a:pPr>
                      <a:r>
                        <a:rPr lang="en-US" sz="1000" b="1" dirty="0">
                          <a:solidFill>
                            <a:srgbClr val="157E3C"/>
                          </a:solidFill>
                          <a:latin typeface="Arial" pitchFamily="34" charset="0"/>
                          <a:ea typeface="Arial" pitchFamily="34" charset="-122"/>
                          <a:cs typeface="Arial" pitchFamily="34" charset="-120"/>
                        </a:rPr>
                        <a:t>Superado</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r>
              <a:tr h="429768">
                <a:tc>
                  <a:txBody>
                    <a:bodyPr/>
                    <a:lstStyle/>
                    <a:p>
                      <a:pPr indent="0" marL="0">
                        <a:buNone/>
                      </a:pPr>
                      <a:r>
                        <a:rPr lang="en-US" sz="1000" b="1" dirty="0">
                          <a:solidFill>
                            <a:srgbClr val="09090B"/>
                          </a:solidFill>
                          <a:latin typeface="Arial" pitchFamily="34" charset="0"/>
                          <a:ea typeface="Arial" pitchFamily="34" charset="-122"/>
                          <a:cs typeface="Arial" pitchFamily="34" charset="-120"/>
                        </a:rPr>
                        <a:t>CP-04</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c>
                  <a:txBody>
                    <a:bodyPr/>
                    <a:lstStyle/>
                    <a:p>
                      <a:pPr indent="0" marL="0">
                        <a:buNone/>
                      </a:pPr>
                      <a:r>
                        <a:rPr lang="en-US" sz="1000" dirty="0">
                          <a:solidFill>
                            <a:srgbClr val="6C6C75"/>
                          </a:solidFill>
                          <a:latin typeface="Arial" pitchFamily="34" charset="0"/>
                          <a:ea typeface="Arial" pitchFamily="34" charset="-122"/>
                          <a:cs typeface="Arial" pitchFamily="34" charset="-120"/>
                        </a:rPr>
                        <a:t>RF-04</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c>
                  <a:txBody>
                    <a:bodyPr/>
                    <a:lstStyle/>
                    <a:p>
                      <a:pPr indent="0" marL="0">
                        <a:buNone/>
                      </a:pPr>
                      <a:r>
                        <a:rPr lang="en-US" sz="1000" dirty="0">
                          <a:solidFill>
                            <a:srgbClr val="09090B"/>
                          </a:solidFill>
                          <a:latin typeface="Arial" pitchFamily="34" charset="0"/>
                          <a:ea typeface="Arial" pitchFamily="34" charset="-122"/>
                          <a:cs typeface="Arial" pitchFamily="34" charset="-120"/>
                        </a:rPr>
                        <a:t>Estudiante y empresa quedan registrados y disponibles para asignación</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c>
                  <a:txBody>
                    <a:bodyPr/>
                    <a:lstStyle/>
                    <a:p>
                      <a:pPr indent="0" marL="0">
                        <a:buNone/>
                      </a:pPr>
                      <a:r>
                        <a:rPr lang="en-US" sz="1000" b="1" dirty="0">
                          <a:solidFill>
                            <a:srgbClr val="157E3C"/>
                          </a:solidFill>
                          <a:latin typeface="Arial" pitchFamily="34" charset="0"/>
                          <a:ea typeface="Arial" pitchFamily="34" charset="-122"/>
                          <a:cs typeface="Arial" pitchFamily="34" charset="-120"/>
                        </a:rPr>
                        <a:t>Superado</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r>
              <a:tr h="429768">
                <a:tc>
                  <a:txBody>
                    <a:bodyPr/>
                    <a:lstStyle/>
                    <a:p>
                      <a:pPr indent="0" marL="0">
                        <a:buNone/>
                      </a:pPr>
                      <a:r>
                        <a:rPr lang="en-US" sz="1000" b="1" dirty="0">
                          <a:solidFill>
                            <a:srgbClr val="09090B"/>
                          </a:solidFill>
                          <a:latin typeface="Arial" pitchFamily="34" charset="0"/>
                          <a:ea typeface="Arial" pitchFamily="34" charset="-122"/>
                          <a:cs typeface="Arial" pitchFamily="34" charset="-120"/>
                        </a:rPr>
                        <a:t>CP-05</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c>
                  <a:txBody>
                    <a:bodyPr/>
                    <a:lstStyle/>
                    <a:p>
                      <a:pPr indent="0" marL="0">
                        <a:buNone/>
                      </a:pPr>
                      <a:r>
                        <a:rPr lang="en-US" sz="1000" dirty="0">
                          <a:solidFill>
                            <a:srgbClr val="6C6C75"/>
                          </a:solidFill>
                          <a:latin typeface="Arial" pitchFamily="34" charset="0"/>
                          <a:ea typeface="Arial" pitchFamily="34" charset="-122"/>
                          <a:cs typeface="Arial" pitchFamily="34" charset="-120"/>
                        </a:rPr>
                        <a:t>RF-05</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c>
                  <a:txBody>
                    <a:bodyPr/>
                    <a:lstStyle/>
                    <a:p>
                      <a:pPr indent="0" marL="0">
                        <a:buNone/>
                      </a:pPr>
                      <a:r>
                        <a:rPr lang="en-US" sz="1000" dirty="0">
                          <a:solidFill>
                            <a:srgbClr val="09090B"/>
                          </a:solidFill>
                          <a:latin typeface="Arial" pitchFamily="34" charset="0"/>
                          <a:ea typeface="Arial" pitchFamily="34" charset="-122"/>
                          <a:cs typeface="Arial" pitchFamily="34" charset="-120"/>
                        </a:rPr>
                        <a:t>Los registros válidos se importan y los erróneos se reportan con su fila</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c>
                  <a:txBody>
                    <a:bodyPr/>
                    <a:lstStyle/>
                    <a:p>
                      <a:pPr indent="0" marL="0">
                        <a:buNone/>
                      </a:pPr>
                      <a:r>
                        <a:rPr lang="en-US" sz="1000" b="1" dirty="0">
                          <a:solidFill>
                            <a:srgbClr val="157E3C"/>
                          </a:solidFill>
                          <a:latin typeface="Arial" pitchFamily="34" charset="0"/>
                          <a:ea typeface="Arial" pitchFamily="34" charset="-122"/>
                          <a:cs typeface="Arial" pitchFamily="34" charset="-120"/>
                        </a:rPr>
                        <a:t>Superado</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r>
              <a:tr h="429768">
                <a:tc>
                  <a:txBody>
                    <a:bodyPr/>
                    <a:lstStyle/>
                    <a:p>
                      <a:pPr indent="0" marL="0">
                        <a:buNone/>
                      </a:pPr>
                      <a:r>
                        <a:rPr lang="en-US" sz="1000" b="1" dirty="0">
                          <a:solidFill>
                            <a:srgbClr val="09090B"/>
                          </a:solidFill>
                          <a:latin typeface="Arial" pitchFamily="34" charset="0"/>
                          <a:ea typeface="Arial" pitchFamily="34" charset="-122"/>
                          <a:cs typeface="Arial" pitchFamily="34" charset="-120"/>
                        </a:rPr>
                        <a:t>CP-07</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c>
                  <a:txBody>
                    <a:bodyPr/>
                    <a:lstStyle/>
                    <a:p>
                      <a:pPr indent="0" marL="0">
                        <a:buNone/>
                      </a:pPr>
                      <a:r>
                        <a:rPr lang="en-US" sz="1000" dirty="0">
                          <a:solidFill>
                            <a:srgbClr val="6C6C75"/>
                          </a:solidFill>
                          <a:latin typeface="Arial" pitchFamily="34" charset="0"/>
                          <a:ea typeface="Arial" pitchFamily="34" charset="-122"/>
                          <a:cs typeface="Arial" pitchFamily="34" charset="-120"/>
                        </a:rPr>
                        <a:t>RF-07</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c>
                  <a:txBody>
                    <a:bodyPr/>
                    <a:lstStyle/>
                    <a:p>
                      <a:pPr indent="0" marL="0">
                        <a:buNone/>
                      </a:pPr>
                      <a:r>
                        <a:rPr lang="en-US" sz="1000" dirty="0">
                          <a:solidFill>
                            <a:srgbClr val="09090B"/>
                          </a:solidFill>
                          <a:latin typeface="Arial" pitchFamily="34" charset="0"/>
                          <a:ea typeface="Arial" pitchFamily="34" charset="-122"/>
                          <a:cs typeface="Arial" pitchFamily="34" charset="-120"/>
                        </a:rPr>
                        <a:t>La plantilla se carga y el certificado conserva sus coordenadas</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c>
                  <a:txBody>
                    <a:bodyPr/>
                    <a:lstStyle/>
                    <a:p>
                      <a:pPr indent="0" marL="0">
                        <a:buNone/>
                      </a:pPr>
                      <a:r>
                        <a:rPr lang="en-US" sz="1000" b="1" dirty="0">
                          <a:solidFill>
                            <a:srgbClr val="157E3C"/>
                          </a:solidFill>
                          <a:latin typeface="Arial" pitchFamily="34" charset="0"/>
                          <a:ea typeface="Arial" pitchFamily="34" charset="-122"/>
                          <a:cs typeface="Arial" pitchFamily="34" charset="-120"/>
                        </a:rPr>
                        <a:t>Superado</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r>
              <a:tr h="429768">
                <a:tc>
                  <a:txBody>
                    <a:bodyPr/>
                    <a:lstStyle/>
                    <a:p>
                      <a:pPr indent="0" marL="0">
                        <a:buNone/>
                      </a:pPr>
                      <a:r>
                        <a:rPr lang="en-US" sz="1000" b="1" dirty="0">
                          <a:solidFill>
                            <a:srgbClr val="09090B"/>
                          </a:solidFill>
                          <a:latin typeface="Arial" pitchFamily="34" charset="0"/>
                          <a:ea typeface="Arial" pitchFamily="34" charset="-122"/>
                          <a:cs typeface="Arial" pitchFamily="34" charset="-120"/>
                        </a:rPr>
                        <a:t>CP-08</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c>
                  <a:txBody>
                    <a:bodyPr/>
                    <a:lstStyle/>
                    <a:p>
                      <a:pPr indent="0" marL="0">
                        <a:buNone/>
                      </a:pPr>
                      <a:r>
                        <a:rPr lang="en-US" sz="1000" dirty="0">
                          <a:solidFill>
                            <a:srgbClr val="6C6C75"/>
                          </a:solidFill>
                          <a:latin typeface="Arial" pitchFamily="34" charset="0"/>
                          <a:ea typeface="Arial" pitchFamily="34" charset="-122"/>
                          <a:cs typeface="Arial" pitchFamily="34" charset="-120"/>
                        </a:rPr>
                        <a:t>RF-08</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c>
                  <a:txBody>
                    <a:bodyPr/>
                    <a:lstStyle/>
                    <a:p>
                      <a:pPr indent="0" marL="0">
                        <a:buNone/>
                      </a:pPr>
                      <a:r>
                        <a:rPr lang="en-US" sz="1000" dirty="0">
                          <a:solidFill>
                            <a:srgbClr val="09090B"/>
                          </a:solidFill>
                          <a:latin typeface="Arial" pitchFamily="34" charset="0"/>
                          <a:ea typeface="Arial" pitchFamily="34" charset="-122"/>
                          <a:cs typeface="Arial" pitchFamily="34" charset="-120"/>
                        </a:rPr>
                        <a:t>El oficio y el certificado se generan con los datos correctos</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c>
                  <a:txBody>
                    <a:bodyPr/>
                    <a:lstStyle/>
                    <a:p>
                      <a:pPr indent="0" marL="0">
                        <a:buNone/>
                      </a:pPr>
                      <a:r>
                        <a:rPr lang="en-US" sz="1000" b="1" dirty="0">
                          <a:solidFill>
                            <a:srgbClr val="157E3C"/>
                          </a:solidFill>
                          <a:latin typeface="Arial" pitchFamily="34" charset="0"/>
                          <a:ea typeface="Arial" pitchFamily="34" charset="-122"/>
                          <a:cs typeface="Arial" pitchFamily="34" charset="-120"/>
                        </a:rPr>
                        <a:t>Superado</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r>
              <a:tr h="429768">
                <a:tc>
                  <a:txBody>
                    <a:bodyPr/>
                    <a:lstStyle/>
                    <a:p>
                      <a:pPr indent="0" marL="0">
                        <a:buNone/>
                      </a:pPr>
                      <a:r>
                        <a:rPr lang="en-US" sz="1000" b="1" dirty="0">
                          <a:solidFill>
                            <a:srgbClr val="09090B"/>
                          </a:solidFill>
                          <a:latin typeface="Arial" pitchFamily="34" charset="0"/>
                          <a:ea typeface="Arial" pitchFamily="34" charset="-122"/>
                          <a:cs typeface="Arial" pitchFamily="34" charset="-120"/>
                        </a:rPr>
                        <a:t>CP-09</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c>
                  <a:txBody>
                    <a:bodyPr/>
                    <a:lstStyle/>
                    <a:p>
                      <a:pPr indent="0" marL="0">
                        <a:buNone/>
                      </a:pPr>
                      <a:r>
                        <a:rPr lang="en-US" sz="1000" dirty="0">
                          <a:solidFill>
                            <a:srgbClr val="6C6C75"/>
                          </a:solidFill>
                          <a:latin typeface="Arial" pitchFamily="34" charset="0"/>
                          <a:ea typeface="Arial" pitchFamily="34" charset="-122"/>
                          <a:cs typeface="Arial" pitchFamily="34" charset="-120"/>
                        </a:rPr>
                        <a:t>RF-09</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c>
                  <a:txBody>
                    <a:bodyPr/>
                    <a:lstStyle/>
                    <a:p>
                      <a:pPr indent="0" marL="0">
                        <a:buNone/>
                      </a:pPr>
                      <a:r>
                        <a:rPr lang="en-US" sz="1000" dirty="0">
                          <a:solidFill>
                            <a:srgbClr val="09090B"/>
                          </a:solidFill>
                          <a:latin typeface="Arial" pitchFamily="34" charset="0"/>
                          <a:ea typeface="Arial" pitchFamily="34" charset="-122"/>
                          <a:cs typeface="Arial" pitchFamily="34" charset="-120"/>
                        </a:rPr>
                        <a:t>Cada documento recibe un código único y correlativo, sin repeticiones</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c>
                  <a:txBody>
                    <a:bodyPr/>
                    <a:lstStyle/>
                    <a:p>
                      <a:pPr indent="0" marL="0">
                        <a:buNone/>
                      </a:pPr>
                      <a:r>
                        <a:rPr lang="en-US" sz="1000" b="1" dirty="0">
                          <a:solidFill>
                            <a:srgbClr val="157E3C"/>
                          </a:solidFill>
                          <a:latin typeface="Arial" pitchFamily="34" charset="0"/>
                          <a:ea typeface="Arial" pitchFamily="34" charset="-122"/>
                          <a:cs typeface="Arial" pitchFamily="34" charset="-120"/>
                        </a:rPr>
                        <a:t>Superado</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r>
              <a:tr h="429768">
                <a:tc>
                  <a:txBody>
                    <a:bodyPr/>
                    <a:lstStyle/>
                    <a:p>
                      <a:pPr indent="0" marL="0">
                        <a:buNone/>
                      </a:pPr>
                      <a:r>
                        <a:rPr lang="en-US" sz="1000" b="1" dirty="0">
                          <a:solidFill>
                            <a:srgbClr val="09090B"/>
                          </a:solidFill>
                          <a:latin typeface="Arial" pitchFamily="34" charset="0"/>
                          <a:ea typeface="Arial" pitchFamily="34" charset="-122"/>
                          <a:cs typeface="Arial" pitchFamily="34" charset="-120"/>
                        </a:rPr>
                        <a:t>CP-11</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c>
                  <a:txBody>
                    <a:bodyPr/>
                    <a:lstStyle/>
                    <a:p>
                      <a:pPr indent="0" marL="0">
                        <a:buNone/>
                      </a:pPr>
                      <a:r>
                        <a:rPr lang="en-US" sz="1000" dirty="0">
                          <a:solidFill>
                            <a:srgbClr val="6C6C75"/>
                          </a:solidFill>
                          <a:latin typeface="Arial" pitchFamily="34" charset="0"/>
                          <a:ea typeface="Arial" pitchFamily="34" charset="-122"/>
                          <a:cs typeface="Arial" pitchFamily="34" charset="-120"/>
                        </a:rPr>
                        <a:t>RF-11</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c>
                  <a:txBody>
                    <a:bodyPr/>
                    <a:lstStyle/>
                    <a:p>
                      <a:pPr indent="0" marL="0">
                        <a:buNone/>
                      </a:pPr>
                      <a:r>
                        <a:rPr lang="en-US" sz="1000" dirty="0">
                          <a:solidFill>
                            <a:srgbClr val="09090B"/>
                          </a:solidFill>
                          <a:latin typeface="Arial" pitchFamily="34" charset="0"/>
                          <a:ea typeface="Arial" pitchFamily="34" charset="-122"/>
                          <a:cs typeface="Arial" pitchFamily="34" charset="-120"/>
                        </a:rPr>
                        <a:t>El enlace de invitación permite un único registro y caduca tras usarse</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c>
                  <a:txBody>
                    <a:bodyPr/>
                    <a:lstStyle/>
                    <a:p>
                      <a:pPr indent="0" marL="0">
                        <a:buNone/>
                      </a:pPr>
                      <a:r>
                        <a:rPr lang="en-US" sz="1000" b="1" dirty="0">
                          <a:solidFill>
                            <a:srgbClr val="157E3C"/>
                          </a:solidFill>
                          <a:latin typeface="Arial" pitchFamily="34" charset="0"/>
                          <a:ea typeface="Arial" pitchFamily="34" charset="-122"/>
                          <a:cs typeface="Arial" pitchFamily="34" charset="-120"/>
                        </a:rPr>
                        <a:t>Superado</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r>
              <a:tr h="429768">
                <a:tc>
                  <a:txBody>
                    <a:bodyPr/>
                    <a:lstStyle/>
                    <a:p>
                      <a:pPr indent="0" marL="0">
                        <a:buNone/>
                      </a:pPr>
                      <a:r>
                        <a:rPr lang="en-US" sz="1000" b="1" dirty="0">
                          <a:solidFill>
                            <a:srgbClr val="09090B"/>
                          </a:solidFill>
                          <a:latin typeface="Arial" pitchFamily="34" charset="0"/>
                          <a:ea typeface="Arial" pitchFamily="34" charset="-122"/>
                          <a:cs typeface="Arial" pitchFamily="34" charset="-120"/>
                        </a:rPr>
                        <a:t>CP-12</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c>
                  <a:txBody>
                    <a:bodyPr/>
                    <a:lstStyle/>
                    <a:p>
                      <a:pPr indent="0" marL="0">
                        <a:buNone/>
                      </a:pPr>
                      <a:r>
                        <a:rPr lang="en-US" sz="1000" dirty="0">
                          <a:solidFill>
                            <a:srgbClr val="6C6C75"/>
                          </a:solidFill>
                          <a:latin typeface="Arial" pitchFamily="34" charset="0"/>
                          <a:ea typeface="Arial" pitchFamily="34" charset="-122"/>
                          <a:cs typeface="Arial" pitchFamily="34" charset="-120"/>
                        </a:rPr>
                        <a:t>RF-12</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c>
                  <a:txBody>
                    <a:bodyPr/>
                    <a:lstStyle/>
                    <a:p>
                      <a:pPr indent="0" marL="0">
                        <a:buNone/>
                      </a:pPr>
                      <a:r>
                        <a:rPr lang="en-US" sz="1000" dirty="0">
                          <a:solidFill>
                            <a:srgbClr val="09090B"/>
                          </a:solidFill>
                          <a:latin typeface="Arial" pitchFamily="34" charset="0"/>
                          <a:ea typeface="Arial" pitchFamily="34" charset="-122"/>
                          <a:cs typeface="Arial" pitchFamily="34" charset="-120"/>
                        </a:rPr>
                        <a:t>La firma respeta el orden responsable-decano y ambas quedan verificadas</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c>
                  <a:txBody>
                    <a:bodyPr/>
                    <a:lstStyle/>
                    <a:p>
                      <a:pPr indent="0" marL="0">
                        <a:buNone/>
                      </a:pPr>
                      <a:r>
                        <a:rPr lang="en-US" sz="1000" b="1" dirty="0">
                          <a:solidFill>
                            <a:srgbClr val="157E3C"/>
                          </a:solidFill>
                          <a:latin typeface="Arial" pitchFamily="34" charset="0"/>
                          <a:ea typeface="Arial" pitchFamily="34" charset="-122"/>
                          <a:cs typeface="Arial" pitchFamily="34" charset="-120"/>
                        </a:rPr>
                        <a:t>Superado</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r>
              <a:tr h="429768">
                <a:tc>
                  <a:txBody>
                    <a:bodyPr/>
                    <a:lstStyle/>
                    <a:p>
                      <a:pPr indent="0" marL="0">
                        <a:buNone/>
                      </a:pPr>
                      <a:r>
                        <a:rPr lang="en-US" sz="1000" dirty="0">
                          <a:solidFill>
                            <a:srgbClr val="6C6C75"/>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c>
                  <a:txBody>
                    <a:bodyPr/>
                    <a:lstStyle/>
                    <a:p>
                      <a:pPr indent="0" marL="0">
                        <a:buNone/>
                      </a:pPr>
                      <a:r>
                        <a:rPr lang="en-US" sz="1000" dirty="0">
                          <a:solidFill>
                            <a:srgbClr val="6C6C75"/>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c>
                  <a:txBody>
                    <a:bodyPr/>
                    <a:lstStyle/>
                    <a:p>
                      <a:pPr indent="0" marL="0">
                        <a:buNone/>
                      </a:pPr>
                      <a:r>
                        <a:rPr lang="en-US" sz="1000" i="1" dirty="0">
                          <a:solidFill>
                            <a:srgbClr val="6C6C75"/>
                          </a:solidFill>
                          <a:latin typeface="Arial" pitchFamily="34" charset="0"/>
                          <a:ea typeface="Arial" pitchFamily="34" charset="-122"/>
                          <a:cs typeface="Arial" pitchFamily="34" charset="-120"/>
                        </a:rPr>
                        <a:t>Matriz completa en la Tabla 15 de la tesis</a:t>
                      </a:r>
                      <a:endParaRPr lang="en-US" sz="10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54864" marR="54864" marT="54864" marB="54864" anchor="ctr">
                    <a:lnL w="12700" cap="flat" cmpd="sng" algn="ctr">
                      <a:solidFill>
                        <a:srgbClr val="E4E4E7"/>
                      </a:solidFill>
                      <a:prstDash val="solid"/>
                      <a:round/>
                      <a:headEnd type="none" w="med" len="med"/>
                      <a:tailEnd type="none" w="med" len="med"/>
                    </a:lnL>
                    <a:lnR w="12700" cap="flat" cmpd="sng" algn="ctr">
                      <a:solidFill>
                        <a:srgbClr val="E4E4E7"/>
                      </a:solidFill>
                      <a:prstDash val="solid"/>
                      <a:round/>
                      <a:headEnd type="none" w="med" len="med"/>
                      <a:tailEnd type="none" w="med" len="med"/>
                    </a:lnR>
                    <a:lnT w="12700" cap="flat" cmpd="sng" algn="ctr">
                      <a:solidFill>
                        <a:srgbClr val="E4E4E7"/>
                      </a:solidFill>
                      <a:prstDash val="solid"/>
                      <a:round/>
                      <a:headEnd type="none" w="med" len="med"/>
                      <a:tailEnd type="none" w="med" len="med"/>
                    </a:lnT>
                    <a:lnB w="12700" cap="flat" cmpd="sng" algn="ctr">
                      <a:solidFill>
                        <a:srgbClr val="E4E4E7"/>
                      </a:solidFill>
                      <a:prstDash val="solid"/>
                      <a:round/>
                      <a:headEnd type="none" w="med" len="med"/>
                      <a:tailEnd type="none" w="med" len="med"/>
                    </a:lnB>
                  </a:tcPr>
                </a:tc>
              </a:tr>
            </a:tbl>
          </a:graphicData>
        </a:graphic>
      </p:graphicFrame>
      <p:sp>
        <p:nvSpPr>
          <p:cNvPr id="7" name="Shape 4"/>
          <p:cNvSpPr/>
          <p:nvPr/>
        </p:nvSpPr>
        <p:spPr>
          <a:xfrm>
            <a:off x="8686800" y="1645920"/>
            <a:ext cx="2926080" cy="1737360"/>
          </a:xfrm>
          <a:prstGeom prst="roundRect">
            <a:avLst>
              <a:gd name="adj" fmla="val 3684"/>
            </a:avLst>
          </a:prstGeom>
          <a:solidFill>
            <a:srgbClr val="F7F7F8"/>
          </a:solidFill>
          <a:ln w="12700">
            <a:solidFill>
              <a:srgbClr val="E4E4E7"/>
            </a:solidFill>
            <a:prstDash val="solid"/>
          </a:ln>
        </p:spPr>
      </p:sp>
      <p:sp>
        <p:nvSpPr>
          <p:cNvPr id="8" name="Text 5"/>
          <p:cNvSpPr/>
          <p:nvPr/>
        </p:nvSpPr>
        <p:spPr>
          <a:xfrm>
            <a:off x="8887968" y="1847088"/>
            <a:ext cx="2560320" cy="731520"/>
          </a:xfrm>
          <a:prstGeom prst="rect">
            <a:avLst/>
          </a:prstGeom>
          <a:noFill/>
          <a:ln/>
        </p:spPr>
        <p:txBody>
          <a:bodyPr wrap="square" lIns="0" tIns="0" rIns="0" bIns="0" rtlCol="0" anchor="ctr"/>
          <a:lstStyle/>
          <a:p>
            <a:pPr indent="0" marL="0">
              <a:buNone/>
            </a:pPr>
            <a:r>
              <a:rPr lang="en-US" sz="4200" b="1" dirty="0">
                <a:solidFill>
                  <a:srgbClr val="2563EB"/>
                </a:solidFill>
                <a:latin typeface="Arial" pitchFamily="34" charset="0"/>
                <a:ea typeface="Arial" pitchFamily="34" charset="-122"/>
                <a:cs typeface="Arial" pitchFamily="34" charset="-120"/>
              </a:rPr>
              <a:t>15 / 15</a:t>
            </a:r>
            <a:endParaRPr lang="en-US" sz="4200" dirty="0"/>
          </a:p>
        </p:txBody>
      </p:sp>
      <p:sp>
        <p:nvSpPr>
          <p:cNvPr id="9" name="Text 6"/>
          <p:cNvSpPr/>
          <p:nvPr/>
        </p:nvSpPr>
        <p:spPr>
          <a:xfrm>
            <a:off x="8887968" y="2688336"/>
            <a:ext cx="2560320" cy="274320"/>
          </a:xfrm>
          <a:prstGeom prst="rect">
            <a:avLst/>
          </a:prstGeom>
          <a:noFill/>
          <a:ln/>
        </p:spPr>
        <p:txBody>
          <a:bodyPr wrap="square" lIns="0" tIns="0" rIns="0" bIns="0" rtlCol="0" anchor="ctr"/>
          <a:lstStyle/>
          <a:p>
            <a:pPr indent="0" marL="0">
              <a:buNone/>
            </a:pPr>
            <a:r>
              <a:rPr lang="en-US" sz="1100" dirty="0">
                <a:solidFill>
                  <a:srgbClr val="6C6C75"/>
                </a:solidFill>
                <a:latin typeface="Arial" pitchFamily="34" charset="0"/>
                <a:ea typeface="Arial" pitchFamily="34" charset="-122"/>
                <a:cs typeface="Arial" pitchFamily="34" charset="-120"/>
              </a:rPr>
              <a:t>requisitos verificados</a:t>
            </a:r>
            <a:endParaRPr lang="en-US" sz="1100" dirty="0"/>
          </a:p>
        </p:txBody>
      </p:sp>
      <p:sp>
        <p:nvSpPr>
          <p:cNvPr id="10" name="Shape 7"/>
          <p:cNvSpPr/>
          <p:nvPr/>
        </p:nvSpPr>
        <p:spPr>
          <a:xfrm>
            <a:off x="8686800" y="3566160"/>
            <a:ext cx="2926080" cy="2377440"/>
          </a:xfrm>
          <a:prstGeom prst="roundRect">
            <a:avLst>
              <a:gd name="adj" fmla="val 2692"/>
            </a:avLst>
          </a:prstGeom>
          <a:solidFill>
            <a:srgbClr val="F7F7F8"/>
          </a:solidFill>
          <a:ln w="12700">
            <a:solidFill>
              <a:srgbClr val="E4E4E7"/>
            </a:solidFill>
            <a:prstDash val="solid"/>
          </a:ln>
        </p:spPr>
      </p:sp>
      <p:sp>
        <p:nvSpPr>
          <p:cNvPr id="11" name="Text 8"/>
          <p:cNvSpPr/>
          <p:nvPr/>
        </p:nvSpPr>
        <p:spPr>
          <a:xfrm>
            <a:off x="8887968" y="3712464"/>
            <a:ext cx="2523744" cy="201168"/>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ALCANCE DE LAS PRUEBAS</a:t>
            </a:r>
            <a:endParaRPr lang="en-US" sz="900" dirty="0"/>
          </a:p>
        </p:txBody>
      </p:sp>
      <p:sp>
        <p:nvSpPr>
          <p:cNvPr id="12" name="Text 9"/>
          <p:cNvSpPr/>
          <p:nvPr/>
        </p:nvSpPr>
        <p:spPr>
          <a:xfrm>
            <a:off x="8887968" y="3959352"/>
            <a:ext cx="2523744" cy="1856232"/>
          </a:xfrm>
          <a:prstGeom prst="rect">
            <a:avLst/>
          </a:prstGeom>
          <a:noFill/>
          <a:ln/>
        </p:spPr>
        <p:txBody>
          <a:bodyPr wrap="square" lIns="0" tIns="0" rIns="0" bIns="0" rtlCol="0" anchor="t"/>
          <a:lstStyle/>
          <a:p>
            <a:pPr indent="0" marL="0">
              <a:lnSpc>
                <a:spcPct val="112000"/>
              </a:lnSpc>
              <a:buNone/>
            </a:pPr>
            <a:r>
              <a:rPr lang="en-US" sz="1100" dirty="0">
                <a:solidFill>
                  <a:srgbClr val="09090B"/>
                </a:solidFill>
                <a:latin typeface="Arial" pitchFamily="34" charset="0"/>
                <a:ea typeface="Arial" pitchFamily="34" charset="-122"/>
                <a:cs typeface="Arial" pitchFamily="34" charset="-120"/>
              </a:rPr>
              <a:t>Validación diferenciada por rol: administrador, coordinador y firmante</a:t>
            </a:r>
            <a:endParaRPr lang="en-US" sz="1100" dirty="0"/>
          </a:p>
          <a:p>
            <a:pPr indent="0" marL="0">
              <a:lnSpc>
                <a:spcPct val="112000"/>
              </a:lnSpc>
              <a:buNone/>
            </a:pPr>
            <a:endParaRPr lang="en-US" sz="1100" dirty="0"/>
          </a:p>
          <a:p>
            <a:pPr indent="0" marL="0">
              <a:lnSpc>
                <a:spcPct val="112000"/>
              </a:lnSpc>
              <a:buNone/>
            </a:pPr>
            <a:r>
              <a:rPr lang="en-US" sz="1100" dirty="0">
                <a:solidFill>
                  <a:srgbClr val="09090B"/>
                </a:solidFill>
                <a:latin typeface="Arial" pitchFamily="34" charset="0"/>
                <a:ea typeface="Arial" pitchFamily="34" charset="-122"/>
                <a:cs typeface="Arial" pitchFamily="34" charset="-120"/>
              </a:rPr>
              <a:t>Flujo documental completo, de la solicitud al certificado firmado</a:t>
            </a:r>
            <a:endParaRPr lang="en-US" sz="1100" dirty="0"/>
          </a:p>
          <a:p>
            <a:pPr indent="0" marL="0">
              <a:lnSpc>
                <a:spcPct val="112000"/>
              </a:lnSpc>
              <a:buNone/>
            </a:pPr>
            <a:endParaRPr lang="en-US" sz="1100" dirty="0"/>
          </a:p>
          <a:p>
            <a:pPr indent="0" marL="0">
              <a:lnSpc>
                <a:spcPct val="112000"/>
              </a:lnSpc>
              <a:buNone/>
            </a:pPr>
            <a:r>
              <a:rPr lang="en-US" sz="1100" dirty="0">
                <a:solidFill>
                  <a:srgbClr val="09090B"/>
                </a:solidFill>
                <a:latin typeface="Arial" pitchFamily="34" charset="0"/>
                <a:ea typeface="Arial" pitchFamily="34" charset="-122"/>
                <a:cs typeface="Arial" pitchFamily="34" charset="-120"/>
              </a:rPr>
              <a:t>Generación masiva sin bloquear la interfaz</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19456"/>
          </a:xfrm>
          <a:prstGeom prst="rect">
            <a:avLst/>
          </a:prstGeom>
          <a:noFill/>
          <a:ln/>
        </p:spPr>
        <p:txBody>
          <a:bodyPr wrap="square" lIns="0" tIns="0" rIns="0" bIns="0" rtlCol="0" anchor="ctr"/>
          <a:lstStyle/>
          <a:p>
            <a:pPr indent="0" marL="0">
              <a:buNone/>
            </a:pPr>
            <a:r>
              <a:rPr lang="en-US" sz="1000" b="1" spc="140" kern="0" dirty="0">
                <a:solidFill>
                  <a:srgbClr val="2563EB"/>
                </a:solidFill>
                <a:latin typeface="Arial" pitchFamily="34" charset="0"/>
                <a:ea typeface="Arial" pitchFamily="34" charset="-122"/>
                <a:cs typeface="Arial" pitchFamily="34" charset="-120"/>
              </a:rPr>
              <a:t>CAPÍTULO V · LIMITACIONES</a:t>
            </a:r>
            <a:endParaRPr lang="en-US" sz="1000" dirty="0"/>
          </a:p>
        </p:txBody>
      </p:sp>
      <p:sp>
        <p:nvSpPr>
          <p:cNvPr id="3" name="Text 1"/>
          <p:cNvSpPr/>
          <p:nvPr/>
        </p:nvSpPr>
        <p:spPr>
          <a:xfrm>
            <a:off x="548640" y="640080"/>
            <a:ext cx="11064240" cy="566928"/>
          </a:xfrm>
          <a:prstGeom prst="rect">
            <a:avLst/>
          </a:prstGeom>
          <a:noFill/>
          <a:ln/>
        </p:spPr>
        <p:txBody>
          <a:bodyPr wrap="square" lIns="0" tIns="0" rIns="0" bIns="0" rtlCol="0" anchor="t"/>
          <a:lstStyle/>
          <a:p>
            <a:pPr indent="0" marL="0">
              <a:buNone/>
            </a:pPr>
            <a:r>
              <a:rPr lang="en-US" sz="3000" b="1" dirty="0">
                <a:solidFill>
                  <a:srgbClr val="09090B"/>
                </a:solidFill>
                <a:latin typeface="Arial" pitchFamily="34" charset="0"/>
                <a:ea typeface="Arial" pitchFamily="34" charset="-122"/>
                <a:cs typeface="Arial" pitchFamily="34" charset="-120"/>
              </a:rPr>
              <a:t>Tres límites declarados por el autor</a:t>
            </a:r>
            <a:endParaRPr lang="en-US" sz="3000" dirty="0"/>
          </a:p>
        </p:txBody>
      </p:sp>
      <p:sp>
        <p:nvSpPr>
          <p:cNvPr id="4" name="Text 2"/>
          <p:cNvSpPr/>
          <p:nvPr/>
        </p:nvSpPr>
        <p:spPr>
          <a:xfrm>
            <a:off x="11064240" y="6510528"/>
            <a:ext cx="548640" cy="256032"/>
          </a:xfrm>
          <a:prstGeom prst="rect">
            <a:avLst/>
          </a:prstGeom>
          <a:noFill/>
          <a:ln/>
        </p:spPr>
        <p:txBody>
          <a:bodyPr wrap="square" lIns="0" tIns="0" rIns="0" bIns="0" rtlCol="0" anchor="ctr"/>
          <a:lstStyle/>
          <a:p>
            <a:pPr algn="r" indent="0" marL="0">
              <a:buNone/>
            </a:pPr>
            <a:r>
              <a:rPr lang="en-US" sz="1000" dirty="0">
                <a:solidFill>
                  <a:srgbClr val="6C6C75"/>
                </a:solidFill>
                <a:latin typeface="Arial" pitchFamily="34" charset="0"/>
                <a:ea typeface="Arial" pitchFamily="34" charset="-122"/>
                <a:cs typeface="Arial" pitchFamily="34" charset="-120"/>
              </a:rPr>
              <a:t>16</a:t>
            </a:r>
            <a:endParaRPr lang="en-US" sz="1000" dirty="0"/>
          </a:p>
        </p:txBody>
      </p:sp>
      <p:sp>
        <p:nvSpPr>
          <p:cNvPr id="5" name="Shape 3"/>
          <p:cNvSpPr/>
          <p:nvPr/>
        </p:nvSpPr>
        <p:spPr>
          <a:xfrm>
            <a:off x="548640" y="1691640"/>
            <a:ext cx="3504895" cy="3520440"/>
          </a:xfrm>
          <a:prstGeom prst="roundRect">
            <a:avLst>
              <a:gd name="adj" fmla="val 1826"/>
            </a:avLst>
          </a:prstGeom>
          <a:solidFill>
            <a:srgbClr val="FBF2E6"/>
          </a:solidFill>
          <a:ln w="12700">
            <a:solidFill>
              <a:srgbClr val="A95C04"/>
            </a:solidFill>
            <a:prstDash val="solid"/>
          </a:ln>
        </p:spPr>
      </p:sp>
      <p:sp>
        <p:nvSpPr>
          <p:cNvPr id="6" name="Text 4"/>
          <p:cNvSpPr/>
          <p:nvPr/>
        </p:nvSpPr>
        <p:spPr>
          <a:xfrm>
            <a:off x="749808" y="1837944"/>
            <a:ext cx="3102559" cy="201168"/>
          </a:xfrm>
          <a:prstGeom prst="rect">
            <a:avLst/>
          </a:prstGeom>
          <a:noFill/>
          <a:ln/>
        </p:spPr>
        <p:txBody>
          <a:bodyPr wrap="square" lIns="0" tIns="0" rIns="0" bIns="0" rtlCol="0" anchor="ctr"/>
          <a:lstStyle/>
          <a:p>
            <a:pPr indent="0" marL="0">
              <a:buNone/>
            </a:pPr>
            <a:r>
              <a:rPr lang="en-US" sz="900" b="1" spc="120" kern="0" dirty="0">
                <a:solidFill>
                  <a:srgbClr val="A95C04"/>
                </a:solidFill>
                <a:latin typeface="Arial" pitchFamily="34" charset="0"/>
                <a:ea typeface="Arial" pitchFamily="34" charset="-122"/>
                <a:cs typeface="Arial" pitchFamily="34" charset="-120"/>
              </a:rPr>
              <a:t>CORREO INSTITUCIONAL</a:t>
            </a:r>
            <a:endParaRPr lang="en-US" sz="900" dirty="0"/>
          </a:p>
        </p:txBody>
      </p:sp>
      <p:sp>
        <p:nvSpPr>
          <p:cNvPr id="7" name="Text 5"/>
          <p:cNvSpPr/>
          <p:nvPr/>
        </p:nvSpPr>
        <p:spPr>
          <a:xfrm>
            <a:off x="749808" y="2084832"/>
            <a:ext cx="3102559" cy="2999232"/>
          </a:xfrm>
          <a:prstGeom prst="rect">
            <a:avLst/>
          </a:prstGeom>
          <a:noFill/>
          <a:ln/>
        </p:spPr>
        <p:txBody>
          <a:bodyPr wrap="square" lIns="0" tIns="0" rIns="0" bIns="0" rtlCol="0" anchor="t"/>
          <a:lstStyle/>
          <a:p>
            <a:pPr indent="0" marL="0">
              <a:lnSpc>
                <a:spcPct val="112000"/>
              </a:lnSpc>
              <a:buNone/>
            </a:pPr>
            <a:r>
              <a:rPr lang="en-US" sz="1250" dirty="0">
                <a:solidFill>
                  <a:srgbClr val="09090B"/>
                </a:solidFill>
                <a:latin typeface="Arial" pitchFamily="34" charset="0"/>
                <a:ea typeface="Arial" pitchFamily="34" charset="-122"/>
                <a:cs typeface="Arial" pitchFamily="34" charset="-120"/>
              </a:rPr>
              <a:t>No hay servicio configurado. La recuperación de contraseña la administra el administrador, y el correo opera como identificador de acceso.</a:t>
            </a:r>
            <a:endParaRPr lang="en-US" sz="1250" dirty="0"/>
          </a:p>
        </p:txBody>
      </p:sp>
      <p:sp>
        <p:nvSpPr>
          <p:cNvPr id="8" name="Shape 6"/>
          <p:cNvSpPr/>
          <p:nvPr/>
        </p:nvSpPr>
        <p:spPr>
          <a:xfrm>
            <a:off x="4327855" y="1691640"/>
            <a:ext cx="3504895" cy="3520440"/>
          </a:xfrm>
          <a:prstGeom prst="roundRect">
            <a:avLst>
              <a:gd name="adj" fmla="val 1826"/>
            </a:avLst>
          </a:prstGeom>
          <a:solidFill>
            <a:srgbClr val="FBF2E6"/>
          </a:solidFill>
          <a:ln w="12700">
            <a:solidFill>
              <a:srgbClr val="A95C04"/>
            </a:solidFill>
            <a:prstDash val="solid"/>
          </a:ln>
        </p:spPr>
      </p:sp>
      <p:sp>
        <p:nvSpPr>
          <p:cNvPr id="9" name="Text 7"/>
          <p:cNvSpPr/>
          <p:nvPr/>
        </p:nvSpPr>
        <p:spPr>
          <a:xfrm>
            <a:off x="4529023" y="1837944"/>
            <a:ext cx="3102559" cy="201168"/>
          </a:xfrm>
          <a:prstGeom prst="rect">
            <a:avLst/>
          </a:prstGeom>
          <a:noFill/>
          <a:ln/>
        </p:spPr>
        <p:txBody>
          <a:bodyPr wrap="square" lIns="0" tIns="0" rIns="0" bIns="0" rtlCol="0" anchor="ctr"/>
          <a:lstStyle/>
          <a:p>
            <a:pPr indent="0" marL="0">
              <a:buNone/>
            </a:pPr>
            <a:r>
              <a:rPr lang="en-US" sz="900" b="1" spc="120" kern="0" dirty="0">
                <a:solidFill>
                  <a:srgbClr val="A95C04"/>
                </a:solidFill>
                <a:latin typeface="Arial" pitchFamily="34" charset="0"/>
                <a:ea typeface="Arial" pitchFamily="34" charset="-122"/>
                <a:cs typeface="Arial" pitchFamily="34" charset="-120"/>
              </a:rPr>
              <a:t>VERIFICACIÓN DE FIRMA</a:t>
            </a:r>
            <a:endParaRPr lang="en-US" sz="900" dirty="0"/>
          </a:p>
        </p:txBody>
      </p:sp>
      <p:sp>
        <p:nvSpPr>
          <p:cNvPr id="10" name="Text 8"/>
          <p:cNvSpPr/>
          <p:nvPr/>
        </p:nvSpPr>
        <p:spPr>
          <a:xfrm>
            <a:off x="4529023" y="2084832"/>
            <a:ext cx="3102559" cy="2999232"/>
          </a:xfrm>
          <a:prstGeom prst="rect">
            <a:avLst/>
          </a:prstGeom>
          <a:noFill/>
          <a:ln/>
        </p:spPr>
        <p:txBody>
          <a:bodyPr wrap="square" lIns="0" tIns="0" rIns="0" bIns="0" rtlCol="0" anchor="t"/>
          <a:lstStyle/>
          <a:p>
            <a:pPr indent="0" marL="0">
              <a:lnSpc>
                <a:spcPct val="112000"/>
              </a:lnSpc>
              <a:buNone/>
            </a:pPr>
            <a:r>
              <a:rPr lang="en-US" sz="1250" dirty="0">
                <a:solidFill>
                  <a:srgbClr val="09090B"/>
                </a:solidFill>
                <a:latin typeface="Arial" pitchFamily="34" charset="0"/>
                <a:ea typeface="Arial" pitchFamily="34" charset="-122"/>
                <a:cs typeface="Arial" pitchFamily="34" charset="-120"/>
              </a:rPr>
              <a:t>Es estructural, no criptográfica: confirma que el archivo lleve firma embebida y corresponda al lote, pero no recorre la cadena de certificación. Esa validación queda en FirmaEC.</a:t>
            </a:r>
            <a:endParaRPr lang="en-US" sz="1250" dirty="0"/>
          </a:p>
        </p:txBody>
      </p:sp>
      <p:sp>
        <p:nvSpPr>
          <p:cNvPr id="11" name="Shape 9"/>
          <p:cNvSpPr/>
          <p:nvPr/>
        </p:nvSpPr>
        <p:spPr>
          <a:xfrm>
            <a:off x="8107070" y="1691640"/>
            <a:ext cx="3504895" cy="3520440"/>
          </a:xfrm>
          <a:prstGeom prst="roundRect">
            <a:avLst>
              <a:gd name="adj" fmla="val 1826"/>
            </a:avLst>
          </a:prstGeom>
          <a:solidFill>
            <a:srgbClr val="FBF2E6"/>
          </a:solidFill>
          <a:ln w="12700">
            <a:solidFill>
              <a:srgbClr val="A95C04"/>
            </a:solidFill>
            <a:prstDash val="solid"/>
          </a:ln>
        </p:spPr>
      </p:sp>
      <p:sp>
        <p:nvSpPr>
          <p:cNvPr id="12" name="Text 10"/>
          <p:cNvSpPr/>
          <p:nvPr/>
        </p:nvSpPr>
        <p:spPr>
          <a:xfrm>
            <a:off x="8308238" y="1837944"/>
            <a:ext cx="3102559" cy="201168"/>
          </a:xfrm>
          <a:prstGeom prst="rect">
            <a:avLst/>
          </a:prstGeom>
          <a:noFill/>
          <a:ln/>
        </p:spPr>
        <p:txBody>
          <a:bodyPr wrap="square" lIns="0" tIns="0" rIns="0" bIns="0" rtlCol="0" anchor="ctr"/>
          <a:lstStyle/>
          <a:p>
            <a:pPr indent="0" marL="0">
              <a:buNone/>
            </a:pPr>
            <a:r>
              <a:rPr lang="en-US" sz="900" b="1" spc="120" kern="0" dirty="0">
                <a:solidFill>
                  <a:srgbClr val="A95C04"/>
                </a:solidFill>
                <a:latin typeface="Arial" pitchFamily="34" charset="0"/>
                <a:ea typeface="Arial" pitchFamily="34" charset="-122"/>
                <a:cs typeface="Arial" pitchFamily="34" charset="-120"/>
              </a:rPr>
              <a:t>PUBLICACIÓN EN LÍNEA</a:t>
            </a:r>
            <a:endParaRPr lang="en-US" sz="900" dirty="0"/>
          </a:p>
        </p:txBody>
      </p:sp>
      <p:sp>
        <p:nvSpPr>
          <p:cNvPr id="13" name="Text 11"/>
          <p:cNvSpPr/>
          <p:nvPr/>
        </p:nvSpPr>
        <p:spPr>
          <a:xfrm>
            <a:off x="8308238" y="2084832"/>
            <a:ext cx="3102559" cy="2999232"/>
          </a:xfrm>
          <a:prstGeom prst="rect">
            <a:avLst/>
          </a:prstGeom>
          <a:noFill/>
          <a:ln/>
        </p:spPr>
        <p:txBody>
          <a:bodyPr wrap="square" lIns="0" tIns="0" rIns="0" bIns="0" rtlCol="0" anchor="t"/>
          <a:lstStyle/>
          <a:p>
            <a:pPr indent="0" marL="0">
              <a:lnSpc>
                <a:spcPct val="112000"/>
              </a:lnSpc>
              <a:buNone/>
            </a:pPr>
            <a:r>
              <a:rPr lang="en-US" sz="1250" dirty="0">
                <a:solidFill>
                  <a:srgbClr val="09090B"/>
                </a:solidFill>
                <a:latin typeface="Arial" pitchFamily="34" charset="0"/>
                <a:ea typeface="Arial" pitchFamily="34" charset="-122"/>
                <a:cs typeface="Arial" pitchFamily="34" charset="-120"/>
              </a:rPr>
              <a:t>Validado en un entorno de producción local. La puesta en línea quedó supeditada a la decisión institucional sobre el alojamiento definitivo.</a:t>
            </a:r>
            <a:endParaRPr lang="en-US" sz="1250" dirty="0"/>
          </a:p>
        </p:txBody>
      </p:sp>
      <p:sp>
        <p:nvSpPr>
          <p:cNvPr id="14" name="Shape 12"/>
          <p:cNvSpPr/>
          <p:nvPr/>
        </p:nvSpPr>
        <p:spPr>
          <a:xfrm>
            <a:off x="548640" y="5394960"/>
            <a:ext cx="11064240" cy="914400"/>
          </a:xfrm>
          <a:prstGeom prst="roundRect">
            <a:avLst>
              <a:gd name="adj" fmla="val 7000"/>
            </a:avLst>
          </a:prstGeom>
          <a:solidFill>
            <a:srgbClr val="F7F7F8"/>
          </a:solidFill>
          <a:ln w="12700">
            <a:solidFill>
              <a:srgbClr val="E4E4E7"/>
            </a:solidFill>
            <a:prstDash val="solid"/>
          </a:ln>
        </p:spPr>
      </p:sp>
      <p:sp>
        <p:nvSpPr>
          <p:cNvPr id="15" name="Text 13"/>
          <p:cNvSpPr/>
          <p:nvPr/>
        </p:nvSpPr>
        <p:spPr>
          <a:xfrm>
            <a:off x="749808" y="5541264"/>
            <a:ext cx="10661904" cy="201168"/>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ALCANCE</a:t>
            </a:r>
            <a:endParaRPr lang="en-US" sz="900" dirty="0"/>
          </a:p>
        </p:txBody>
      </p:sp>
      <p:sp>
        <p:nvSpPr>
          <p:cNvPr id="16" name="Text 14"/>
          <p:cNvSpPr/>
          <p:nvPr/>
        </p:nvSpPr>
        <p:spPr>
          <a:xfrm>
            <a:off x="749808" y="5788152"/>
            <a:ext cx="10661904" cy="393192"/>
          </a:xfrm>
          <a:prstGeom prst="rect">
            <a:avLst/>
          </a:prstGeom>
          <a:noFill/>
          <a:ln/>
        </p:spPr>
        <p:txBody>
          <a:bodyPr wrap="square" lIns="0" tIns="0" rIns="0" bIns="0" rtlCol="0" anchor="t"/>
          <a:lstStyle/>
          <a:p>
            <a:pPr indent="0" marL="0">
              <a:lnSpc>
                <a:spcPct val="112000"/>
              </a:lnSpc>
              <a:buNone/>
            </a:pPr>
            <a:r>
              <a:rPr lang="en-US" sz="1150" dirty="0">
                <a:solidFill>
                  <a:srgbClr val="09090B"/>
                </a:solidFill>
                <a:latin typeface="Arial" pitchFamily="34" charset="0"/>
                <a:ea typeface="Arial" pitchFamily="34" charset="-122"/>
                <a:cs typeface="Arial" pitchFamily="34" charset="-120"/>
              </a:rPr>
              <a:t>El alcance funcional se delimitó a la Carrera de Tecnologías de la Información, aunque la arquitectura multi-facultad del modelo de datos deja preparado el terreno para su extensión.</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19456"/>
          </a:xfrm>
          <a:prstGeom prst="rect">
            <a:avLst/>
          </a:prstGeom>
          <a:noFill/>
          <a:ln/>
        </p:spPr>
        <p:txBody>
          <a:bodyPr wrap="square" lIns="0" tIns="0" rIns="0" bIns="0" rtlCol="0" anchor="ctr"/>
          <a:lstStyle/>
          <a:p>
            <a:pPr indent="0" marL="0">
              <a:buNone/>
            </a:pPr>
            <a:r>
              <a:rPr lang="en-US" sz="1000" b="1" spc="140" kern="0" dirty="0">
                <a:solidFill>
                  <a:srgbClr val="2563EB"/>
                </a:solidFill>
                <a:latin typeface="Arial" pitchFamily="34" charset="0"/>
                <a:ea typeface="Arial" pitchFamily="34" charset="-122"/>
                <a:cs typeface="Arial" pitchFamily="34" charset="-120"/>
              </a:rPr>
              <a:t>CAPÍTULO VI · CONCLUSIONES</a:t>
            </a:r>
            <a:endParaRPr lang="en-US" sz="1000" dirty="0"/>
          </a:p>
        </p:txBody>
      </p:sp>
      <p:sp>
        <p:nvSpPr>
          <p:cNvPr id="3" name="Text 1"/>
          <p:cNvSpPr/>
          <p:nvPr/>
        </p:nvSpPr>
        <p:spPr>
          <a:xfrm>
            <a:off x="548640" y="640080"/>
            <a:ext cx="11064240" cy="566928"/>
          </a:xfrm>
          <a:prstGeom prst="rect">
            <a:avLst/>
          </a:prstGeom>
          <a:noFill/>
          <a:ln/>
        </p:spPr>
        <p:txBody>
          <a:bodyPr wrap="square" lIns="0" tIns="0" rIns="0" bIns="0" rtlCol="0" anchor="t"/>
          <a:lstStyle/>
          <a:p>
            <a:pPr indent="0" marL="0">
              <a:buNone/>
            </a:pPr>
            <a:r>
              <a:rPr lang="en-US" sz="3000" b="1" dirty="0">
                <a:solidFill>
                  <a:srgbClr val="09090B"/>
                </a:solidFill>
                <a:latin typeface="Arial" pitchFamily="34" charset="0"/>
                <a:ea typeface="Arial" pitchFamily="34" charset="-122"/>
                <a:cs typeface="Arial" pitchFamily="34" charset="-120"/>
              </a:rPr>
              <a:t>Conclusión del objetivo específico 1</a:t>
            </a:r>
            <a:endParaRPr lang="en-US" sz="3000" dirty="0"/>
          </a:p>
        </p:txBody>
      </p:sp>
      <p:sp>
        <p:nvSpPr>
          <p:cNvPr id="4" name="Text 2"/>
          <p:cNvSpPr/>
          <p:nvPr/>
        </p:nvSpPr>
        <p:spPr>
          <a:xfrm>
            <a:off x="11064240" y="6510528"/>
            <a:ext cx="548640" cy="256032"/>
          </a:xfrm>
          <a:prstGeom prst="rect">
            <a:avLst/>
          </a:prstGeom>
          <a:noFill/>
          <a:ln/>
        </p:spPr>
        <p:txBody>
          <a:bodyPr wrap="square" lIns="0" tIns="0" rIns="0" bIns="0" rtlCol="0" anchor="ctr"/>
          <a:lstStyle/>
          <a:p>
            <a:pPr algn="r" indent="0" marL="0">
              <a:buNone/>
            </a:pPr>
            <a:r>
              <a:rPr lang="en-US" sz="1000" dirty="0">
                <a:solidFill>
                  <a:srgbClr val="6C6C75"/>
                </a:solidFill>
                <a:latin typeface="Arial" pitchFamily="34" charset="0"/>
                <a:ea typeface="Arial" pitchFamily="34" charset="-122"/>
                <a:cs typeface="Arial" pitchFamily="34" charset="-120"/>
              </a:rPr>
              <a:t>17</a:t>
            </a:r>
            <a:endParaRPr lang="en-US" sz="1000" dirty="0"/>
          </a:p>
        </p:txBody>
      </p:sp>
      <p:sp>
        <p:nvSpPr>
          <p:cNvPr id="5" name="Text 3"/>
          <p:cNvSpPr/>
          <p:nvPr/>
        </p:nvSpPr>
        <p:spPr>
          <a:xfrm>
            <a:off x="548640" y="1417320"/>
            <a:ext cx="1554480" cy="1463040"/>
          </a:xfrm>
          <a:prstGeom prst="rect">
            <a:avLst/>
          </a:prstGeom>
          <a:noFill/>
          <a:ln/>
        </p:spPr>
        <p:txBody>
          <a:bodyPr wrap="square" lIns="0" tIns="0" rIns="0" bIns="0" rtlCol="0" anchor="t"/>
          <a:lstStyle/>
          <a:p>
            <a:pPr indent="0" marL="0">
              <a:buNone/>
            </a:pPr>
            <a:r>
              <a:rPr lang="en-US" sz="9600" b="1" dirty="0">
                <a:solidFill>
                  <a:srgbClr val="8FB2F5"/>
                </a:solidFill>
                <a:latin typeface="Arial" pitchFamily="34" charset="0"/>
                <a:ea typeface="Arial" pitchFamily="34" charset="-122"/>
                <a:cs typeface="Arial" pitchFamily="34" charset="-120"/>
              </a:rPr>
              <a:t>1</a:t>
            </a:r>
            <a:endParaRPr lang="en-US" sz="9600" dirty="0"/>
          </a:p>
        </p:txBody>
      </p:sp>
      <p:sp>
        <p:nvSpPr>
          <p:cNvPr id="6" name="Text 4"/>
          <p:cNvSpPr/>
          <p:nvPr/>
        </p:nvSpPr>
        <p:spPr>
          <a:xfrm>
            <a:off x="2194560" y="1536192"/>
            <a:ext cx="9418320" cy="219456"/>
          </a:xfrm>
          <a:prstGeom prst="rect">
            <a:avLst/>
          </a:prstGeom>
          <a:noFill/>
          <a:ln/>
        </p:spPr>
        <p:txBody>
          <a:bodyPr wrap="square" lIns="0" tIns="0" rIns="0" bIns="0" rtlCol="0" anchor="ctr"/>
          <a:lstStyle/>
          <a:p>
            <a:pPr indent="0" marL="0">
              <a:buNone/>
            </a:pPr>
            <a:r>
              <a:rPr lang="en-US" sz="900" b="1" spc="120" kern="0" dirty="0">
                <a:solidFill>
                  <a:srgbClr val="6C6C75"/>
                </a:solidFill>
                <a:latin typeface="Arial" pitchFamily="34" charset="0"/>
                <a:ea typeface="Arial" pitchFamily="34" charset="-122"/>
                <a:cs typeface="Arial" pitchFamily="34" charset="-120"/>
              </a:rPr>
              <a:t>OBJETIVO ESPECÍFICO</a:t>
            </a:r>
            <a:endParaRPr lang="en-US" sz="900" dirty="0"/>
          </a:p>
        </p:txBody>
      </p:sp>
      <p:sp>
        <p:nvSpPr>
          <p:cNvPr id="7" name="Text 5"/>
          <p:cNvSpPr/>
          <p:nvPr/>
        </p:nvSpPr>
        <p:spPr>
          <a:xfrm>
            <a:off x="2194560" y="1810512"/>
            <a:ext cx="9418320" cy="914400"/>
          </a:xfrm>
          <a:prstGeom prst="rect">
            <a:avLst/>
          </a:prstGeom>
          <a:noFill/>
          <a:ln/>
        </p:spPr>
        <p:txBody>
          <a:bodyPr wrap="square" lIns="0" tIns="0" rIns="0" bIns="0" rtlCol="0" anchor="t"/>
          <a:lstStyle/>
          <a:p>
            <a:pPr indent="0" marL="0">
              <a:lnSpc>
                <a:spcPct val="115000"/>
              </a:lnSpc>
              <a:buNone/>
            </a:pPr>
            <a:r>
              <a:rPr lang="en-US" sz="1400" dirty="0">
                <a:solidFill>
                  <a:srgbClr val="6C6C75"/>
                </a:solidFill>
                <a:latin typeface="Arial" pitchFamily="34" charset="0"/>
                <a:ea typeface="Arial" pitchFamily="34" charset="-122"/>
                <a:cs typeface="Arial" pitchFamily="34" charset="-120"/>
              </a:rPr>
              <a:t>Analizar el procedimiento actual de emisión de solicitudes, designaciones y certificados, con el fin de establecer los requerimientos funcionales y no funcionales de la aplicación web.</a:t>
            </a:r>
            <a:endParaRPr lang="en-US" sz="1400" dirty="0"/>
          </a:p>
        </p:txBody>
      </p:sp>
      <p:sp>
        <p:nvSpPr>
          <p:cNvPr id="8" name="Text 6"/>
          <p:cNvSpPr/>
          <p:nvPr/>
        </p:nvSpPr>
        <p:spPr>
          <a:xfrm>
            <a:off x="2194560" y="3035808"/>
            <a:ext cx="9418320" cy="219456"/>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CONCLUSIÓN</a:t>
            </a:r>
            <a:endParaRPr lang="en-US" sz="900" dirty="0"/>
          </a:p>
        </p:txBody>
      </p:sp>
      <p:sp>
        <p:nvSpPr>
          <p:cNvPr id="9" name="Text 7"/>
          <p:cNvSpPr/>
          <p:nvPr/>
        </p:nvSpPr>
        <p:spPr>
          <a:xfrm>
            <a:off x="2194560" y="3328416"/>
            <a:ext cx="9418320" cy="1874520"/>
          </a:xfrm>
          <a:prstGeom prst="rect">
            <a:avLst/>
          </a:prstGeom>
          <a:noFill/>
          <a:ln/>
        </p:spPr>
        <p:txBody>
          <a:bodyPr wrap="square" lIns="0" tIns="0" rIns="0" bIns="0" rtlCol="0" anchor="t"/>
          <a:lstStyle/>
          <a:p>
            <a:pPr indent="0" marL="0">
              <a:lnSpc>
                <a:spcPct val="120000"/>
              </a:lnSpc>
              <a:buNone/>
            </a:pPr>
            <a:r>
              <a:rPr lang="en-US" sz="1700" dirty="0">
                <a:solidFill>
                  <a:srgbClr val="09090B"/>
                </a:solidFill>
                <a:latin typeface="Arial" pitchFamily="34" charset="0"/>
                <a:ea typeface="Arial" pitchFamily="34" charset="-122"/>
                <a:cs typeface="Arial" pitchFamily="34" charset="-120"/>
              </a:rPr>
              <a:t>El procedimiento vigente se documentó desde dos fuentes contrastadas entre sí —la entrevista con la funcionaria que ejecuta el trámite y el cuestionario del docente responsable—, cotejadas con los formatos institucionales y con expedientes de períodos anteriores. De cada punto crítico se derivó un requisito: ninguna función del sistema descansa sobre un supuesto.</a:t>
            </a:r>
            <a:endParaRPr lang="en-US" sz="1700" dirty="0"/>
          </a:p>
        </p:txBody>
      </p:sp>
      <p:sp>
        <p:nvSpPr>
          <p:cNvPr id="10" name="Text 8"/>
          <p:cNvSpPr/>
          <p:nvPr/>
        </p:nvSpPr>
        <p:spPr>
          <a:xfrm>
            <a:off x="2194560" y="5321808"/>
            <a:ext cx="9418320" cy="256032"/>
          </a:xfrm>
          <a:prstGeom prst="rect">
            <a:avLst/>
          </a:prstGeom>
          <a:noFill/>
          <a:ln/>
        </p:spPr>
        <p:txBody>
          <a:bodyPr wrap="square" lIns="0" tIns="0" rIns="0" bIns="0" rtlCol="0" anchor="ctr"/>
          <a:lstStyle/>
          <a:p>
            <a:pPr indent="0" marL="0">
              <a:buNone/>
            </a:pPr>
            <a:r>
              <a:rPr lang="en-US" sz="1000" dirty="0">
                <a:solidFill>
                  <a:srgbClr val="6C6C75"/>
                </a:solidFill>
                <a:latin typeface="Arial" pitchFamily="34" charset="0"/>
                <a:ea typeface="Arial" pitchFamily="34" charset="-122"/>
                <a:cs typeface="Arial" pitchFamily="34" charset="-120"/>
              </a:rPr>
              <a:t>Evidencia: Capítulo III, apartados 3.9.1 y 3.9.2 · Anexos A y J</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19456"/>
          </a:xfrm>
          <a:prstGeom prst="rect">
            <a:avLst/>
          </a:prstGeom>
          <a:noFill/>
          <a:ln/>
        </p:spPr>
        <p:txBody>
          <a:bodyPr wrap="square" lIns="0" tIns="0" rIns="0" bIns="0" rtlCol="0" anchor="ctr"/>
          <a:lstStyle/>
          <a:p>
            <a:pPr indent="0" marL="0">
              <a:buNone/>
            </a:pPr>
            <a:r>
              <a:rPr lang="en-US" sz="1000" b="1" spc="140" kern="0" dirty="0">
                <a:solidFill>
                  <a:srgbClr val="2563EB"/>
                </a:solidFill>
                <a:latin typeface="Arial" pitchFamily="34" charset="0"/>
                <a:ea typeface="Arial" pitchFamily="34" charset="-122"/>
                <a:cs typeface="Arial" pitchFamily="34" charset="-120"/>
              </a:rPr>
              <a:t>CAPÍTULO VI · CONCLUSIONES</a:t>
            </a:r>
            <a:endParaRPr lang="en-US" sz="1000" dirty="0"/>
          </a:p>
        </p:txBody>
      </p:sp>
      <p:sp>
        <p:nvSpPr>
          <p:cNvPr id="3" name="Text 1"/>
          <p:cNvSpPr/>
          <p:nvPr/>
        </p:nvSpPr>
        <p:spPr>
          <a:xfrm>
            <a:off x="548640" y="640080"/>
            <a:ext cx="11064240" cy="566928"/>
          </a:xfrm>
          <a:prstGeom prst="rect">
            <a:avLst/>
          </a:prstGeom>
          <a:noFill/>
          <a:ln/>
        </p:spPr>
        <p:txBody>
          <a:bodyPr wrap="square" lIns="0" tIns="0" rIns="0" bIns="0" rtlCol="0" anchor="t"/>
          <a:lstStyle/>
          <a:p>
            <a:pPr indent="0" marL="0">
              <a:buNone/>
            </a:pPr>
            <a:r>
              <a:rPr lang="en-US" sz="3000" b="1" dirty="0">
                <a:solidFill>
                  <a:srgbClr val="09090B"/>
                </a:solidFill>
                <a:latin typeface="Arial" pitchFamily="34" charset="0"/>
                <a:ea typeface="Arial" pitchFamily="34" charset="-122"/>
                <a:cs typeface="Arial" pitchFamily="34" charset="-120"/>
              </a:rPr>
              <a:t>Conclusión del objetivo específico 2</a:t>
            </a:r>
            <a:endParaRPr lang="en-US" sz="3000" dirty="0"/>
          </a:p>
        </p:txBody>
      </p:sp>
      <p:sp>
        <p:nvSpPr>
          <p:cNvPr id="4" name="Text 2"/>
          <p:cNvSpPr/>
          <p:nvPr/>
        </p:nvSpPr>
        <p:spPr>
          <a:xfrm>
            <a:off x="11064240" y="6510528"/>
            <a:ext cx="548640" cy="256032"/>
          </a:xfrm>
          <a:prstGeom prst="rect">
            <a:avLst/>
          </a:prstGeom>
          <a:noFill/>
          <a:ln/>
        </p:spPr>
        <p:txBody>
          <a:bodyPr wrap="square" lIns="0" tIns="0" rIns="0" bIns="0" rtlCol="0" anchor="ctr"/>
          <a:lstStyle/>
          <a:p>
            <a:pPr algn="r" indent="0" marL="0">
              <a:buNone/>
            </a:pPr>
            <a:r>
              <a:rPr lang="en-US" sz="1000" dirty="0">
                <a:solidFill>
                  <a:srgbClr val="6C6C75"/>
                </a:solidFill>
                <a:latin typeface="Arial" pitchFamily="34" charset="0"/>
                <a:ea typeface="Arial" pitchFamily="34" charset="-122"/>
                <a:cs typeface="Arial" pitchFamily="34" charset="-120"/>
              </a:rPr>
              <a:t>18</a:t>
            </a:r>
            <a:endParaRPr lang="en-US" sz="1000" dirty="0"/>
          </a:p>
        </p:txBody>
      </p:sp>
      <p:sp>
        <p:nvSpPr>
          <p:cNvPr id="5" name="Text 3"/>
          <p:cNvSpPr/>
          <p:nvPr/>
        </p:nvSpPr>
        <p:spPr>
          <a:xfrm>
            <a:off x="548640" y="1417320"/>
            <a:ext cx="1554480" cy="1463040"/>
          </a:xfrm>
          <a:prstGeom prst="rect">
            <a:avLst/>
          </a:prstGeom>
          <a:noFill/>
          <a:ln/>
        </p:spPr>
        <p:txBody>
          <a:bodyPr wrap="square" lIns="0" tIns="0" rIns="0" bIns="0" rtlCol="0" anchor="t"/>
          <a:lstStyle/>
          <a:p>
            <a:pPr indent="0" marL="0">
              <a:buNone/>
            </a:pPr>
            <a:r>
              <a:rPr lang="en-US" sz="9600" b="1" dirty="0">
                <a:solidFill>
                  <a:srgbClr val="8FB2F5"/>
                </a:solidFill>
                <a:latin typeface="Arial" pitchFamily="34" charset="0"/>
                <a:ea typeface="Arial" pitchFamily="34" charset="-122"/>
                <a:cs typeface="Arial" pitchFamily="34" charset="-120"/>
              </a:rPr>
              <a:t>2</a:t>
            </a:r>
            <a:endParaRPr lang="en-US" sz="9600" dirty="0"/>
          </a:p>
        </p:txBody>
      </p:sp>
      <p:sp>
        <p:nvSpPr>
          <p:cNvPr id="6" name="Text 4"/>
          <p:cNvSpPr/>
          <p:nvPr/>
        </p:nvSpPr>
        <p:spPr>
          <a:xfrm>
            <a:off x="2194560" y="1536192"/>
            <a:ext cx="9418320" cy="219456"/>
          </a:xfrm>
          <a:prstGeom prst="rect">
            <a:avLst/>
          </a:prstGeom>
          <a:noFill/>
          <a:ln/>
        </p:spPr>
        <p:txBody>
          <a:bodyPr wrap="square" lIns="0" tIns="0" rIns="0" bIns="0" rtlCol="0" anchor="ctr"/>
          <a:lstStyle/>
          <a:p>
            <a:pPr indent="0" marL="0">
              <a:buNone/>
            </a:pPr>
            <a:r>
              <a:rPr lang="en-US" sz="900" b="1" spc="120" kern="0" dirty="0">
                <a:solidFill>
                  <a:srgbClr val="6C6C75"/>
                </a:solidFill>
                <a:latin typeface="Arial" pitchFamily="34" charset="0"/>
                <a:ea typeface="Arial" pitchFamily="34" charset="-122"/>
                <a:cs typeface="Arial" pitchFamily="34" charset="-120"/>
              </a:rPr>
              <a:t>OBJETIVO ESPECÍFICO</a:t>
            </a:r>
            <a:endParaRPr lang="en-US" sz="900" dirty="0"/>
          </a:p>
        </p:txBody>
      </p:sp>
      <p:sp>
        <p:nvSpPr>
          <p:cNvPr id="7" name="Text 5"/>
          <p:cNvSpPr/>
          <p:nvPr/>
        </p:nvSpPr>
        <p:spPr>
          <a:xfrm>
            <a:off x="2194560" y="1810512"/>
            <a:ext cx="9418320" cy="914400"/>
          </a:xfrm>
          <a:prstGeom prst="rect">
            <a:avLst/>
          </a:prstGeom>
          <a:noFill/>
          <a:ln/>
        </p:spPr>
        <p:txBody>
          <a:bodyPr wrap="square" lIns="0" tIns="0" rIns="0" bIns="0" rtlCol="0" anchor="t"/>
          <a:lstStyle/>
          <a:p>
            <a:pPr indent="0" marL="0">
              <a:lnSpc>
                <a:spcPct val="115000"/>
              </a:lnSpc>
              <a:buNone/>
            </a:pPr>
            <a:r>
              <a:rPr lang="en-US" sz="1400" dirty="0">
                <a:solidFill>
                  <a:srgbClr val="6C6C75"/>
                </a:solidFill>
                <a:latin typeface="Arial" pitchFamily="34" charset="0"/>
                <a:ea typeface="Arial" pitchFamily="34" charset="-122"/>
                <a:cs typeface="Arial" pitchFamily="34" charset="-120"/>
              </a:rPr>
              <a:t>Determinar la arquitectura de software, las herramientas tecnológicas y la metodología de desarrollo más adecuadas para la construcción de la aplicación.</a:t>
            </a:r>
            <a:endParaRPr lang="en-US" sz="1400" dirty="0"/>
          </a:p>
        </p:txBody>
      </p:sp>
      <p:sp>
        <p:nvSpPr>
          <p:cNvPr id="8" name="Text 6"/>
          <p:cNvSpPr/>
          <p:nvPr/>
        </p:nvSpPr>
        <p:spPr>
          <a:xfrm>
            <a:off x="2194560" y="3035808"/>
            <a:ext cx="9418320" cy="219456"/>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CONCLUSIÓN</a:t>
            </a:r>
            <a:endParaRPr lang="en-US" sz="900" dirty="0"/>
          </a:p>
        </p:txBody>
      </p:sp>
      <p:sp>
        <p:nvSpPr>
          <p:cNvPr id="9" name="Text 7"/>
          <p:cNvSpPr/>
          <p:nvPr/>
        </p:nvSpPr>
        <p:spPr>
          <a:xfrm>
            <a:off x="2194560" y="3328416"/>
            <a:ext cx="9418320" cy="1874520"/>
          </a:xfrm>
          <a:prstGeom prst="rect">
            <a:avLst/>
          </a:prstGeom>
          <a:noFill/>
          <a:ln/>
        </p:spPr>
        <p:txBody>
          <a:bodyPr wrap="square" lIns="0" tIns="0" rIns="0" bIns="0" rtlCol="0" anchor="t"/>
          <a:lstStyle/>
          <a:p>
            <a:pPr indent="0" marL="0">
              <a:lnSpc>
                <a:spcPct val="120000"/>
              </a:lnSpc>
              <a:buNone/>
            </a:pPr>
            <a:r>
              <a:rPr lang="en-US" sz="1700" dirty="0">
                <a:solidFill>
                  <a:srgbClr val="09090B"/>
                </a:solidFill>
                <a:latin typeface="Arial" pitchFamily="34" charset="0"/>
                <a:ea typeface="Arial" pitchFamily="34" charset="-122"/>
                <a:cs typeface="Arial" pitchFamily="34" charset="-120"/>
              </a:rPr>
              <a:t>La selección tecnológica se resolvió comparando alternativas para cada capa antes de comprometer una decisión, y no enumerando lo ya conocido. La arquitectura cliente-servidor se apoya en un modelo relacional que abarca facultades, carreras, períodos, estudiantes, prácticas y documentos, con la integridad garantizada por el propio motor de base de datos.</a:t>
            </a:r>
            <a:endParaRPr lang="en-US" sz="1700" dirty="0"/>
          </a:p>
        </p:txBody>
      </p:sp>
      <p:sp>
        <p:nvSpPr>
          <p:cNvPr id="10" name="Text 8"/>
          <p:cNvSpPr/>
          <p:nvPr/>
        </p:nvSpPr>
        <p:spPr>
          <a:xfrm>
            <a:off x="2194560" y="5321808"/>
            <a:ext cx="9418320" cy="256032"/>
          </a:xfrm>
          <a:prstGeom prst="rect">
            <a:avLst/>
          </a:prstGeom>
          <a:noFill/>
          <a:ln/>
        </p:spPr>
        <p:txBody>
          <a:bodyPr wrap="square" lIns="0" tIns="0" rIns="0" bIns="0" rtlCol="0" anchor="ctr"/>
          <a:lstStyle/>
          <a:p>
            <a:pPr indent="0" marL="0">
              <a:buNone/>
            </a:pPr>
            <a:r>
              <a:rPr lang="en-US" sz="1000" dirty="0">
                <a:solidFill>
                  <a:srgbClr val="6C6C75"/>
                </a:solidFill>
                <a:latin typeface="Arial" pitchFamily="34" charset="0"/>
                <a:ea typeface="Arial" pitchFamily="34" charset="-122"/>
                <a:cs typeface="Arial" pitchFamily="34" charset="-120"/>
              </a:rPr>
              <a:t>Evidencia: Capítulo II, apartado 2.6 · Tablas 2 a 5 · Capítulo IV, apartado 4.5</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19456"/>
          </a:xfrm>
          <a:prstGeom prst="rect">
            <a:avLst/>
          </a:prstGeom>
          <a:noFill/>
          <a:ln/>
        </p:spPr>
        <p:txBody>
          <a:bodyPr wrap="square" lIns="0" tIns="0" rIns="0" bIns="0" rtlCol="0" anchor="ctr"/>
          <a:lstStyle/>
          <a:p>
            <a:pPr indent="0" marL="0">
              <a:buNone/>
            </a:pPr>
            <a:r>
              <a:rPr lang="en-US" sz="1000" b="1" spc="140" kern="0" dirty="0">
                <a:solidFill>
                  <a:srgbClr val="2563EB"/>
                </a:solidFill>
                <a:latin typeface="Arial" pitchFamily="34" charset="0"/>
                <a:ea typeface="Arial" pitchFamily="34" charset="-122"/>
                <a:cs typeface="Arial" pitchFamily="34" charset="-120"/>
              </a:rPr>
              <a:t>CAPÍTULO VI · CONCLUSIONES</a:t>
            </a:r>
            <a:endParaRPr lang="en-US" sz="1000" dirty="0"/>
          </a:p>
        </p:txBody>
      </p:sp>
      <p:sp>
        <p:nvSpPr>
          <p:cNvPr id="3" name="Text 1"/>
          <p:cNvSpPr/>
          <p:nvPr/>
        </p:nvSpPr>
        <p:spPr>
          <a:xfrm>
            <a:off x="548640" y="640080"/>
            <a:ext cx="11064240" cy="566928"/>
          </a:xfrm>
          <a:prstGeom prst="rect">
            <a:avLst/>
          </a:prstGeom>
          <a:noFill/>
          <a:ln/>
        </p:spPr>
        <p:txBody>
          <a:bodyPr wrap="square" lIns="0" tIns="0" rIns="0" bIns="0" rtlCol="0" anchor="t"/>
          <a:lstStyle/>
          <a:p>
            <a:pPr indent="0" marL="0">
              <a:buNone/>
            </a:pPr>
            <a:r>
              <a:rPr lang="en-US" sz="3000" b="1" dirty="0">
                <a:solidFill>
                  <a:srgbClr val="09090B"/>
                </a:solidFill>
                <a:latin typeface="Arial" pitchFamily="34" charset="0"/>
                <a:ea typeface="Arial" pitchFamily="34" charset="-122"/>
                <a:cs typeface="Arial" pitchFamily="34" charset="-120"/>
              </a:rPr>
              <a:t>Conclusión del objetivo específico 3</a:t>
            </a:r>
            <a:endParaRPr lang="en-US" sz="3000" dirty="0"/>
          </a:p>
        </p:txBody>
      </p:sp>
      <p:sp>
        <p:nvSpPr>
          <p:cNvPr id="4" name="Text 2"/>
          <p:cNvSpPr/>
          <p:nvPr/>
        </p:nvSpPr>
        <p:spPr>
          <a:xfrm>
            <a:off x="11064240" y="6510528"/>
            <a:ext cx="548640" cy="256032"/>
          </a:xfrm>
          <a:prstGeom prst="rect">
            <a:avLst/>
          </a:prstGeom>
          <a:noFill/>
          <a:ln/>
        </p:spPr>
        <p:txBody>
          <a:bodyPr wrap="square" lIns="0" tIns="0" rIns="0" bIns="0" rtlCol="0" anchor="ctr"/>
          <a:lstStyle/>
          <a:p>
            <a:pPr algn="r" indent="0" marL="0">
              <a:buNone/>
            </a:pPr>
            <a:r>
              <a:rPr lang="en-US" sz="1000" dirty="0">
                <a:solidFill>
                  <a:srgbClr val="6C6C75"/>
                </a:solidFill>
                <a:latin typeface="Arial" pitchFamily="34" charset="0"/>
                <a:ea typeface="Arial" pitchFamily="34" charset="-122"/>
                <a:cs typeface="Arial" pitchFamily="34" charset="-120"/>
              </a:rPr>
              <a:t>19</a:t>
            </a:r>
            <a:endParaRPr lang="en-US" sz="1000" dirty="0"/>
          </a:p>
        </p:txBody>
      </p:sp>
      <p:sp>
        <p:nvSpPr>
          <p:cNvPr id="5" name="Text 3"/>
          <p:cNvSpPr/>
          <p:nvPr/>
        </p:nvSpPr>
        <p:spPr>
          <a:xfrm>
            <a:off x="548640" y="1417320"/>
            <a:ext cx="1554480" cy="1463040"/>
          </a:xfrm>
          <a:prstGeom prst="rect">
            <a:avLst/>
          </a:prstGeom>
          <a:noFill/>
          <a:ln/>
        </p:spPr>
        <p:txBody>
          <a:bodyPr wrap="square" lIns="0" tIns="0" rIns="0" bIns="0" rtlCol="0" anchor="t"/>
          <a:lstStyle/>
          <a:p>
            <a:pPr indent="0" marL="0">
              <a:buNone/>
            </a:pPr>
            <a:r>
              <a:rPr lang="en-US" sz="9600" b="1" dirty="0">
                <a:solidFill>
                  <a:srgbClr val="8FB2F5"/>
                </a:solidFill>
                <a:latin typeface="Arial" pitchFamily="34" charset="0"/>
                <a:ea typeface="Arial" pitchFamily="34" charset="-122"/>
                <a:cs typeface="Arial" pitchFamily="34" charset="-120"/>
              </a:rPr>
              <a:t>3</a:t>
            </a:r>
            <a:endParaRPr lang="en-US" sz="9600" dirty="0"/>
          </a:p>
        </p:txBody>
      </p:sp>
      <p:sp>
        <p:nvSpPr>
          <p:cNvPr id="6" name="Text 4"/>
          <p:cNvSpPr/>
          <p:nvPr/>
        </p:nvSpPr>
        <p:spPr>
          <a:xfrm>
            <a:off x="2194560" y="1536192"/>
            <a:ext cx="9418320" cy="219456"/>
          </a:xfrm>
          <a:prstGeom prst="rect">
            <a:avLst/>
          </a:prstGeom>
          <a:noFill/>
          <a:ln/>
        </p:spPr>
        <p:txBody>
          <a:bodyPr wrap="square" lIns="0" tIns="0" rIns="0" bIns="0" rtlCol="0" anchor="ctr"/>
          <a:lstStyle/>
          <a:p>
            <a:pPr indent="0" marL="0">
              <a:buNone/>
            </a:pPr>
            <a:r>
              <a:rPr lang="en-US" sz="900" b="1" spc="120" kern="0" dirty="0">
                <a:solidFill>
                  <a:srgbClr val="6C6C75"/>
                </a:solidFill>
                <a:latin typeface="Arial" pitchFamily="34" charset="0"/>
                <a:ea typeface="Arial" pitchFamily="34" charset="-122"/>
                <a:cs typeface="Arial" pitchFamily="34" charset="-120"/>
              </a:rPr>
              <a:t>OBJETIVO ESPECÍFICO</a:t>
            </a:r>
            <a:endParaRPr lang="en-US" sz="900" dirty="0"/>
          </a:p>
        </p:txBody>
      </p:sp>
      <p:sp>
        <p:nvSpPr>
          <p:cNvPr id="7" name="Text 5"/>
          <p:cNvSpPr/>
          <p:nvPr/>
        </p:nvSpPr>
        <p:spPr>
          <a:xfrm>
            <a:off x="2194560" y="1810512"/>
            <a:ext cx="9418320" cy="914400"/>
          </a:xfrm>
          <a:prstGeom prst="rect">
            <a:avLst/>
          </a:prstGeom>
          <a:noFill/>
          <a:ln/>
        </p:spPr>
        <p:txBody>
          <a:bodyPr wrap="square" lIns="0" tIns="0" rIns="0" bIns="0" rtlCol="0" anchor="t"/>
          <a:lstStyle/>
          <a:p>
            <a:pPr indent="0" marL="0">
              <a:lnSpc>
                <a:spcPct val="115000"/>
              </a:lnSpc>
              <a:buNone/>
            </a:pPr>
            <a:r>
              <a:rPr lang="en-US" sz="1400" dirty="0">
                <a:solidFill>
                  <a:srgbClr val="6C6C75"/>
                </a:solidFill>
                <a:latin typeface="Arial" pitchFamily="34" charset="0"/>
                <a:ea typeface="Arial" pitchFamily="34" charset="-122"/>
                <a:cs typeface="Arial" pitchFamily="34" charset="-120"/>
              </a:rPr>
              <a:t>Desarrollar la aplicación web bajo un enfoque iterativo e incremental, cubriendo la generación documental y el circuito de firma electrónica.</a:t>
            </a:r>
            <a:endParaRPr lang="en-US" sz="1400" dirty="0"/>
          </a:p>
        </p:txBody>
      </p:sp>
      <p:sp>
        <p:nvSpPr>
          <p:cNvPr id="8" name="Text 6"/>
          <p:cNvSpPr/>
          <p:nvPr/>
        </p:nvSpPr>
        <p:spPr>
          <a:xfrm>
            <a:off x="2194560" y="3035808"/>
            <a:ext cx="9418320" cy="219456"/>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CONCLUSIÓN</a:t>
            </a:r>
            <a:endParaRPr lang="en-US" sz="900" dirty="0"/>
          </a:p>
        </p:txBody>
      </p:sp>
      <p:sp>
        <p:nvSpPr>
          <p:cNvPr id="9" name="Text 7"/>
          <p:cNvSpPr/>
          <p:nvPr/>
        </p:nvSpPr>
        <p:spPr>
          <a:xfrm>
            <a:off x="2194560" y="3328416"/>
            <a:ext cx="9418320" cy="1874520"/>
          </a:xfrm>
          <a:prstGeom prst="rect">
            <a:avLst/>
          </a:prstGeom>
          <a:noFill/>
          <a:ln/>
        </p:spPr>
        <p:txBody>
          <a:bodyPr wrap="square" lIns="0" tIns="0" rIns="0" bIns="0" rtlCol="0" anchor="t"/>
          <a:lstStyle/>
          <a:p>
            <a:pPr indent="0" marL="0">
              <a:lnSpc>
                <a:spcPct val="120000"/>
              </a:lnSpc>
              <a:buNone/>
            </a:pPr>
            <a:r>
              <a:rPr lang="en-US" sz="1700" dirty="0">
                <a:solidFill>
                  <a:srgbClr val="09090B"/>
                </a:solidFill>
                <a:latin typeface="Arial" pitchFamily="34" charset="0"/>
                <a:ea typeface="Arial" pitchFamily="34" charset="-122"/>
                <a:cs typeface="Arial" pitchFamily="34" charset="-120"/>
              </a:rPr>
              <a:t>La construcción avanzó por iteraciones quincenales, cada una cerrada con un módulo utilizable: el acceso diferenciado por roles, la administración académica con importación masiva desde hojas de cálculo, el motor documental, el circuito de firma electrónica y el procesamiento por colas para las emisiones en lote.</a:t>
            </a:r>
            <a:endParaRPr lang="en-US" sz="1700" dirty="0"/>
          </a:p>
        </p:txBody>
      </p:sp>
      <p:sp>
        <p:nvSpPr>
          <p:cNvPr id="10" name="Text 8"/>
          <p:cNvSpPr/>
          <p:nvPr/>
        </p:nvSpPr>
        <p:spPr>
          <a:xfrm>
            <a:off x="2194560" y="5321808"/>
            <a:ext cx="9418320" cy="256032"/>
          </a:xfrm>
          <a:prstGeom prst="rect">
            <a:avLst/>
          </a:prstGeom>
          <a:noFill/>
          <a:ln/>
        </p:spPr>
        <p:txBody>
          <a:bodyPr wrap="square" lIns="0" tIns="0" rIns="0" bIns="0" rtlCol="0" anchor="ctr"/>
          <a:lstStyle/>
          <a:p>
            <a:pPr indent="0" marL="0">
              <a:buNone/>
            </a:pPr>
            <a:r>
              <a:rPr lang="en-US" sz="1000" dirty="0">
                <a:solidFill>
                  <a:srgbClr val="6C6C75"/>
                </a:solidFill>
                <a:latin typeface="Arial" pitchFamily="34" charset="0"/>
                <a:ea typeface="Arial" pitchFamily="34" charset="-122"/>
                <a:cs typeface="Arial" pitchFamily="34" charset="-120"/>
              </a:rPr>
              <a:t>Evidencia: Capítulo IV, apartado 4.5 · Iteraciones 1 a 6</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19456"/>
          </a:xfrm>
          <a:prstGeom prst="rect">
            <a:avLst/>
          </a:prstGeom>
          <a:noFill/>
          <a:ln/>
        </p:spPr>
        <p:txBody>
          <a:bodyPr wrap="square" lIns="0" tIns="0" rIns="0" bIns="0" rtlCol="0" anchor="ctr"/>
          <a:lstStyle/>
          <a:p>
            <a:pPr indent="0" marL="0">
              <a:buNone/>
            </a:pPr>
            <a:r>
              <a:rPr lang="en-US" sz="1000" b="1" spc="140" kern="0" dirty="0">
                <a:solidFill>
                  <a:srgbClr val="2563EB"/>
                </a:solidFill>
                <a:latin typeface="Arial" pitchFamily="34" charset="0"/>
                <a:ea typeface="Arial" pitchFamily="34" charset="-122"/>
                <a:cs typeface="Arial" pitchFamily="34" charset="-120"/>
              </a:rPr>
              <a:t>CAPÍTULO VI · CONCLUSIONES</a:t>
            </a:r>
            <a:endParaRPr lang="en-US" sz="1000" dirty="0"/>
          </a:p>
        </p:txBody>
      </p:sp>
      <p:sp>
        <p:nvSpPr>
          <p:cNvPr id="3" name="Text 1"/>
          <p:cNvSpPr/>
          <p:nvPr/>
        </p:nvSpPr>
        <p:spPr>
          <a:xfrm>
            <a:off x="548640" y="640080"/>
            <a:ext cx="11064240" cy="566928"/>
          </a:xfrm>
          <a:prstGeom prst="rect">
            <a:avLst/>
          </a:prstGeom>
          <a:noFill/>
          <a:ln/>
        </p:spPr>
        <p:txBody>
          <a:bodyPr wrap="square" lIns="0" tIns="0" rIns="0" bIns="0" rtlCol="0" anchor="t"/>
          <a:lstStyle/>
          <a:p>
            <a:pPr indent="0" marL="0">
              <a:buNone/>
            </a:pPr>
            <a:r>
              <a:rPr lang="en-US" sz="3000" b="1" dirty="0">
                <a:solidFill>
                  <a:srgbClr val="09090B"/>
                </a:solidFill>
                <a:latin typeface="Arial" pitchFamily="34" charset="0"/>
                <a:ea typeface="Arial" pitchFamily="34" charset="-122"/>
                <a:cs typeface="Arial" pitchFamily="34" charset="-120"/>
              </a:rPr>
              <a:t>Conclusión del objetivo específico 4</a:t>
            </a:r>
            <a:endParaRPr lang="en-US" sz="3000" dirty="0"/>
          </a:p>
        </p:txBody>
      </p:sp>
      <p:sp>
        <p:nvSpPr>
          <p:cNvPr id="4" name="Text 2"/>
          <p:cNvSpPr/>
          <p:nvPr/>
        </p:nvSpPr>
        <p:spPr>
          <a:xfrm>
            <a:off x="11064240" y="6510528"/>
            <a:ext cx="548640" cy="256032"/>
          </a:xfrm>
          <a:prstGeom prst="rect">
            <a:avLst/>
          </a:prstGeom>
          <a:noFill/>
          <a:ln/>
        </p:spPr>
        <p:txBody>
          <a:bodyPr wrap="square" lIns="0" tIns="0" rIns="0" bIns="0" rtlCol="0" anchor="ctr"/>
          <a:lstStyle/>
          <a:p>
            <a:pPr algn="r" indent="0" marL="0">
              <a:buNone/>
            </a:pPr>
            <a:r>
              <a:rPr lang="en-US" sz="1000" dirty="0">
                <a:solidFill>
                  <a:srgbClr val="6C6C75"/>
                </a:solidFill>
                <a:latin typeface="Arial" pitchFamily="34" charset="0"/>
                <a:ea typeface="Arial" pitchFamily="34" charset="-122"/>
                <a:cs typeface="Arial" pitchFamily="34" charset="-120"/>
              </a:rPr>
              <a:t>20</a:t>
            </a:r>
            <a:endParaRPr lang="en-US" sz="1000" dirty="0"/>
          </a:p>
        </p:txBody>
      </p:sp>
      <p:sp>
        <p:nvSpPr>
          <p:cNvPr id="5" name="Text 3"/>
          <p:cNvSpPr/>
          <p:nvPr/>
        </p:nvSpPr>
        <p:spPr>
          <a:xfrm>
            <a:off x="548640" y="1417320"/>
            <a:ext cx="1554480" cy="1463040"/>
          </a:xfrm>
          <a:prstGeom prst="rect">
            <a:avLst/>
          </a:prstGeom>
          <a:noFill/>
          <a:ln/>
        </p:spPr>
        <p:txBody>
          <a:bodyPr wrap="square" lIns="0" tIns="0" rIns="0" bIns="0" rtlCol="0" anchor="t"/>
          <a:lstStyle/>
          <a:p>
            <a:pPr indent="0" marL="0">
              <a:buNone/>
            </a:pPr>
            <a:r>
              <a:rPr lang="en-US" sz="9600" b="1" dirty="0">
                <a:solidFill>
                  <a:srgbClr val="8FB2F5"/>
                </a:solidFill>
                <a:latin typeface="Arial" pitchFamily="34" charset="0"/>
                <a:ea typeface="Arial" pitchFamily="34" charset="-122"/>
                <a:cs typeface="Arial" pitchFamily="34" charset="-120"/>
              </a:rPr>
              <a:t>4</a:t>
            </a:r>
            <a:endParaRPr lang="en-US" sz="9600" dirty="0"/>
          </a:p>
        </p:txBody>
      </p:sp>
      <p:sp>
        <p:nvSpPr>
          <p:cNvPr id="6" name="Text 4"/>
          <p:cNvSpPr/>
          <p:nvPr/>
        </p:nvSpPr>
        <p:spPr>
          <a:xfrm>
            <a:off x="2194560" y="1536192"/>
            <a:ext cx="9418320" cy="219456"/>
          </a:xfrm>
          <a:prstGeom prst="rect">
            <a:avLst/>
          </a:prstGeom>
          <a:noFill/>
          <a:ln/>
        </p:spPr>
        <p:txBody>
          <a:bodyPr wrap="square" lIns="0" tIns="0" rIns="0" bIns="0" rtlCol="0" anchor="ctr"/>
          <a:lstStyle/>
          <a:p>
            <a:pPr indent="0" marL="0">
              <a:buNone/>
            </a:pPr>
            <a:r>
              <a:rPr lang="en-US" sz="900" b="1" spc="120" kern="0" dirty="0">
                <a:solidFill>
                  <a:srgbClr val="6C6C75"/>
                </a:solidFill>
                <a:latin typeface="Arial" pitchFamily="34" charset="0"/>
                <a:ea typeface="Arial" pitchFamily="34" charset="-122"/>
                <a:cs typeface="Arial" pitchFamily="34" charset="-120"/>
              </a:rPr>
              <a:t>OBJETIVO ESPECÍFICO</a:t>
            </a:r>
            <a:endParaRPr lang="en-US" sz="900" dirty="0"/>
          </a:p>
        </p:txBody>
      </p:sp>
      <p:sp>
        <p:nvSpPr>
          <p:cNvPr id="7" name="Text 5"/>
          <p:cNvSpPr/>
          <p:nvPr/>
        </p:nvSpPr>
        <p:spPr>
          <a:xfrm>
            <a:off x="2194560" y="1810512"/>
            <a:ext cx="9418320" cy="914400"/>
          </a:xfrm>
          <a:prstGeom prst="rect">
            <a:avLst/>
          </a:prstGeom>
          <a:noFill/>
          <a:ln/>
        </p:spPr>
        <p:txBody>
          <a:bodyPr wrap="square" lIns="0" tIns="0" rIns="0" bIns="0" rtlCol="0" anchor="t"/>
          <a:lstStyle/>
          <a:p>
            <a:pPr indent="0" marL="0">
              <a:lnSpc>
                <a:spcPct val="115000"/>
              </a:lnSpc>
              <a:buNone/>
            </a:pPr>
            <a:r>
              <a:rPr lang="en-US" sz="1400" dirty="0">
                <a:solidFill>
                  <a:srgbClr val="6C6C75"/>
                </a:solidFill>
                <a:latin typeface="Arial" pitchFamily="34" charset="0"/>
                <a:ea typeface="Arial" pitchFamily="34" charset="-122"/>
                <a:cs typeface="Arial" pitchFamily="34" charset="-120"/>
              </a:rPr>
              <a:t>Validar el funcionamiento de la aplicación mediante pruebas de sus requerimientos funcionales, verificando que cada módulo responda a los requisitos levantados.</a:t>
            </a:r>
            <a:endParaRPr lang="en-US" sz="1400" dirty="0"/>
          </a:p>
        </p:txBody>
      </p:sp>
      <p:sp>
        <p:nvSpPr>
          <p:cNvPr id="8" name="Text 6"/>
          <p:cNvSpPr/>
          <p:nvPr/>
        </p:nvSpPr>
        <p:spPr>
          <a:xfrm>
            <a:off x="2194560" y="3035808"/>
            <a:ext cx="9418320" cy="219456"/>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CONCLUSIÓN</a:t>
            </a:r>
            <a:endParaRPr lang="en-US" sz="900" dirty="0"/>
          </a:p>
        </p:txBody>
      </p:sp>
      <p:sp>
        <p:nvSpPr>
          <p:cNvPr id="9" name="Text 7"/>
          <p:cNvSpPr/>
          <p:nvPr/>
        </p:nvSpPr>
        <p:spPr>
          <a:xfrm>
            <a:off x="2194560" y="3328416"/>
            <a:ext cx="9418320" cy="1965960"/>
          </a:xfrm>
          <a:prstGeom prst="rect">
            <a:avLst/>
          </a:prstGeom>
          <a:noFill/>
          <a:ln/>
        </p:spPr>
        <p:txBody>
          <a:bodyPr wrap="square" lIns="0" tIns="0" rIns="0" bIns="0" rtlCol="0" anchor="t"/>
          <a:lstStyle/>
          <a:p>
            <a:pPr indent="0" marL="0">
              <a:lnSpc>
                <a:spcPct val="120000"/>
              </a:lnSpc>
              <a:buNone/>
            </a:pPr>
            <a:r>
              <a:rPr lang="en-US" sz="1700" dirty="0">
                <a:solidFill>
                  <a:srgbClr val="09090B"/>
                </a:solidFill>
                <a:latin typeface="Arial" pitchFamily="34" charset="0"/>
                <a:ea typeface="Arial" pitchFamily="34" charset="-122"/>
                <a:cs typeface="Arial" pitchFamily="34" charset="-120"/>
              </a:rPr>
              <a:t>El sistema se empaquetó en contenedores y se validó en un entorno de producción local. Cada requisito funcional se sometió a un caso de prueba con precondición y resultado esperado definidos de antemano, y la matriz deja constancia módulo por módulo. Las pruebas confirmaron que el circuito de firma exige el orden establecido entre las dos autoridades y que ningún documento alcanza validez mientras le falte alguna de las dos rúbricas.</a:t>
            </a:r>
            <a:endParaRPr lang="en-US" sz="1700" dirty="0"/>
          </a:p>
        </p:txBody>
      </p:sp>
      <p:sp>
        <p:nvSpPr>
          <p:cNvPr id="10" name="Text 8"/>
          <p:cNvSpPr/>
          <p:nvPr/>
        </p:nvSpPr>
        <p:spPr>
          <a:xfrm>
            <a:off x="2194560" y="5193792"/>
            <a:ext cx="9418320" cy="256032"/>
          </a:xfrm>
          <a:prstGeom prst="rect">
            <a:avLst/>
          </a:prstGeom>
          <a:noFill/>
          <a:ln/>
        </p:spPr>
        <p:txBody>
          <a:bodyPr wrap="square" lIns="0" tIns="0" rIns="0" bIns="0" rtlCol="0" anchor="ctr"/>
          <a:lstStyle/>
          <a:p>
            <a:pPr indent="0" marL="0">
              <a:buNone/>
            </a:pPr>
            <a:r>
              <a:rPr lang="en-US" sz="1000" dirty="0">
                <a:solidFill>
                  <a:srgbClr val="6C6C75"/>
                </a:solidFill>
                <a:latin typeface="Arial" pitchFamily="34" charset="0"/>
                <a:ea typeface="Arial" pitchFamily="34" charset="-122"/>
                <a:cs typeface="Arial" pitchFamily="34" charset="-120"/>
              </a:rPr>
              <a:t>Evidencia: Capítulo V, apartado 5.2 · Tabla 15</a:t>
            </a:r>
            <a:endParaRPr lang="en-US" sz="1000" dirty="0"/>
          </a:p>
        </p:txBody>
      </p:sp>
      <p:sp>
        <p:nvSpPr>
          <p:cNvPr id="11" name="Shape 9"/>
          <p:cNvSpPr/>
          <p:nvPr/>
        </p:nvSpPr>
        <p:spPr>
          <a:xfrm>
            <a:off x="548640" y="5623560"/>
            <a:ext cx="11064240" cy="777240"/>
          </a:xfrm>
          <a:prstGeom prst="roundRect">
            <a:avLst>
              <a:gd name="adj" fmla="val 8235"/>
            </a:avLst>
          </a:prstGeom>
          <a:solidFill>
            <a:srgbClr val="2563EB"/>
          </a:solidFill>
          <a:ln w="12700">
            <a:solidFill>
              <a:srgbClr val="2563EB"/>
            </a:solidFill>
            <a:prstDash val="solid"/>
          </a:ln>
        </p:spPr>
      </p:sp>
      <p:sp>
        <p:nvSpPr>
          <p:cNvPr id="12" name="Text 10"/>
          <p:cNvSpPr/>
          <p:nvPr/>
        </p:nvSpPr>
        <p:spPr>
          <a:xfrm>
            <a:off x="768096" y="5733288"/>
            <a:ext cx="10625328" cy="56692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Objetivo general: cumplido.  </a:t>
            </a:r>
            <a:pPr indent="0" marL="0">
              <a:buNone/>
            </a:pPr>
            <a:r>
              <a:rPr lang="en-US" sz="1300" dirty="0">
                <a:solidFill>
                  <a:srgbClr val="FFFFFF"/>
                </a:solidFill>
                <a:latin typeface="Arial" pitchFamily="34" charset="0"/>
                <a:ea typeface="Arial" pitchFamily="34" charset="-122"/>
                <a:cs typeface="Arial" pitchFamily="34" charset="-120"/>
              </a:rPr>
              <a:t>La aplicación web se construyó y quedó en manos de la Comisión de Prácticas de la Carrera de Tecnologías de la Información.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19456"/>
          </a:xfrm>
          <a:prstGeom prst="rect">
            <a:avLst/>
          </a:prstGeom>
          <a:noFill/>
          <a:ln/>
        </p:spPr>
        <p:txBody>
          <a:bodyPr wrap="square" lIns="0" tIns="0" rIns="0" bIns="0" rtlCol="0" anchor="ctr"/>
          <a:lstStyle/>
          <a:p>
            <a:pPr indent="0" marL="0">
              <a:buNone/>
            </a:pPr>
            <a:r>
              <a:rPr lang="en-US" sz="1000" b="1" spc="140" kern="0" dirty="0">
                <a:solidFill>
                  <a:srgbClr val="2563EB"/>
                </a:solidFill>
                <a:latin typeface="Arial" pitchFamily="34" charset="0"/>
                <a:ea typeface="Arial" pitchFamily="34" charset="-122"/>
                <a:cs typeface="Arial" pitchFamily="34" charset="-120"/>
              </a:rPr>
              <a:t>CAPÍTULO VI · RECOMENDACIONES</a:t>
            </a:r>
            <a:endParaRPr lang="en-US" sz="1000" dirty="0"/>
          </a:p>
        </p:txBody>
      </p:sp>
      <p:sp>
        <p:nvSpPr>
          <p:cNvPr id="3" name="Text 1"/>
          <p:cNvSpPr/>
          <p:nvPr/>
        </p:nvSpPr>
        <p:spPr>
          <a:xfrm>
            <a:off x="548640" y="640080"/>
            <a:ext cx="11064240" cy="566928"/>
          </a:xfrm>
          <a:prstGeom prst="rect">
            <a:avLst/>
          </a:prstGeom>
          <a:noFill/>
          <a:ln/>
        </p:spPr>
        <p:txBody>
          <a:bodyPr wrap="square" lIns="0" tIns="0" rIns="0" bIns="0" rtlCol="0" anchor="t"/>
          <a:lstStyle/>
          <a:p>
            <a:pPr indent="0" marL="0">
              <a:buNone/>
            </a:pPr>
            <a:r>
              <a:rPr lang="en-US" sz="3000" b="1" dirty="0">
                <a:solidFill>
                  <a:srgbClr val="09090B"/>
                </a:solidFill>
                <a:latin typeface="Arial" pitchFamily="34" charset="0"/>
                <a:ea typeface="Arial" pitchFamily="34" charset="-122"/>
                <a:cs typeface="Arial" pitchFamily="34" charset="-120"/>
              </a:rPr>
              <a:t>A quienes darán continuidad al sistema</a:t>
            </a:r>
            <a:endParaRPr lang="en-US" sz="3000" dirty="0"/>
          </a:p>
        </p:txBody>
      </p:sp>
      <p:sp>
        <p:nvSpPr>
          <p:cNvPr id="4" name="Text 2"/>
          <p:cNvSpPr/>
          <p:nvPr/>
        </p:nvSpPr>
        <p:spPr>
          <a:xfrm>
            <a:off x="11064240" y="6510528"/>
            <a:ext cx="548640" cy="256032"/>
          </a:xfrm>
          <a:prstGeom prst="rect">
            <a:avLst/>
          </a:prstGeom>
          <a:noFill/>
          <a:ln/>
        </p:spPr>
        <p:txBody>
          <a:bodyPr wrap="square" lIns="0" tIns="0" rIns="0" bIns="0" rtlCol="0" anchor="ctr"/>
          <a:lstStyle/>
          <a:p>
            <a:pPr algn="r" indent="0" marL="0">
              <a:buNone/>
            </a:pPr>
            <a:r>
              <a:rPr lang="en-US" sz="1000" dirty="0">
                <a:solidFill>
                  <a:srgbClr val="6C6C75"/>
                </a:solidFill>
                <a:latin typeface="Arial" pitchFamily="34" charset="0"/>
                <a:ea typeface="Arial" pitchFamily="34" charset="-122"/>
                <a:cs typeface="Arial" pitchFamily="34" charset="-120"/>
              </a:rPr>
              <a:t>21</a:t>
            </a:r>
            <a:endParaRPr lang="en-US" sz="1000" dirty="0"/>
          </a:p>
        </p:txBody>
      </p:sp>
      <p:sp>
        <p:nvSpPr>
          <p:cNvPr id="5" name="Shape 3"/>
          <p:cNvSpPr/>
          <p:nvPr/>
        </p:nvSpPr>
        <p:spPr>
          <a:xfrm>
            <a:off x="548640" y="1645920"/>
            <a:ext cx="3504895" cy="3246120"/>
          </a:xfrm>
          <a:prstGeom prst="roundRect">
            <a:avLst>
              <a:gd name="adj" fmla="val 1972"/>
            </a:avLst>
          </a:prstGeom>
          <a:solidFill>
            <a:srgbClr val="F7F7F8"/>
          </a:solidFill>
          <a:ln w="12700">
            <a:solidFill>
              <a:srgbClr val="E4E4E7"/>
            </a:solidFill>
            <a:prstDash val="solid"/>
          </a:ln>
        </p:spPr>
      </p:sp>
      <p:sp>
        <p:nvSpPr>
          <p:cNvPr id="6" name="Text 4"/>
          <p:cNvSpPr/>
          <p:nvPr/>
        </p:nvSpPr>
        <p:spPr>
          <a:xfrm>
            <a:off x="749808" y="1792224"/>
            <a:ext cx="3102559" cy="201168"/>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A LA COMISIÓN DE PRÁCTICAS</a:t>
            </a:r>
            <a:endParaRPr lang="en-US" sz="900" dirty="0"/>
          </a:p>
        </p:txBody>
      </p:sp>
      <p:sp>
        <p:nvSpPr>
          <p:cNvPr id="7" name="Text 5"/>
          <p:cNvSpPr/>
          <p:nvPr/>
        </p:nvSpPr>
        <p:spPr>
          <a:xfrm>
            <a:off x="749808" y="2039112"/>
            <a:ext cx="3102559" cy="2724912"/>
          </a:xfrm>
          <a:prstGeom prst="rect">
            <a:avLst/>
          </a:prstGeom>
          <a:noFill/>
          <a:ln/>
        </p:spPr>
        <p:txBody>
          <a:bodyPr wrap="square" lIns="0" tIns="0" rIns="0" bIns="0" rtlCol="0" anchor="t"/>
          <a:lstStyle/>
          <a:p>
            <a:pPr marL="342900" indent="-342900">
              <a:lnSpc>
                <a:spcPct val="112000"/>
              </a:lnSpc>
              <a:spcAft>
                <a:spcPts val="1200"/>
              </a:spcAft>
              <a:buSzPct val="100000"/>
              <a:buChar char="•"/>
            </a:pPr>
            <a:r>
              <a:rPr lang="en-US" sz="1250" dirty="0">
                <a:solidFill>
                  <a:srgbClr val="09090B"/>
                </a:solidFill>
                <a:latin typeface="Arial" pitchFamily="34" charset="0"/>
                <a:ea typeface="Arial" pitchFamily="34" charset="-122"/>
                <a:cs typeface="Arial" pitchFamily="34" charset="-120"/>
              </a:rPr>
              <a:t>Adoptar el sistema como canal único de emisión, para que la trazabilidad no se diluya en circuitos paralelos</a:t>
            </a:r>
            <a:endParaRPr lang="en-US" sz="1250" dirty="0"/>
          </a:p>
          <a:p>
            <a:pPr marL="342900" indent="-342900">
              <a:lnSpc>
                <a:spcPct val="112000"/>
              </a:lnSpc>
              <a:spcAft>
                <a:spcPts val="1200"/>
              </a:spcAft>
              <a:buSzPct val="100000"/>
              <a:buChar char="•"/>
            </a:pPr>
            <a:r>
              <a:rPr lang="en-US" sz="1250" dirty="0">
                <a:solidFill>
                  <a:srgbClr val="09090B"/>
                </a:solidFill>
                <a:latin typeface="Arial" pitchFamily="34" charset="0"/>
                <a:ea typeface="Arial" pitchFamily="34" charset="-122"/>
                <a:cs typeface="Arial" pitchFamily="34" charset="-120"/>
              </a:rPr>
              <a:t>Designar un responsable de la administración funcional</a:t>
            </a:r>
            <a:endParaRPr lang="en-US" sz="1250" dirty="0"/>
          </a:p>
          <a:p>
            <a:pPr marL="342900" indent="-342900">
              <a:lnSpc>
                <a:spcPct val="112000"/>
              </a:lnSpc>
              <a:spcAft>
                <a:spcPts val="1200"/>
              </a:spcAft>
              <a:buSzPct val="100000"/>
              <a:buChar char="•"/>
            </a:pPr>
            <a:r>
              <a:rPr lang="en-US" sz="1250" dirty="0">
                <a:solidFill>
                  <a:srgbClr val="09090B"/>
                </a:solidFill>
                <a:latin typeface="Arial" pitchFamily="34" charset="0"/>
                <a:ea typeface="Arial" pitchFamily="34" charset="-122"/>
                <a:cs typeface="Arial" pitchFamily="34" charset="-120"/>
              </a:rPr>
              <a:t>Fijar una estrategia de respaldo periódico</a:t>
            </a:r>
            <a:endParaRPr lang="en-US" sz="1250" dirty="0"/>
          </a:p>
        </p:txBody>
      </p:sp>
      <p:sp>
        <p:nvSpPr>
          <p:cNvPr id="8" name="Shape 6"/>
          <p:cNvSpPr/>
          <p:nvPr/>
        </p:nvSpPr>
        <p:spPr>
          <a:xfrm>
            <a:off x="4327855" y="1645920"/>
            <a:ext cx="3504895" cy="3246120"/>
          </a:xfrm>
          <a:prstGeom prst="roundRect">
            <a:avLst>
              <a:gd name="adj" fmla="val 1972"/>
            </a:avLst>
          </a:prstGeom>
          <a:solidFill>
            <a:srgbClr val="F7F7F8"/>
          </a:solidFill>
          <a:ln w="12700">
            <a:solidFill>
              <a:srgbClr val="E4E4E7"/>
            </a:solidFill>
            <a:prstDash val="solid"/>
          </a:ln>
        </p:spPr>
      </p:sp>
      <p:sp>
        <p:nvSpPr>
          <p:cNvPr id="9" name="Text 7"/>
          <p:cNvSpPr/>
          <p:nvPr/>
        </p:nvSpPr>
        <p:spPr>
          <a:xfrm>
            <a:off x="4529023" y="1792224"/>
            <a:ext cx="3102559" cy="201168"/>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A LA FACULTAD</a:t>
            </a:r>
            <a:endParaRPr lang="en-US" sz="900" dirty="0"/>
          </a:p>
        </p:txBody>
      </p:sp>
      <p:sp>
        <p:nvSpPr>
          <p:cNvPr id="10" name="Text 8"/>
          <p:cNvSpPr/>
          <p:nvPr/>
        </p:nvSpPr>
        <p:spPr>
          <a:xfrm>
            <a:off x="4529023" y="2039112"/>
            <a:ext cx="3102559" cy="2724912"/>
          </a:xfrm>
          <a:prstGeom prst="rect">
            <a:avLst/>
          </a:prstGeom>
          <a:noFill/>
          <a:ln/>
        </p:spPr>
        <p:txBody>
          <a:bodyPr wrap="square" lIns="0" tIns="0" rIns="0" bIns="0" rtlCol="0" anchor="t"/>
          <a:lstStyle/>
          <a:p>
            <a:pPr marL="342900" indent="-342900">
              <a:lnSpc>
                <a:spcPct val="112000"/>
              </a:lnSpc>
              <a:spcAft>
                <a:spcPts val="1200"/>
              </a:spcAft>
              <a:buSzPct val="100000"/>
              <a:buChar char="•"/>
            </a:pPr>
            <a:r>
              <a:rPr lang="en-US" sz="1250" dirty="0">
                <a:solidFill>
                  <a:srgbClr val="09090B"/>
                </a:solidFill>
                <a:latin typeface="Arial" pitchFamily="34" charset="0"/>
                <a:ea typeface="Arial" pitchFamily="34" charset="-122"/>
                <a:cs typeface="Arial" pitchFamily="34" charset="-120"/>
              </a:rPr>
              <a:t>Decidir el alojamiento: servidores institucionales, sin costo recurrente, o nube de gama baja</a:t>
            </a:r>
            <a:endParaRPr lang="en-US" sz="1250" dirty="0"/>
          </a:p>
          <a:p>
            <a:pPr marL="342900" indent="-342900">
              <a:lnSpc>
                <a:spcPct val="112000"/>
              </a:lnSpc>
              <a:spcAft>
                <a:spcPts val="1200"/>
              </a:spcAft>
              <a:buSzPct val="100000"/>
              <a:buChar char="•"/>
            </a:pPr>
            <a:r>
              <a:rPr lang="en-US" sz="1250" dirty="0">
                <a:solidFill>
                  <a:srgbClr val="09090B"/>
                </a:solidFill>
                <a:latin typeface="Arial" pitchFamily="34" charset="0"/>
                <a:ea typeface="Arial" pitchFamily="34" charset="-122"/>
                <a:cs typeface="Arial" pitchFamily="34" charset="-120"/>
              </a:rPr>
              <a:t>Asignar un dominio institucional con certificado TLS</a:t>
            </a:r>
            <a:endParaRPr lang="en-US" sz="1250" dirty="0"/>
          </a:p>
          <a:p>
            <a:pPr marL="342900" indent="-342900">
              <a:lnSpc>
                <a:spcPct val="112000"/>
              </a:lnSpc>
              <a:spcAft>
                <a:spcPts val="1200"/>
              </a:spcAft>
              <a:buSzPct val="100000"/>
              <a:buChar char="•"/>
            </a:pPr>
            <a:r>
              <a:rPr lang="en-US" sz="1250" dirty="0">
                <a:solidFill>
                  <a:srgbClr val="09090B"/>
                </a:solidFill>
                <a:latin typeface="Arial" pitchFamily="34" charset="0"/>
                <a:ea typeface="Arial" pitchFamily="34" charset="-122"/>
                <a:cs typeface="Arial" pitchFamily="34" charset="-120"/>
              </a:rPr>
              <a:t>Dotar al sistema de correo institucional</a:t>
            </a:r>
            <a:endParaRPr lang="en-US" sz="1250" dirty="0"/>
          </a:p>
        </p:txBody>
      </p:sp>
      <p:sp>
        <p:nvSpPr>
          <p:cNvPr id="11" name="Shape 9"/>
          <p:cNvSpPr/>
          <p:nvPr/>
        </p:nvSpPr>
        <p:spPr>
          <a:xfrm>
            <a:off x="8107070" y="1645920"/>
            <a:ext cx="3504895" cy="3246120"/>
          </a:xfrm>
          <a:prstGeom prst="roundRect">
            <a:avLst>
              <a:gd name="adj" fmla="val 1972"/>
            </a:avLst>
          </a:prstGeom>
          <a:solidFill>
            <a:srgbClr val="F7F7F8"/>
          </a:solidFill>
          <a:ln w="12700">
            <a:solidFill>
              <a:srgbClr val="E4E4E7"/>
            </a:solidFill>
            <a:prstDash val="solid"/>
          </a:ln>
        </p:spPr>
      </p:sp>
      <p:sp>
        <p:nvSpPr>
          <p:cNvPr id="12" name="Text 10"/>
          <p:cNvSpPr/>
          <p:nvPr/>
        </p:nvSpPr>
        <p:spPr>
          <a:xfrm>
            <a:off x="8308238" y="1792224"/>
            <a:ext cx="3102559" cy="201168"/>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A TRABAJOS FUTUROS</a:t>
            </a:r>
            <a:endParaRPr lang="en-US" sz="900" dirty="0"/>
          </a:p>
        </p:txBody>
      </p:sp>
      <p:sp>
        <p:nvSpPr>
          <p:cNvPr id="13" name="Text 11"/>
          <p:cNvSpPr/>
          <p:nvPr/>
        </p:nvSpPr>
        <p:spPr>
          <a:xfrm>
            <a:off x="8308238" y="2039112"/>
            <a:ext cx="3102559" cy="2724912"/>
          </a:xfrm>
          <a:prstGeom prst="rect">
            <a:avLst/>
          </a:prstGeom>
          <a:noFill/>
          <a:ln/>
        </p:spPr>
        <p:txBody>
          <a:bodyPr wrap="square" lIns="0" tIns="0" rIns="0" bIns="0" rtlCol="0" anchor="t"/>
          <a:lstStyle/>
          <a:p>
            <a:pPr marL="342900" indent="-342900">
              <a:lnSpc>
                <a:spcPct val="112000"/>
              </a:lnSpc>
              <a:spcAft>
                <a:spcPts val="1200"/>
              </a:spcAft>
              <a:buSzPct val="100000"/>
              <a:buChar char="•"/>
            </a:pPr>
            <a:r>
              <a:rPr lang="en-US" sz="1250" dirty="0">
                <a:solidFill>
                  <a:srgbClr val="09090B"/>
                </a:solidFill>
                <a:latin typeface="Arial" pitchFamily="34" charset="0"/>
                <a:ea typeface="Arial" pitchFamily="34" charset="-122"/>
                <a:cs typeface="Arial" pitchFamily="34" charset="-120"/>
              </a:rPr>
              <a:t>Validar la cadena de certificación al recibir los documentos firmados</a:t>
            </a:r>
            <a:endParaRPr lang="en-US" sz="1250" dirty="0"/>
          </a:p>
          <a:p>
            <a:pPr marL="342900" indent="-342900">
              <a:lnSpc>
                <a:spcPct val="112000"/>
              </a:lnSpc>
              <a:spcAft>
                <a:spcPts val="1200"/>
              </a:spcAft>
              <a:buSzPct val="100000"/>
              <a:buChar char="•"/>
            </a:pPr>
            <a:r>
              <a:rPr lang="en-US" sz="1250" dirty="0">
                <a:solidFill>
                  <a:srgbClr val="09090B"/>
                </a:solidFill>
                <a:latin typeface="Arial" pitchFamily="34" charset="0"/>
                <a:ea typeface="Arial" pitchFamily="34" charset="-122"/>
                <a:cs typeface="Arial" pitchFamily="34" charset="-120"/>
              </a:rPr>
              <a:t>Automatizar el emparejamiento de los archivos devueltos</a:t>
            </a:r>
            <a:endParaRPr lang="en-US" sz="1250" dirty="0"/>
          </a:p>
          <a:p>
            <a:pPr marL="342900" indent="-342900">
              <a:lnSpc>
                <a:spcPct val="112000"/>
              </a:lnSpc>
              <a:spcAft>
                <a:spcPts val="1200"/>
              </a:spcAft>
              <a:buSzPct val="100000"/>
              <a:buChar char="•"/>
            </a:pPr>
            <a:r>
              <a:rPr lang="en-US" sz="1250" dirty="0">
                <a:solidFill>
                  <a:srgbClr val="09090B"/>
                </a:solidFill>
                <a:latin typeface="Arial" pitchFamily="34" charset="0"/>
                <a:ea typeface="Arial" pitchFamily="34" charset="-122"/>
                <a:cs typeface="Arial" pitchFamily="34" charset="-120"/>
              </a:rPr>
              <a:t>Un módulo de alertas sobre el avance del trámite</a:t>
            </a:r>
            <a:endParaRPr lang="en-US" sz="1250" dirty="0"/>
          </a:p>
        </p:txBody>
      </p:sp>
      <p:sp>
        <p:nvSpPr>
          <p:cNvPr id="14" name="Shape 12"/>
          <p:cNvSpPr/>
          <p:nvPr/>
        </p:nvSpPr>
        <p:spPr>
          <a:xfrm>
            <a:off x="548640" y="5166360"/>
            <a:ext cx="11064240" cy="731520"/>
          </a:xfrm>
          <a:prstGeom prst="roundRect">
            <a:avLst>
              <a:gd name="adj" fmla="val 8750"/>
            </a:avLst>
          </a:prstGeom>
          <a:solidFill>
            <a:srgbClr val="F7F7F8"/>
          </a:solidFill>
          <a:ln w="12700">
            <a:solidFill>
              <a:srgbClr val="E4E4E7"/>
            </a:solidFill>
            <a:prstDash val="solid"/>
          </a:ln>
        </p:spPr>
      </p:sp>
      <p:sp>
        <p:nvSpPr>
          <p:cNvPr id="15" name="Text 13"/>
          <p:cNvSpPr/>
          <p:nvPr/>
        </p:nvSpPr>
        <p:spPr>
          <a:xfrm>
            <a:off x="749808" y="5312664"/>
            <a:ext cx="10661904" cy="457200"/>
          </a:xfrm>
          <a:prstGeom prst="rect">
            <a:avLst/>
          </a:prstGeom>
          <a:noFill/>
          <a:ln/>
        </p:spPr>
        <p:txBody>
          <a:bodyPr wrap="square" lIns="0" tIns="0" rIns="0" bIns="0" rtlCol="0" anchor="ctr"/>
          <a:lstStyle/>
          <a:p>
            <a:pPr indent="0" marL="0">
              <a:lnSpc>
                <a:spcPct val="112000"/>
              </a:lnSpc>
              <a:buNone/>
            </a:pPr>
            <a:r>
              <a:rPr lang="en-US" sz="1150" dirty="0">
                <a:solidFill>
                  <a:srgbClr val="6C6C75"/>
                </a:solidFill>
                <a:latin typeface="Arial" pitchFamily="34" charset="0"/>
                <a:ea typeface="Arial" pitchFamily="34" charset="-122"/>
                <a:cs typeface="Arial" pitchFamily="34" charset="-120"/>
              </a:rPr>
              <a:t>En ambas opciones de alojamiento la configuración de Docker es la misma, y en ambas hace falta un dominio institucional con certificado TLS que proteja los datos personales en tránsito.</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3A8A"/>
        </a:solidFill>
      </p:bgPr>
    </p:bg>
    <p:spTree>
      <p:nvGrpSpPr>
        <p:cNvPr id="1" name=""/>
        <p:cNvGrpSpPr/>
        <p:nvPr/>
      </p:nvGrpSpPr>
      <p:grpSpPr>
        <a:xfrm>
          <a:off x="0" y="0"/>
          <a:ext cx="0" cy="0"/>
          <a:chOff x="0" y="0"/>
          <a:chExt cx="0" cy="0"/>
        </a:xfrm>
      </p:grpSpPr>
      <p:pic>
        <p:nvPicPr>
          <p:cNvPr id="2" name="Image 0" descr="C:\Users\micro\AppData\Local\Temp\claude\C--dev-New-Tesis\dab8f396-e798-4632-b234-7d9b7ccd583c\scratchpad\assets\marca-blanca.png">    </p:cNvPr>
          <p:cNvPicPr>
            <a:picLocks noChangeAspect="1"/>
          </p:cNvPicPr>
          <p:nvPr/>
        </p:nvPicPr>
        <p:blipFill>
          <a:blip r:embed="rId1">
            <a:alphaModFix amt="9000"/>
          </a:blip>
          <a:stretch>
            <a:fillRect/>
          </a:stretch>
        </p:blipFill>
        <p:spPr>
          <a:xfrm>
            <a:off x="8138160" y="365760"/>
            <a:ext cx="4937760" cy="4937760"/>
          </a:xfrm>
          <a:prstGeom prst="rect">
            <a:avLst/>
          </a:prstGeom>
        </p:spPr>
      </p:pic>
      <p:sp>
        <p:nvSpPr>
          <p:cNvPr id="3" name="Shape 0"/>
          <p:cNvSpPr/>
          <p:nvPr/>
        </p:nvSpPr>
        <p:spPr>
          <a:xfrm>
            <a:off x="548640" y="457200"/>
            <a:ext cx="2331720" cy="868680"/>
          </a:xfrm>
          <a:prstGeom prst="roundRect">
            <a:avLst>
              <a:gd name="adj" fmla="val 6316"/>
            </a:avLst>
          </a:prstGeom>
          <a:solidFill>
            <a:srgbClr val="FFFFFF"/>
          </a:solidFill>
          <a:ln w="12700">
            <a:solidFill>
              <a:srgbClr val="FFFFFF"/>
            </a:solidFill>
            <a:prstDash val="solid"/>
          </a:ln>
        </p:spPr>
      </p:sp>
      <p:pic>
        <p:nvPicPr>
          <p:cNvPr id="4" name="Image 1" descr="C:\Users\micro\AppData\Local\Temp\claude\C--dev-New-Tesis\dab8f396-e798-4632-b234-7d9b7ccd583c\scratchpad\assets\uleam.png">    </p:cNvPr>
          <p:cNvPicPr>
            <a:picLocks noChangeAspect="1"/>
          </p:cNvPicPr>
          <p:nvPr/>
        </p:nvPicPr>
        <p:blipFill>
          <a:blip r:embed="rId2"/>
          <a:stretch>
            <a:fillRect/>
          </a:stretch>
        </p:blipFill>
        <p:spPr>
          <a:xfrm>
            <a:off x="713232" y="603504"/>
            <a:ext cx="2002536" cy="577901"/>
          </a:xfrm>
          <a:prstGeom prst="rect">
            <a:avLst/>
          </a:prstGeom>
        </p:spPr>
      </p:pic>
      <p:sp>
        <p:nvSpPr>
          <p:cNvPr id="5" name="Text 1"/>
          <p:cNvSpPr/>
          <p:nvPr/>
        </p:nvSpPr>
        <p:spPr>
          <a:xfrm>
            <a:off x="548640" y="2331720"/>
            <a:ext cx="7680960" cy="100584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Gracias</a:t>
            </a:r>
            <a:endParaRPr lang="en-US" sz="5400" dirty="0"/>
          </a:p>
        </p:txBody>
      </p:sp>
      <p:sp>
        <p:nvSpPr>
          <p:cNvPr id="6" name="Text 2"/>
          <p:cNvSpPr/>
          <p:nvPr/>
        </p:nvSpPr>
        <p:spPr>
          <a:xfrm>
            <a:off x="548640" y="3520440"/>
            <a:ext cx="7680960" cy="1005840"/>
          </a:xfrm>
          <a:prstGeom prst="rect">
            <a:avLst/>
          </a:prstGeom>
          <a:noFill/>
          <a:ln/>
        </p:spPr>
        <p:txBody>
          <a:bodyPr wrap="square" lIns="0" tIns="0" rIns="0" bIns="0" rtlCol="0" anchor="ctr"/>
          <a:lstStyle/>
          <a:p>
            <a:pPr indent="0" marL="0">
              <a:lnSpc>
                <a:spcPct val="115000"/>
              </a:lnSpc>
              <a:buNone/>
            </a:pPr>
            <a:r>
              <a:rPr lang="en-US" sz="1400" dirty="0">
                <a:solidFill>
                  <a:srgbClr val="BFD0F5"/>
                </a:solidFill>
                <a:latin typeface="Arial" pitchFamily="34" charset="0"/>
                <a:ea typeface="Arial" pitchFamily="34" charset="-122"/>
                <a:cs typeface="Arial" pitchFamily="34" charset="-120"/>
              </a:rPr>
              <a:t>Aplicación web para la gestión automatizada de solicitudes y certificados de prácticas preprofesionales en la Carrera de Tecnologías de la Información de la ULEAM</a:t>
            </a:r>
            <a:endParaRPr lang="en-US" sz="1400" dirty="0"/>
          </a:p>
        </p:txBody>
      </p:sp>
      <p:sp>
        <p:nvSpPr>
          <p:cNvPr id="7" name="Text 3"/>
          <p:cNvSpPr/>
          <p:nvPr/>
        </p:nvSpPr>
        <p:spPr>
          <a:xfrm>
            <a:off x="548640" y="4892040"/>
            <a:ext cx="8686800" cy="292608"/>
          </a:xfrm>
          <a:prstGeom prst="rect">
            <a:avLst/>
          </a:prstGeom>
          <a:noFill/>
          <a:ln/>
        </p:spPr>
        <p:txBody>
          <a:bodyPr wrap="square" lIns="0" tIns="0" rIns="0" bIns="0" rtlCol="0" anchor="ctr"/>
          <a:lstStyle/>
          <a:p>
            <a:pPr indent="0" marL="0">
              <a:buNone/>
            </a:pPr>
            <a:r>
              <a:rPr lang="en-US" sz="1300" dirty="0">
                <a:solidFill>
                  <a:srgbClr val="9DB6EE"/>
                </a:solidFill>
                <a:latin typeface="Arial" pitchFamily="34" charset="0"/>
                <a:ea typeface="Arial" pitchFamily="34" charset="-122"/>
                <a:cs typeface="Arial" pitchFamily="34" charset="-120"/>
              </a:rPr>
              <a:t>Autor: </a:t>
            </a:r>
            <a:pPr indent="0" marL="0">
              <a:buNone/>
            </a:pPr>
            <a:r>
              <a:rPr lang="en-US" sz="1300" b="1" dirty="0">
                <a:solidFill>
                  <a:srgbClr val="FFFFFF"/>
                </a:solidFill>
                <a:latin typeface="Arial" pitchFamily="34" charset="0"/>
                <a:ea typeface="Arial" pitchFamily="34" charset="-122"/>
                <a:cs typeface="Arial" pitchFamily="34" charset="-120"/>
              </a:rPr>
              <a:t>Dilian Josué Bazurto García</a:t>
            </a:r>
            <a:pPr indent="0" marL="0">
              <a:buNone/>
            </a:pPr>
            <a:r>
              <a:rPr lang="en-US" sz="1300" dirty="0">
                <a:solidFill>
                  <a:srgbClr val="9DB6EE"/>
                </a:solidFill>
                <a:latin typeface="Arial" pitchFamily="34" charset="0"/>
                <a:ea typeface="Arial" pitchFamily="34" charset="-122"/>
                <a:cs typeface="Arial" pitchFamily="34" charset="-120"/>
              </a:rPr>
              <a:t>     Tutor: </a:t>
            </a:r>
            <a:pPr indent="0" marL="0">
              <a:buNone/>
            </a:pPr>
            <a:r>
              <a:rPr lang="en-US" sz="1300" b="1" dirty="0">
                <a:solidFill>
                  <a:srgbClr val="FFFFFF"/>
                </a:solidFill>
                <a:latin typeface="Arial" pitchFamily="34" charset="0"/>
                <a:ea typeface="Arial" pitchFamily="34" charset="-122"/>
                <a:cs typeface="Arial" pitchFamily="34" charset="-120"/>
              </a:rPr>
              <a:t>Ing. John Antonio Cevallos Macías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Sustentación UniBridge</dc:title>
  <dc:subject>PptxGenJS Presentation</dc:subject>
  <dc:creator>Dilian Josué Bazurto García</dc:creator>
  <cp:lastModifiedBy>Dilian Josué Bazurto García</cp:lastModifiedBy>
  <cp:revision>1</cp:revision>
  <dcterms:created xsi:type="dcterms:W3CDTF">2026-08-23T03:04:43Z</dcterms:created>
  <dcterms:modified xsi:type="dcterms:W3CDTF">2026-08-23T03:04:43Z</dcterms:modified>
</cp:coreProperties>
</file>